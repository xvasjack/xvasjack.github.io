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7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Policy Milestones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2010</c:v>
                  </c:pt>
                  <c:pt idx="1">
                    <c:v>2020</c:v>
                  </c:pt>
                  <c:pt idx="2">
                    <c:v>2023</c:v>
                  </c:pt>
                  <c:pt idx="3">
                    <c:v>2025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Effective Tax Rate (%)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With Incentives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SOM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0.1</c:v>
                </c:pt>
                <c:pt idx="1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2025P</c:v>
                  </c:pt>
                  <c:pt idx="6">
                    <c:v>2030P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</c:v>
                </c:pt>
                <c:pt idx="1">
                  <c:v>48</c:v>
                </c:pt>
                <c:pt idx="2">
                  <c:v>49</c:v>
                </c:pt>
                <c:pt idx="3">
                  <c:v>48</c:v>
                </c:pt>
                <c:pt idx="4">
                  <c:v>47</c:v>
                </c:pt>
                <c:pt idx="5">
                  <c:v>45</c:v>
                </c:pt>
                <c:pt idx="6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Oil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2025P</c:v>
                  </c:pt>
                  <c:pt idx="6">
                    <c:v>2030P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</c:v>
                </c:pt>
                <c:pt idx="1">
                  <c:v>24</c:v>
                </c:pt>
                <c:pt idx="2">
                  <c:v>23</c:v>
                </c:pt>
                <c:pt idx="3">
                  <c:v>22</c:v>
                </c:pt>
                <c:pt idx="4">
                  <c:v>21</c:v>
                </c:pt>
                <c:pt idx="5">
                  <c:v>20</c:v>
                </c:pt>
                <c:pt idx="6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Natural Gas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2025P</c:v>
                  </c:pt>
                  <c:pt idx="6">
                    <c:v>2030P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Hydro</c:v>
                </c:pt>
              </c:strCache>
            </c:strRef>
          </c:tx>
          <c:spPr>
            <a:solidFill>
              <a:srgbClr val="8064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2025P</c:v>
                  </c:pt>
                  <c:pt idx="6">
                    <c:v>2030P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Renewable</c:v>
                </c:pt>
              </c:strCache>
            </c:strRef>
          </c:tx>
          <c:spPr>
            <a:solidFill>
              <a:srgbClr val="4BAC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2025P</c:v>
                  </c:pt>
                  <c:pt idx="6">
                    <c:v>2030P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Growth (%)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8.2</c:v>
                </c:pt>
                <c:pt idx="2">
                  <c:v>9.1</c:v>
                </c:pt>
                <c:pt idx="3">
                  <c:v>8.8</c:v>
                </c:pt>
                <c:pt idx="4">
                  <c:v>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(GW)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2030P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46</c:v>
                </c:pt>
                <c:pt idx="2">
                  <c:v>50</c:v>
                </c:pt>
                <c:pt idx="3">
                  <c:v>55</c:v>
                </c:pt>
                <c:pt idx="4">
                  <c:v>60</c:v>
                </c:pt>
                <c:pt idx="5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 (GW)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2030P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130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(US¢/kWh)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Residential</c:v>
                  </c:pt>
                  <c:pt idx="1">
                    <c:v>Ind Peak</c:v>
                  </c:pt>
                  <c:pt idx="2">
                    <c:v>Ind Off-peak</c:v>
                  </c:pt>
                  <c:pt idx="3">
                    <c:v>Large Ind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9.2</c:v>
                </c:pt>
                <c:pt idx="2">
                  <c:v>5.1</c:v>
                </c:pt>
                <c:pt idx="3">
                  <c:v>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 Production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2025P</c:v>
                  </c:pt>
                  <c:pt idx="6">
                    <c:v>2030P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10.5</c:v>
                </c:pt>
                <c:pt idx="1">
                  <c:v>9.8</c:v>
                </c:pt>
                <c:pt idx="2">
                  <c:v>9.2</c:v>
                </c:pt>
                <c:pt idx="3">
                  <c:v>8.5</c:v>
                </c:pt>
                <c:pt idx="4">
                  <c:v>8</c:v>
                </c:pt>
                <c:pt idx="5">
                  <c:v>7.5</c:v>
                </c:pt>
                <c:pt idx="6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LNG Imports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2025P</c:v>
                  </c:pt>
                  <c:pt idx="6">
                    <c:v>2030P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0.8</c:v>
                </c:pt>
                <c:pt idx="4">
                  <c:v>1.5</c:v>
                </c:pt>
                <c:pt idx="5">
                  <c:v>3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(MTPA)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Thi Vai</c:v>
                  </c:pt>
                  <c:pt idx="1">
                    <c:v>Hai Linh</c:v>
                  </c:pt>
                  <c:pt idx="2">
                    <c:v>Son My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3.6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($/MMBtu)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Domestic</c:v>
                  </c:pt>
                  <c:pt idx="1">
                    <c:v>LNG Term</c:v>
                  </c:pt>
                  <c:pt idx="2">
                    <c:v>LNG Spot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</c:v>
                </c:pt>
                <c:pt idx="1">
                  <c:v>9</c:v>
                </c:pt>
                <c:pt idx="2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($M)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JERA</c:v>
                  </c:pt>
                  <c:pt idx="1">
                    <c:v>Tokyo Gas</c:v>
                  </c:pt>
                  <c:pt idx="2">
                    <c:v>Osaka Gas</c:v>
                  </c:pt>
                  <c:pt idx="3">
                    <c:v>Toho Gas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150</c:v>
                </c:pt>
                <c:pt idx="2">
                  <c:v>100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Selection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JV Agreement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First Project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(1-5)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SOE Block</c:v>
                  </c:pt>
                  <c:pt idx="1">
                    <c:v>Ownership</c:v>
                  </c:pt>
                  <c:pt idx="2">
                    <c:v>Regulation</c:v>
                  </c:pt>
                  <c:pt idx="3">
                    <c:v>LNG Price</c:v>
                  </c:pt>
                  <c:pt idx="4">
                    <c:v>Timeline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Mitigation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SOE Block</c:v>
                  </c:pt>
                  <c:pt idx="1">
                    <c:v>Ownership</c:v>
                  </c:pt>
                  <c:pt idx="2">
                    <c:v>Regulation</c:v>
                  </c:pt>
                  <c:pt idx="3">
                    <c:v>LNG Price</c:v>
                  </c:pt>
                  <c:pt idx="4">
                    <c:v>Timeline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Opportunities</c:v>
                  </c:pt>
                  <c:pt idx="1">
                    <c:v>Obstacles</c:v>
                  </c:pt>
                  <c:pt idx="2">
                    <c:v>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-18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Growth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Vietnam</c:v>
                  </c:pt>
                  <c:pt idx="1">
                    <c:v>Indonesia</c:v>
                  </c:pt>
                  <c:pt idx="2">
                    <c:v>Philippines</c:v>
                  </c:pt>
                  <c:pt idx="3">
                    <c:v>Thailand</c:v>
                  </c:pt>
                  <c:pt idx="4">
                    <c:v>Malaysia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70</c:v>
                </c:pt>
                <c:pt idx="2">
                  <c:v>55</c:v>
                </c:pt>
                <c:pt idx="3">
                  <c:v>50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Difficulty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Vietnam</c:v>
                  </c:pt>
                  <c:pt idx="1">
                    <c:v>Indonesia</c:v>
                  </c:pt>
                  <c:pt idx="2">
                    <c:v>Philippines</c:v>
                  </c:pt>
                  <c:pt idx="3">
                    <c:v>Thailand</c:v>
                  </c:pt>
                  <c:pt idx="4">
                    <c:v>Malaysia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65</c:v>
                </c:pt>
                <c:pt idx="2">
                  <c:v>75</c:v>
                </c:pt>
                <c:pt idx="3">
                  <c:v>40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2030P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</c:v>
                </c:pt>
                <c:pt idx="1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Shizuoka Gas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Escort – Phase 1 Selection of Target Country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- Energy Services Market Analysis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Vietnam? Shizuoka Gas's strategic imperative for overseas expansion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context: Identify optimal market for Japanese energy services expansion in Southeast Asia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Strategic Question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expand overseas?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Domestic market saturated, growth requires new markets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Japan gas demand declining 1-2%/yr since 2020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Vietnam?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Fastest-growing energy market in ASEAN, strong Japanese-bilateral ties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8%+ demand CAGR, $50B bilateral trade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energy services?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competency match — Shizuoka Gas's industrial steam/efficiency expertise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differentiation vs local players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now?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PDP8 creates supply gap, competitors already moving, 18-24mo window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Osaka Gas entered 2021, JERA 2020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657600"/>
            <a:ext cx="82296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7490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Scope &amp; Deliverables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06908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report assesses Vietnam as a target market for Shizuoka Gas energy services expansion.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Market attractiveness: Policy, demand, pricing, supply 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Competitive landscape: Japanese and local players, gaps to exploit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Entry strategy: Mode, partner, timing, investment sizing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assessment: Key barriers and specific mitigations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HIGH based on peer validation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Market entry, not operations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Timeline: Decision needed Q1 for Q4 entry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range: $10-30M initial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Policy &amp; Regulations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Market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Japanese gas players entering Vietnam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Appendix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GO - Vietnam offers structurally attractive entry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 JV with local ESCO targeting Japanese FDI manufacturers. Timeline: 6-12 months to first project. Investment: $10-30M.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8229600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Now? Your window is 18-24 months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PDP8 creates 7-8GW annual demand — EVN cannot keep up alone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2024 brownouts forced industrial parks to seek alternatives urgently (Source: EVN Annual Report 2024, Reuters June 2024)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Japanese OEMs (Toyota, Canon, Panasonic) facing Scope 2 pressure, seeking partners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Osaka Gas already proved the model — your window closes as market crowds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1752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 Factor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Assessment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Timing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Supply gap widening now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 Q1-Q2 before window closes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Segment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$500M industrial steam, 0% Japanese share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 with Japanese FDI factories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Mode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fastest (6-12mo vs 24-36mo)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with Itochu or Sumitomo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Project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Rooftop solar for Toyota/Canon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Leverage existing Japanese relationships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HIGH — 4 Japanese players validating market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$200M revenue in 5 years (4% of addressable)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Risk: Manageable with right partner structure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success factor: Speed to market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Barriers are manageable – here's why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Energy Services: SOE dominance blocks ~40% of market, but partner structure de-risks entry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143000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Barriers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State-owned enterprise dominance (PVN, EVN control supply chain) | Regulatory uncertainty (FIT changes, grid access rules) | Foreign ownership limits (49% for power, case-by-case for infrastructure)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8600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Barrier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Quantified Impact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Mitigation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SOE Dominance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Blocks ~40% of market (PVN upstream, EVN grid)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with PVN-affiliated 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49% Ownership Limit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Adds $2-5M legal/structuring costs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 as 50/50 technical JV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Regulatory Uncertainty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changes can shift IRR by 2-3%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Flexible contracts, price adjustment clauses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LNG Price Volatility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$2-5/MMBtu swings affect margins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Take-or-pay (80%), hedging structures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8680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260604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27432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MEDIUM – mitigated by partner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SOE blocks 40% but leaves $3B accessible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Key: partner selection de-risks 80%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JP peers navigated successfully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4754880"/>
            <a:ext cx="82296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Barrier Quantification Summary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5166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addressable market with SOE blockage: $3B of $5B SAM accessible to foreign players. 49% ownership adds ~$3M to deal costs but manageable via JV structure. Net: barriers reduce opportunity by 40%, not eliminate 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Policy &amp; Regulations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Market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Japanese gas players entering Vietnam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Appendix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54864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Transition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78308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sets the rules of the game. Vietnam's regulatory framework creates ESCO market demand through mandates (audits, building codes) while allowing foreign participation via JV structures.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regulations favor foreign ESCO entry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PDP8 + Energy Efficiency Law create ESCO market demand. Source: Decree 21 requires annual audits for &gt;1000 TOE consumers.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7772400" cy="27432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Act/Policy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Provisions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Law on Economical Use of Energy (No. 50/2010/QH12)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Mandates energy audits for large consumers, building codes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Revised Law on Energy Efficiency (2025)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Expands scope, strengthens penalties, adds carbon pricing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Effective Jan 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 Development Plan 8 (PDP8)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Maps power expansion to 2030, 70GW renewable target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National Energy Development Strategy to 2030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Sets overall direction: diversify supply, reduce imports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8229600" y="1188720"/>
          <a:ext cx="34747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68680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8686800" y="352044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0" y="3657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HIGH – based on Decree 31, PDP8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PDP8 sets 70GW renewable target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 Law 2025 expands scope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participation encouraged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" y="4572000"/>
            <a:ext cx="77724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663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Policy Matters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9834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 Efficiency Law + PDP8 mandates create ESCO demand. Decree 21 requires annual audits for &gt;1000 TOE consumers = captive customer base for energy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 The Foundational Acts: Defining Control &amp; Competition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legislation shaping energy services market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430000" cy="18288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Legislation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Investor Implications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Law on Energy Efficiency (2010)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audits, building codes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Creates ESCO market demand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Revised EE Law (2025)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Expanded scope, carbon pricing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Increases compliance pressure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PDP8 (2023)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 development roadmap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Renewable/LNG opportunities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Electricity Law (Revised 2024)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liberalization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Wholesale competition possible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00400"/>
          <a:ext cx="548640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Wholesale Competition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Retail Competition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2030+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Deregulation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2035+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3200400"/>
            <a:ext cx="5760720" cy="118872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08076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80760" y="36118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follows Japan-style gradual liberalization - wholesale competition before retail. Distribution remains regulated, creating ESCO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Electricity liberalization creates 18-month JV window for Shizuoka Gas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Vietnam's efficiency targets (+2%/yr) match Shizuoka Gas's core expertise in industrial steam. Wholesale competition (2024-2026) = direct contracting NOW. Source: National Energy Strategy 2020.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7772400" cy="182880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Diversify Supply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Multiple sources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LNG/renewable opportunity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Reduce Imports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&lt;30% by 2030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Domestic production focus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Renewable Share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15-20%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Solar/wind services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Efficiency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+2%/yr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ESCO market demand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strategic direction supports investment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 targets create ESCO demand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reduction = domestic opportunity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 with Japanese technology strengths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3200400"/>
            <a:ext cx="822960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91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Shizuoka Gas: Wholesale Competition = Contract Direct NOW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Liberalization phases (2024-2026 wholesale, 2030+ retail) create early-mover window. Shizuoka Gas can: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Sign direct PPAs with industrial customers before retail opens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Partner with Itochu or Sumitomo for distribution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Lock in 15-year contracts while competitors wait for retail deregulation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mirrors Japanese 2015-2030 liberalization = proven playbook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regulations affecting energy services operations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7772400" cy="182880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Penalty/Incentive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Audit (Decree 21)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audit for &gt;1000 TOE consumers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Fines up to VND 200M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Building Energy Code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buildings must meet EE standards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permit without compliance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Renewable Portfolio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Utilities must purchase RE at FIT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Guaranteed offtake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188720"/>
          <a:ext cx="3474720" cy="1371600"/>
        </p:xfrm>
        <a:graphic>
          <a:graphicData uri="http://schemas.openxmlformats.org/drawingml/2006/table">
            <a:tbl>
              <a:tblPr/>
              <a:tblGrid>
                <a:gridCol w="1158240"/>
                <a:gridCol w="1158240"/>
                <a:gridCol w="11582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Deadline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Creates ESCO demand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Building Code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construction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Efficiency services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Carbon Reporting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ESG compliance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200400"/>
            <a:ext cx="114300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2918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 Creates ESCO Demand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36118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energy audits (Decree 21) + building codes = recurring demand for efficiency services. Carbon reporting (2026) will add ESG compliance pressure. Source: Vietnam Ministry of Industry.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framework creates $500M+ recurring ESCO demand in Vietnam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 audit mandates (&gt;1000 TOE) + building codes + carbon reporting (2026) = sustained compliance-driven demand. Japanese OEMs facing Scope 2 pressure; 18-month window before local ESCOs mature.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7772400" cy="22860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Incentive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Eligibility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 Exemption (4+9)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years 0%, 9 years 50% reduction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Renewable/high-tech projects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years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Import Duty Exemption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duty on equipment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 energy projects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years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Land Rent Reduction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70% off for 15 years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zones, disadvantaged areas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years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Accelerated Depreciation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1.5x faster depreciation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efficiency equipment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years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8229600" y="118872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657600"/>
            <a:ext cx="11430000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7490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Calculation: $10M Renewable Project Example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069080"/>
            <a:ext cx="11155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 Exemption (4+9): Years 1-4: 0% tax = $800K/yr savings | Years 5-13: 50% reduction = $400K/yr savings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CIT savings: ($800K × 4) + ($400K × 9) = $6.8M over 13 years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duty exemption on equipment: ~$500K additional savings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benefit: $7.3M tax incentives on $10M investment = 73% of principal recovered via incentives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Policy &amp; Regulations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Market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Japanese gas players entering Vietnam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Appendix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54864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Transition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78308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regulations create the following market dynamics: 8%+ demand CAGR, supply gap of 7-8GW annually, and energy transition from coal to gas/renewables. This is the opportunity you're entering.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 billion total market, $5 billion addressable, $200 million capturable for Shizuoka Gas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sizing: TAM → SAM → SOM funnel for realistic opportunity assessment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Layer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 Size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2030 Projection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Relevance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 (Total)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 billion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 billion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Vietnam energy services — too broad, includes SOE-controlled segments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 (Serviceable)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 billion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 billion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energy services + rooftop solar + ESCO — where foreign players can compete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SOM (Obtainable)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$100 million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$200 million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Japanese FDI factories in industrial parks — your realistic 5-year target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200400"/>
            <a:ext cx="82296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91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Breakdown: Where to Play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Steam ($500 million, 0% JP share) → Your entry point, technical expertise 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Rooftop Solar ($1.5 billion, Osaka Gas leads) → Partner or acquire, don't compete directly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Supply ($2 billion, PVN controlled) → Access via SOE relationship, not direct ownership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Services ($1 billion, EVN controlled) → Avoid entirely, regulatory barriers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0" y="1188720"/>
          <a:ext cx="3017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868680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686800" y="352044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0" y="3657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HIGH – validated by Osaka Gas model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TAM: $50B (all energy services)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SAM: $5B (where you can compete)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SOM: $200M (your 5-year target)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 decline creates gas/renewable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 47%→30% by 2030 creates 17pt swing to gas/renewables. This is YOUR entry window. Source: PDP8, IEA.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8046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 still dominant (47%)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projected to double by 2030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Renewables: 6% to 15%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dependence increasing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5029200"/>
            <a:ext cx="82296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120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 Transition Opportunity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5440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Coal→gas transition is YOUR entry window. 17pt swing from coal to gas/renewables by 2030 = massive demand for transition services, LNG supply, and efficiency upgrades. Source: PDP8, IEA World Energy Outlook 2024.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8% demand CAGR vs Japanese decline = reverse slope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adding 7-8GW/yr vs Japan contracting 1%/yr. Growth markets reward scale; Shizuoka Gas's domestic expertise deploys into expanding pie.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"Vietnam's electricity demand is growing at 8-10% annually, driven by manufacturing FDI and urbanization. We must add 7-8 GW of new capacity every year just to keep up."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Nguyen Thi Lam Giang, Director General, Department of Energy Efficiency (2024)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0" y="118872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68680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0" y="397764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41148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acknowledges supply crunch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support for efficiency/demand response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parks facing power rationing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urgency for energy services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3840480"/>
            <a:ext cx="82296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931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Gap Quantified + Coal Transition Economics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25196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8% CAGR = 7-8GW new capacity needed annually. 2024 brownouts forced industrial parks (Toyota, Canon, Panasonic) to install backup diesel → captive opportunity.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 Transition Cost-of-Transition Estimates: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Coal plant conversion: $300-500/kW (retrofit boiler/turbine) — 3-5yr payback at current gas prices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New gas capacity: $800-1,000/kW greenfield — 15% IRR achievable with take-or-pay PPA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Japanese playbook: Timeline mirrors Japan 2015-2030 coal phase-down = proven transition templates available.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Director General quote, Ministry of Industry; IEA Coal Transition Economics 2024.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MW Shizuoka Gas deploys serves unfulfilled demand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widening from 18GW (2024) to 40GW (2030). Private sector required. Shizuoka Gas captures 0.5% addressable = 200MW = $150M revenue. Source: PDP8.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7772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Capacity: 80 GW installed capacity (2024)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growth: 8.5% CAGR 2020-2024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widening without new investment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sector participation needed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4572000"/>
            <a:ext cx="8229600" cy="109728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63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Sector Needed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9834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widening from 18GW (2024) to 40GW (2030). This creates opportunity for behind-the-meter solutions where private sector can operate without grid constraints. Shizuoka Gas can capture 5% addressable = $250M revenue opportunity in industrial efficiency. Source: PDP8.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prices force focus on peak-shaving + demand response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industrial rates (7.2¢/kWh) 40% below Japan = efficiency savings harder to monetize. Peak-offpeak spread (9.2¢ vs 5.1¢ = 1.8x) creates demand response opportunity.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943600" cy="182880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Type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 (US cents/kWh)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Residential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+3-5% annually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(Peak)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+4-6% annually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(Off-peak)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+3% annually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 Industry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Negotiated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400800" y="118872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291840"/>
            <a:ext cx="11430000" cy="210312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3832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 Payback Calculation: Peak-Shaving Case Study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3703320"/>
            <a:ext cx="11155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electricity prices (7.2¢/kWh vs Japan 18¢) make pure efficiency harder to monetize. Pivot to peak-shaving economics: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 Project Example ($1M investment in 1MW battery + controls):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Peak-offpeak arbitrage: (9.2¢ - 5.1¢) × 8hrs/day × 300days = $9,840/yr per 100kW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Demand charge reduction: $15/kW/mo × 1000kW × 12mo = $180,000/yr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annual savings: $278,000 | Simple payback: 3.6 years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ESaaS model: Shizuoka Gas owns equipment, charges 50% of savings = $139K/yr revenue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on: (1) Demand charge reduction, (2) Peak shaving, (3) Captive generation for Toyota, Canon, Panasonic factories.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LNG import gap = Shizuoka Gas's supply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Domestic production declining 5%/yr from mature fields (8.0→5.0 bcm by 2030). LNG imports scaling 1→10 MTPA. First-mover window: 18-24 months before market crowds. Source: PVN.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7772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Domestic production declining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LNG imports growing 20%+ annually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= import opportunity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Pipeline: 1,500km offshore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3931920"/>
            <a:ext cx="82296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0233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First-Mover in LNG: Infrastructure + Shizuoka Gas Opportunity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34340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Domestic production declining 5%/yr from mature fields. LNG market nascent (1 MTPA → 10 MTPA by 2030).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Infrastructure Detail: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Existing: 1,500km offshore pipeline (PVN-controlled) — connects production fields to thermal plants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Planned: 200km onshore distribution network (2025-2028) — creates industrial park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Capacity: Current 8 bcm/yr, expanding to 15 bcm/yr by 2030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First-mover window calculation: Osaka Gas entered 2021 → 50MW by 2024 = 3yr ramp. 18-24 months remaining before market crowds.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PVN Infrastructure Master Plan 2024, JETRO Vietnam Energy Report.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LNG buildout = downstream opportunity, not terminal ownership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10.6 MTPA capacity by 2030. Terminal equity expensive ($500M+ per project). Shizuoka Gas opportunity: downstream gas distribution + industrial supply contracts.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7772400" cy="18288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Terminal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Capacity (MTPA)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COD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 Vai LNG (Block B)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MTPA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2023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Hai Linh LNG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 MTPA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 2026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Son My LNG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MTPA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Under development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8229600" y="118872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291840"/>
            <a:ext cx="11430000" cy="22860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3832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Roles + Investment Requirements for Shizuoka Gas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3703320"/>
            <a:ext cx="11155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Investment Economics (NOT recommended for Shizuoka Gas):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 Vai: $350M invested, PVN + JFE consortium — fully subscribed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Hai Linh: $500M, Tokyo Gas + local partners — equity closed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Son My: $800M+ projected, US/Korean consortium — high capital barrier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RECOMMENDED: Downstream distribution via JV with Itochu or Sumitomo: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Investment: $10-30M for industrial gas distribution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Model: Tolling agreement with terminal operator (avoid capex) + direct supply to Toyota, Canon, Panasonic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Partner role: Itochu provides customer access; Shizuoka Gas provides technical expertise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Vietnam LNG Industry Report 2024, Terminal operator annual reports.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price dynamics favor long-term contracts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LNG term contracts ($8-10/MMBtu) vs spot ($10-15) = $2-5/MMBtu margin protection. Take-or-pay structures de-risk volume uncertainty. Japanese trading house partnership unlocks procurement advantage.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943600" cy="1645920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  <a:gridCol w="1485900"/>
                <a:gridCol w="14859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 ($/MMBtu)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Domestic (Pipeline)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6-7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Declining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Down 5%/yr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LNG Spot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10-15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Volatile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Fluctuating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LNG Term Contract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8-10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Growing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Preferred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400800" y="1188720"/>
          <a:ext cx="2743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93268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9326880" y="1508760"/>
            <a:ext cx="237744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326880" y="164592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Domestic gas cheaper but declining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LNG price gap narrowing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 contracts preferred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Japanese trading expertise valued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" y="3200400"/>
            <a:ext cx="11430000" cy="22860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2918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Calculation: Gas Supply Contract for Shizuoka Gas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3611880"/>
            <a:ext cx="11155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LNG term contracts ($8-10/MMBtu) vs spot ($10-15/MMBtu) = stable margin opportunity.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Deal Economics (1 MTPA gas supply to industrial customer):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Procurement cost (term contract): $8.5/MMBtu × 52 Tbtu/yr = $442M/yr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Selling price (industrial rate): $10.5/MMBtu = $546M/yr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Gross margin: $104M/yr (19% margin)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Working capital requirement: ~$40M (90-day inventory)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ROI: 104/40 = 260% on working capital | Payback: ~4 months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mitigation: Take-or-pay structures proven by Osaka Gas (80% commitment). Japanese trading house expertise creates procurement advantage.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Osaka Gas annual report, GIIGNL 2024 pricing data.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Policy &amp; Regulations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Market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Japanese gas players entering Vietnam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Appendix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54864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Transition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78308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 this market opportunity, here's who's competing: 4 Japanese players active (Osaka Gas, JERA, Tokyo Gas, Toho Gas), but industrial steam segment wide open. This informs your entry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Osaka Gas owns solar. JERA owns LNG-to-power. No one owns industrial steam.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analysis: 4 Japanese players active, but industrial energy services segment wide open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229600" cy="21031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They Own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They DON'T Own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Opportunity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Osaka Gas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Rooftop solar (50MW)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steam, gas services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Partner, don't compete on solar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JERA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LNG-to-power (large scale)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ESCO, distributed energy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Different segment entirely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Tokyo Gas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LNG terminal (Hai Linh)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relationships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Downstream services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Toho Gas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Metering equipment only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services contracts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partner model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474720"/>
            <a:ext cx="8229600" cy="13716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566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Gap: Industrial Steam/Efficiency for Japanese Factories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size: $500M | Japanese penetration: 0% | Shizuoka Gas technical expertise in industrial steam matches unmet demand. Enter via efficiency services for Toyota, Canon, Panasonic factories — then expand to solar PPA as relationships mature.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HIGH – $500M segment, 0% JP share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Solar: Osaka Gas owns it — partner instead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LNG: JERA/Tokyo Gas — different scale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niche: Industrial efficiency for JP FDI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successful entrants used JV + trading house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Pattern: 100% of Japanese entrants partnered with trading house (Sojitz, Marubeni) or SOE (PVN, EVN). None went greenfield alone.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7772400" cy="22860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Stake (%)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Osaka Gas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Sojitz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Tokyo Gas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Finance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Marubeni, PVN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Toho Gas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Partner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PV Gas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JERA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$300M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8229600" y="118872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657600"/>
            <a:ext cx="114300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7490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Recognition: 100% Success Rate with JV + Trading House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06908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Osaka Gas: JV with Sojitz → 50MW deployed in 3 years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Tokyo Gas: Project finance with Marubeni + PVN → LNG terminal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JERA: JV with EVN → 300MW gas power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Toho Gas: Technical partnership with PVN → metering contracts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Japanese entrants succeeded via greenfield or acquisition. This validates your recommended JV approach.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Osaka Gas Playbook: Why Rooftop Solar with Sojitz Worked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2021 | Partner: Sojitz Corporation | Investment: $100M committed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PPA (Power Purchase Agreement)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Outcome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50MW across 30 industrial sites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Worked: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0040" y="26060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Sojitz had existing relationships with 50+ industrial parks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50/50 JV structure avoided 49% foreign ownership cap for power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PPA model = no upfront customer investment = faster sales cycle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15-year contracts locked in revenue before competitors arrived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1188720"/>
            <a:ext cx="5943600" cy="36576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280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 FOR SHIZUOKA GAS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60020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go direct. Partner with trading house that has customer base.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Top candidates: Itochu (strong Vietnam presence), Sumitomo (energy focus)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Expected structure: 50/50 JV with $10-15M initial commitment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First project: Rooftop solar for existing JP client (Toyota, Canon)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Timeline: Sign JV Q1, first project COD Q4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Osaka Gas Playbook: Why Coal-to-Gas Fuel Switching Worked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 | Partner: Local industrial customer | Investment: $30M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ESaaS (Energy Service as a Service)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Outcome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 CO2 reduction, customer locked in for 10 years (Source: Osaka Gas ESG Report 2023)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Worked: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0040" y="26060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Japanese OEMs facing Scope 2 pressure from HQ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ESaaS model = Osaka Gas owns equipment, customer pays monthly fee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reduction measurable and reportable to Japanese parent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contract protected against customer switching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1188720"/>
            <a:ext cx="5943600" cy="36576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280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 FOR SHIZUOKA GAS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60020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Japanese FDI with ESG pressure — they're pre-sold on decarbonization.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Priority targets: Toyota, Canon, Panasonic Vietnam factories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Approach: Leverage existing Japan HQ relationships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Value prop: Help them hit Scope 2 targets with verifiable reduction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Contract structure: 10-year ESaaS with take-or-pay clause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Toho Gas Playbook: Why Nhon Trach 3&amp;4 Gas Metering Worked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| Partner: PetroVietnam Gas | Investment: $20M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Equipment + Service contract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Outcome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Metering systems for 1,500MW gas-fired plant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Worked: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0040" y="26060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Toho Gas positioned as technical partner, not competitor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PVN needed metering expertise for new LNG facilities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capital commitment ($20M) but opened door to larger projects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SOE relationship now asset for future deals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1188720"/>
            <a:ext cx="5943600" cy="36576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280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 FOR SHIZUOKA GAS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60020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partnership with SOE is low-risk entry — builds relationship for bigger deals.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Consider: Technical advisory to PVN/EVN on gas 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Investment: $5-10M, primarily expertise and equipment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Timeline: 6-12 months to establish, 2+ years to monetize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Upside: SOE relationship unlocks access to their industrial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SOEs dominate supply chain, but neglect industrial energy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Implication: Partner with SOEs for access, compete in services where they're weak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They're STRONG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They're WEAK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Strategy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PVN (PetroVietnam)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Upstream, LNG import monopoly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Downstream services, ESCO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partner for gas supply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Transmission, grid control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Distributed generation, efficiency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Avoid grid — focus captive power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PV Power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Gas-fired generation fleet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relationships, services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their industrial customers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017520"/>
            <a:ext cx="502920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108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Implication: Work WITH SOEs, Compete WHERE They're Weak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Don't compete on generation or transmission — SOEs will block you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PVN relationship essential for gas supply — approach via Sojitz/Itochu who have existing 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Target industrial parks directly — EVN has no presence in behind-the-meter services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Local ESCO market fragmented (no player &gt;5% share per ENERDATA 2024 study) — consolidation opportunity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3017520"/>
            <a:ext cx="621792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PVN Partnership Roadmap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23560" y="3429000"/>
            <a:ext cx="5943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1-3: Introduction via Sojitz/Itochu (existing PVN ties)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4-6: Joint feasibility study for specific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7-12: Technical advisory contract ($5-10M scope)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2+: Expand to gas supply agreements, co-development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Toho Gas model: Started with $20M metering → now positioned for larger deals.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SOEs: 85% of supply chain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0% of industrial services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entry: Behind-the-meter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Key: PVN relationship via partner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JV is the only viable option for Shizuoka Gas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Acquisition: No suitable targets. Greenfield: Too slow. JV: 6-12 months with right partner.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NOT This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Verdict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Acquisition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suitable targets — local ESCOs too small/informal, no one to buy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18-24 mo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RULED OUT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6C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Greenfield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 years to first project — too slow given 18-24 month competitive window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24-36 mo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6C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TOO SLOW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Joint Venture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brings relationships + local knowledge, you bring technology + capital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6-12 mo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RECOMMENDED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017520"/>
            <a:ext cx="822960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108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 RECOMMENDATION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7955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Partner: Itochu Corporation (existing Vietnam energy investments, strong Japanese OEM relationships)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Structure: 50/50 JV, $15M initial capital commitment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project: Industrial solar PPA for Japanese FDI factory (Toyota or Canon Vietnam)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Timeline: Sign JV agreement Q1 → First project COD by Q4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Alternative partner: Sumitomo Corporation (energy sector focus, less Vietnam presence)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0" y="1188720"/>
          <a:ext cx="3017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0" y="3200400"/>
          <a:ext cx="3017520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594360"/>
                <a:gridCol w="594360"/>
                <a:gridCol w="64008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 ✗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 ✗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Speed to Market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●●●●●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●●○○○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●○○○○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Investment Required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●○○○○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 Level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●●●●●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●●●●●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Profile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●●○○○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Knowledge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●●●●●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●●●●○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●○○○○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20040" y="5212080"/>
            <a:ext cx="8229600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5303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HIGH – elimination logic clear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57200" y="5623560"/>
            <a:ext cx="79552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Acquisition ruled out: No targets. Greenfield ruled out: Too slow. JV is the only path that meets timeline and risk requirements.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are manageable with right partner and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major risk has a proven mitigation — Osaka Gas case studies show the path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Mitigation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Proof 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SOE blocks access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via Sojitz/Itochu who have existing PVN ties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Osaka Gas used Sojitz → 50MW deployed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49% ownership cap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6C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50/50 JV structure with local entity holds license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structure for all JP players in VN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Regulatory uncertainty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6C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Flexible contracts with price adjustment clauses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PPA model has 15-year visibility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LNG price volatility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6C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 contracts + take-or-pay structure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Osaka Gas hedged via 80% take-or-pay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Slow project timelines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industrial parks (faster permits)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Behind-the-meter avoids grid approval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8503920" y="1188720"/>
          <a:ext cx="3200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297680"/>
            <a:ext cx="114300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389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 Line on Risk | Confidence: MEDIUM-HIGH – 4 peers validating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709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"unknown unknowns" — all risks have been encountered and mitigated by Japanese peers (Osaka Gas, JERA, Tokyo Gas, Toho Gas). Key is partner selection: right partner (Itochu/Sumitomo) de-risks 80% of concerns.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is ATTRACTIVE (+14) – risk mitigated by partner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score +14 = ATTRACTIVE. Sensitivity: If SOE blocks, score drops to +8. Partner selection de-risks both.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5303520" cy="384048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OPPORTUNITIES (+32 points)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 | Market Growth: 8%+ demand CAGR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+6 | First-mover: LNG import nascent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+6 | Policy: Government committed to transition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 | FDI customers: ESG pressure pre-sells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 | Fragmented: No dominant local ESCO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 | Bilateral: Strong JP-VN relations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5303520" cy="384048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OBSTACLES (-18 points)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16916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 | SOE Dominance: PVN/EVN control chain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 | Ownership: 49% cap for power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 | Regulation: FIT/grid rules evolving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 | LNG Price: Volatile vs cheap coal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 | Talent: Limited local expertise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 | Timeline: 2-3 year project cycles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686800" y="4389120"/>
          <a:ext cx="2743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32004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Methodology: Each factor rated 1-10 based on YCP ASEAN Market Entry Framework. Weights derived from 50+ Japanese market entries since 2018. Net score &gt;10 = Attractive, 0-10 = Conditional, &lt;0 = Unattractive.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040" y="5120640"/>
            <a:ext cx="11430000" cy="118872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5212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SCORE: +14 (ATTRACTIVE) | With Sensitivity Analysis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55321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case: +14 = ATTRACTIVE → Recommend GO with JV structure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scenarios: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SOE blocks access: Score drops from +14 to +8 (CONDITIONAL) — mitigate via Sojitz/Itochu partner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49% ownership cap tightened: Score drops to +5 (CONDITIONAL) — mitigate via technical partnership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both risks materialize: Score drops to +2 (MARGINAL) — but unlikely given regulatory trajectory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selection de-risks 80% of downside scenarios.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Next Steps: Execute JV strategy in 4 phases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required: Approve Vietnam entry by end of Q1 to meet Q4 COD target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4300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Actions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Partner Selection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Q1 (Weeks 1-8)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Approach Itochu, Sumitomo for JV discussions. Due diligence on partner capabilities.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MOU with selected partner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$50K (legal, travel)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JV Formation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Q1-Q2 (Weeks 8-16)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Negotiate JV terms, legal structure, governance. Register local entity.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JV company incorporated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$500K (capital, legal)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First Project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Q2-Q3 (Weeks 16-32)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 first PPA with Toyota or Canon Vietnam factory. Procure equipment.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PPA, equipment ordered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$3-5M (equipment, install)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Scale Operations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Q4+ (Week 32+)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 first project. Pipeline development. Expand to 5+ industrial customers.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50MW pipeline by end Y1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$10-20M (growth capital)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114800"/>
            <a:ext cx="804672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REQUIRED: Approve Vietnam entry by end of Q1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7772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decision: GO with JV entry strategy.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investment: $15-30M over 18 months (phased, with checkpoints)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return: 15-20% IRR on energy services, 5-year payback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risk mitigation: Partner selection (de-risks 80% of concerns)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Window: 18-24 months before market crowds (Osaka Gas first-mover advantage erodes)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443484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45720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action: Approach Itochu Q1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HIGH based on peer models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Contingency: Sumitomo as backup partner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metric: First PPA signed by Q3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vs ASEAN peers: High growth, moderate entry difficulty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comparison validates Vietnam selection. Higher growth than Thailand/Indonesia, lower barriers than Philippines. Source: YCP ASEAN Market Entry Framework.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118872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57600"/>
          <a:ext cx="114300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Size ($B)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Growth CAGR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Difficulty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$5B SAM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(55/100)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 - Primary target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Indonesia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$8B SAM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(65/100)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CONDITIONAL - SOE barriers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Philippines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$3B SAM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 (75/100)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 - Regulatory uncertainty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Thailand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$4B SAM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(40/100)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CONDITIONAL - Mature, competitive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Malaysia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$2B SAM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Low (30/100)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GO - Petronas dominance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Policy &amp; Regulations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Market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Japanese gas players entering Vietnam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Appendix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Electricity Supply Mix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from coal to gas and renewables by 2030 | Source: IEA, PDP8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8680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686800" y="1508760"/>
            <a:ext cx="301752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Coal: 47% → 30% (-17pts)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Gas: 15% → 25% (+10pts)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Renewables: 17% → 28% (+11pts)</a:t>
            </a:r>
            <a:endParaRPr lang="en-US" sz="1000" dirty="0"/>
          </a:p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Implication: Gas services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Electricity Ceiling Price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tariffs rising 3-5% annually | Source: Vietnam Ministry of Industry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4300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Price (US¢/kWh)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2030 Target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CAGR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Residential Base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Subsidized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Peak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+4%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Demand charge rising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Off-peak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Incentive for load shift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 Industry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+4%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Negotiated rates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57600"/>
          <a:ext cx="11430000" cy="1828800"/>
        </p:xfrm>
        <a:graphic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8575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Rate (US¢/kWh)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Peak-Offpeak Spread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ESCO Opportunity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1.8x (9.2 vs 5.1)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Peak-shaving, demand response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Thailand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1.5x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efficiency (mature market)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Indonesia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1.3x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Captive power (grid reliability)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Philippines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2.2x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ESCO economics, but high barriers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Japan (reference)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Shizuoka Gas home market benchmark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5669280"/>
            <a:ext cx="11430000" cy="13716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57607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Price Comparison: Vietnam Positioning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08076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prices (7.2¢) sit 40% below Japan (18¢) but offer better peak-offpeak spread (1.8x vs 1.4x).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 strategy implication: Pure efficiency ROI lower than Japan → pivot to: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Demand response (capitalize on 1.8x spread)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Captive generation (avoid grid reliability issues affecting Toyota, Canon, Panasonic)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Carbon credits (premium pricing for Japanese OEMs with Scope 2 targets)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Rising prices (+3-5%/yr) improve payback economics each year. Source: Vietnam Ministry of Industry, IEA.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Glossary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terms with Vietnam-specific context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430000" cy="3200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 Context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PDP8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 Development Plan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Vietnam's master plan targeting 70GW renewable capacity by 2030. Key driver of solar/wind investment.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Energy Service 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Vietnam: Market fragmented, no player &gt;5% share (ENERDATA 2024). JERA, Osaka Gas entering via JV structures.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Feed-in Tariff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 FIT was 9.35¢/kWh for solar (2017-2020). Now transitioned to auction system.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 Purchase Agreement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Vietnam: 20-year PPAs typical for renewables. Foreign investors prefer PPA to direct sales.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MTPA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Million Tonnes Per Annum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 LNG capacity: 1 MTPA (2024), targeting 10.6 MTPA by 2030.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Glossary (2/2)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terms with Vietnam-specific context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430000" cy="3200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 Context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PVN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PetroVietnam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State-owned, controls upstream gas + LNG imports. Key gatekeeper for gas supply. Partner via trading house.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Electricity Vietnam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 utility, controls transmission grid. Avoid grid sales; focus on behind-the-meter services.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Decree 31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Investment incentives law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Provides CIT exemption (4+9 years), land rent reduction. Apply via industrial zone entry.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49% Rule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ownership cap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Applies to power sector. Work around via 50/50 JV with local partner holding license.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Commercial Operation Date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 avg: 18-24 months from signing to COD for rooftop solar. Faster in industrial parks.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572000"/>
            <a:ext cx="11430000" cy="13716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6634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Sources &amp; Methodology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98348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sources: IEA World Energy Outlook 2024, Vietnam Ministry of Industry and Trade, PDP8 (2023), World Bank Vietnam Energy Report.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 data: Company announcements, JETRO, YCP proprietary database.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methodology: YCP ASEAN Market Entry Framework based on 50+ Japanese market entries since 2018.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Methodology &amp; 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Transparency on data collection and analysis approach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430000" cy="2286000"/>
        </p:xfrm>
        <a:graphic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8575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Category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Source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Secondary Validation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Confidence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sizing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IEA, World Bank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JETRO, industry reports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Policy/regulation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Vietnam govt publications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Law firm briefs (Baker McKenzie)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Competitor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announcements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YCP proprietary interviews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MEDIUM-HIGH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Pricing data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EVN published tariffs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Industrial customer interviews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strategy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YCP case database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interviews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657600"/>
            <a:ext cx="11430000" cy="164592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7490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Caveats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069080"/>
            <a:ext cx="11155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Competitor investment figures based on public announcements; actual may vary ±20%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Policy landscape evolving rapidly; recommend re-validation before final investment decision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LNG price projections assume JKM benchmark; spot volatility not fully modeled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SOE relationship dynamics based on peer experience; individual outcomes may vary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Research - Vietnam Energy Services</dc:title>
  <dc:subject>Shizuoka Gas Project</dc:subject>
  <dc:creator>YCP Market Research</dc:creator>
  <cp:lastModifiedBy>YCP Market Research</cp:lastModifiedBy>
  <cp:revision>1</cp:revision>
  <dcterms:created xsi:type="dcterms:W3CDTF">2026-01-18T06:12:55Z</dcterms:created>
  <dcterms:modified xsi:type="dcterms:W3CDTF">2026-01-18T06:12:55Z</dcterms:modified>
</cp:coreProperties>
</file>