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00000"/>
                </a:solidFill>
                <a:latin typeface="Segoe UI"/>
              </a:defRPr>
            </a:pPr>
            <a:r>
              <a:rPr sz="1400" b="0" i="0" u="none" strike="noStrike">
                <a:solidFill>
                  <a:srgbClr val="000000"/>
                </a:solidFill>
                <a:latin typeface="Segoe UI"/>
              </a:rPr>
              <a:t>TPES by Source (Mtoe)</a:t>
            </a:r>
          </a:p>
        </c:rich>
      </c:tx>
      <c:layout/>
      <c:overlay val="0"/>
    </c:title>
    <c:autoTitleDeleted val="0"/>
    <c:plotArea>
      <c:layout/>
      <c:barChart>
        <c:barDir val="col"/>
        <c:grouping val="stacked"/>
        <c:varyColors val="0"/>
        <c:ser>
          <c:idx val="0"/>
          <c:order val="0"/>
          <c:tx>
            <c:strRef>
              <c:f>Sheet1!$B$1</c:f>
              <c:strCache>
                <c:ptCount val="1"/>
                <c:pt idx="0">
                  <c:v>Natural Gas</c:v>
                </c:pt>
              </c:strCache>
            </c:strRef>
          </c:tx>
          <c:spPr>
            <a:solidFill>
              <a:srgbClr val="C0504D"/>
            </a:solidFill>
            <a:effectLst/>
          </c:spPr>
          <c:invertIfNegative val="0"/>
          <c:dLbls>
            <c:numFmt formatCode="#,##0" sourceLinked="0"/>
            <c:txPr>
              <a:bodyPr/>
              <a:lstStyle/>
              <a:p>
                <a:pPr>
                  <a:defRPr b="0" i="0" strike="noStrike" sz="1000" u="none">
                    <a:solidFill>
                      <a:srgbClr val="FFFFFF"/>
                    </a:solidFill>
                    <a:latin typeface="Segoe UI"/>
                  </a:defRPr>
                </a:pPr>
              </a:p>
            </c:txPr>
            <c:dLblPos val="ctr"/>
            <c:showLegendKey val="0"/>
            <c:showVal val="1"/>
            <c:showCatName val="0"/>
            <c:showSerName val="0"/>
            <c:showPercent val="0"/>
            <c:showBubbleSize val="0"/>
            <c:showLeaderLines val="0"/>
          </c:dLbls>
          <c:cat>
            <c:multiLvlStrRef>
              <c:f>Sheet1!$A$2:$A$6</c:f>
              <c:multiLvlStrCache>
                <c:ptCount val="5"/>
                <c:lvl>
                  <c:pt idx="0">
                    <c:v>2019</c:v>
                  </c:pt>
                  <c:pt idx="1">
                    <c:v>2020</c:v>
                  </c:pt>
                  <c:pt idx="2">
                    <c:v>2021</c:v>
                  </c:pt>
                  <c:pt idx="3">
                    <c:v>2022</c:v>
                  </c:pt>
                  <c:pt idx="4">
                    <c:v>2023</c:v>
                  </c:pt>
                </c:lvl>
              </c:multiLvlStrCache>
            </c:multiLvlStrRef>
          </c:cat>
          <c:val>
            <c:numRef>
              <c:f>Sheet1!$B$2:$B$6</c:f>
              <c:numCache>
                <c:formatCode>General</c:formatCode>
                <c:ptCount val="5"/>
                <c:pt idx="0">
                  <c:v>53.2</c:v>
                </c:pt>
                <c:pt idx="1">
                  <c:v>48.7</c:v>
                </c:pt>
                <c:pt idx="2">
                  <c:v>50.1</c:v>
                </c:pt>
                <c:pt idx="3">
                  <c:v>52.8</c:v>
                </c:pt>
                <c:pt idx="4">
                  <c:v>53.4</c:v>
                </c:pt>
              </c:numCache>
            </c:numRef>
          </c:val>
        </c:ser>
        <c:ser>
          <c:idx val="1"/>
          <c:order val="1"/>
          <c:tx>
            <c:strRef>
              <c:f>Sheet1!$C$1</c:f>
              <c:strCache>
                <c:ptCount val="1"/>
                <c:pt idx="0">
                  <c:v>Oil</c:v>
                </c:pt>
              </c:strCache>
            </c:strRef>
          </c:tx>
          <c:spPr>
            <a:solidFill>
              <a:srgbClr val="4F81BD"/>
            </a:solidFill>
            <a:effectLst/>
          </c:spPr>
          <c:invertIfNegative val="0"/>
          <c:dLbls>
            <c:numFmt formatCode="#,##0" sourceLinked="0"/>
            <c:txPr>
              <a:bodyPr/>
              <a:lstStyle/>
              <a:p>
                <a:pPr>
                  <a:defRPr b="0" i="0" strike="noStrike" sz="1000" u="none">
                    <a:solidFill>
                      <a:srgbClr val="FFFFFF"/>
                    </a:solidFill>
                    <a:latin typeface="Segoe UI"/>
                  </a:defRPr>
                </a:pPr>
              </a:p>
            </c:txPr>
            <c:dLblPos val="ctr"/>
            <c:showLegendKey val="0"/>
            <c:showVal val="1"/>
            <c:showCatName val="0"/>
            <c:showSerName val="0"/>
            <c:showPercent val="0"/>
            <c:showBubbleSize val="0"/>
            <c:showLeaderLines val="0"/>
          </c:dLbls>
          <c:cat>
            <c:multiLvlStrRef>
              <c:f>Sheet1!$A$2:$A$6</c:f>
              <c:multiLvlStrCache>
                <c:ptCount val="5"/>
                <c:lvl>
                  <c:pt idx="0">
                    <c:v>2019</c:v>
                  </c:pt>
                  <c:pt idx="1">
                    <c:v>2020</c:v>
                  </c:pt>
                  <c:pt idx="2">
                    <c:v>2021</c:v>
                  </c:pt>
                  <c:pt idx="3">
                    <c:v>2022</c:v>
                  </c:pt>
                  <c:pt idx="4">
                    <c:v>2023</c:v>
                  </c:pt>
                </c:lvl>
              </c:multiLvlStrCache>
            </c:multiLvlStrRef>
          </c:cat>
          <c:val>
            <c:numRef>
              <c:f>Sheet1!$C$2:$C$6</c:f>
              <c:numCache>
                <c:formatCode>General</c:formatCode>
                <c:ptCount val="5"/>
                <c:pt idx="0">
                  <c:v>41.3</c:v>
                </c:pt>
                <c:pt idx="1">
                  <c:v>36.2</c:v>
                </c:pt>
                <c:pt idx="2">
                  <c:v>38.5</c:v>
                </c:pt>
                <c:pt idx="3">
                  <c:v>40.1</c:v>
                </c:pt>
                <c:pt idx="4">
                  <c:v>41.8</c:v>
                </c:pt>
              </c:numCache>
            </c:numRef>
          </c:val>
        </c:ser>
        <c:ser>
          <c:idx val="2"/>
          <c:order val="2"/>
          <c:tx>
            <c:strRef>
              <c:f>Sheet1!$D$1</c:f>
              <c:strCache>
                <c:ptCount val="1"/>
                <c:pt idx="0">
                  <c:v>Coal</c:v>
                </c:pt>
              </c:strCache>
            </c:strRef>
          </c:tx>
          <c:spPr>
            <a:solidFill>
              <a:srgbClr val="9BBB59"/>
            </a:solidFill>
            <a:effectLst/>
          </c:spPr>
          <c:invertIfNegative val="0"/>
          <c:dLbls>
            <c:numFmt formatCode="#,##0" sourceLinked="0"/>
            <c:txPr>
              <a:bodyPr/>
              <a:lstStyle/>
              <a:p>
                <a:pPr>
                  <a:defRPr b="0" i="0" strike="noStrike" sz="1000" u="none">
                    <a:solidFill>
                      <a:srgbClr val="FFFFFF"/>
                    </a:solidFill>
                    <a:latin typeface="Segoe UI"/>
                  </a:defRPr>
                </a:pPr>
              </a:p>
            </c:txPr>
            <c:dLblPos val="ctr"/>
            <c:showLegendKey val="0"/>
            <c:showVal val="1"/>
            <c:showCatName val="0"/>
            <c:showSerName val="0"/>
            <c:showPercent val="0"/>
            <c:showBubbleSize val="0"/>
            <c:showLeaderLines val="0"/>
          </c:dLbls>
          <c:cat>
            <c:multiLvlStrRef>
              <c:f>Sheet1!$A$2:$A$6</c:f>
              <c:multiLvlStrCache>
                <c:ptCount val="5"/>
                <c:lvl>
                  <c:pt idx="0">
                    <c:v>2019</c:v>
                  </c:pt>
                  <c:pt idx="1">
                    <c:v>2020</c:v>
                  </c:pt>
                  <c:pt idx="2">
                    <c:v>2021</c:v>
                  </c:pt>
                  <c:pt idx="3">
                    <c:v>2022</c:v>
                  </c:pt>
                  <c:pt idx="4">
                    <c:v>2023</c:v>
                  </c:pt>
                </c:lvl>
              </c:multiLvlStrCache>
            </c:multiLvlStrRef>
          </c:cat>
          <c:val>
            <c:numRef>
              <c:f>Sheet1!$D$2:$D$6</c:f>
              <c:numCache>
                <c:formatCode>General</c:formatCode>
                <c:ptCount val="5"/>
                <c:pt idx="0">
                  <c:v>18.5</c:v>
                </c:pt>
                <c:pt idx="1">
                  <c:v>16.8</c:v>
                </c:pt>
                <c:pt idx="2">
                  <c:v>17.2</c:v>
                </c:pt>
                <c:pt idx="3">
                  <c:v>17.9</c:v>
                </c:pt>
                <c:pt idx="4">
                  <c:v>18.1</c:v>
                </c:pt>
              </c:numCache>
            </c:numRef>
          </c:val>
        </c:ser>
        <c:ser>
          <c:idx val="3"/>
          <c:order val="3"/>
          <c:tx>
            <c:strRef>
              <c:f>Sheet1!$E$1</c:f>
              <c:strCache>
                <c:ptCount val="1"/>
                <c:pt idx="0">
                  <c:v>Renewables</c:v>
                </c:pt>
              </c:strCache>
            </c:strRef>
          </c:tx>
          <c:spPr>
            <a:solidFill>
              <a:srgbClr val="8064A2"/>
            </a:solidFill>
            <a:effectLst/>
          </c:spPr>
          <c:invertIfNegative val="0"/>
          <c:dLbls>
            <c:numFmt formatCode="#,##0" sourceLinked="0"/>
            <c:txPr>
              <a:bodyPr/>
              <a:lstStyle/>
              <a:p>
                <a:pPr>
                  <a:defRPr b="0" i="0" strike="noStrike" sz="1000" u="none">
                    <a:solidFill>
                      <a:srgbClr val="FFFFFF"/>
                    </a:solidFill>
                    <a:latin typeface="Segoe UI"/>
                  </a:defRPr>
                </a:pPr>
              </a:p>
            </c:txPr>
            <c:dLblPos val="ctr"/>
            <c:showLegendKey val="0"/>
            <c:showVal val="1"/>
            <c:showCatName val="0"/>
            <c:showSerName val="0"/>
            <c:showPercent val="0"/>
            <c:showBubbleSize val="0"/>
            <c:showLeaderLines val="0"/>
          </c:dLbls>
          <c:cat>
            <c:multiLvlStrRef>
              <c:f>Sheet1!$A$2:$A$6</c:f>
              <c:multiLvlStrCache>
                <c:ptCount val="5"/>
                <c:lvl>
                  <c:pt idx="0">
                    <c:v>2019</c:v>
                  </c:pt>
                  <c:pt idx="1">
                    <c:v>2020</c:v>
                  </c:pt>
                  <c:pt idx="2">
                    <c:v>2021</c:v>
                  </c:pt>
                  <c:pt idx="3">
                    <c:v>2022</c:v>
                  </c:pt>
                  <c:pt idx="4">
                    <c:v>2023</c:v>
                  </c:pt>
                </c:lvl>
              </c:multiLvlStrCache>
            </c:multiLvlStrRef>
          </c:cat>
          <c:val>
            <c:numRef>
              <c:f>Sheet1!$E$2:$E$6</c:f>
              <c:numCache>
                <c:formatCode>General</c:formatCode>
                <c:ptCount val="5"/>
                <c:pt idx="0">
                  <c:v>11.2</c:v>
                </c:pt>
                <c:pt idx="1">
                  <c:v>12.5</c:v>
                </c:pt>
                <c:pt idx="2">
                  <c:v>13.8</c:v>
                </c:pt>
                <c:pt idx="3">
                  <c:v>15.2</c:v>
                </c:pt>
                <c:pt idx="4">
                  <c:v>16.4</c:v>
                </c:pt>
              </c:numCache>
            </c:numRef>
          </c:val>
        </c:ser>
        <c:ser>
          <c:idx val="4"/>
          <c:order val="4"/>
          <c:tx>
            <c:strRef>
              <c:f>Sheet1!$F$1</c:f>
              <c:strCache>
                <c:ptCount val="1"/>
                <c:pt idx="0">
                  <c:v>Imports</c:v>
                </c:pt>
              </c:strCache>
            </c:strRef>
          </c:tx>
          <c:spPr>
            <a:solidFill>
              <a:srgbClr val="4BACC6"/>
            </a:solidFill>
            <a:effectLst/>
          </c:spPr>
          <c:invertIfNegative val="0"/>
          <c:dLbls>
            <c:numFmt formatCode="#,##0" sourceLinked="0"/>
            <c:txPr>
              <a:bodyPr/>
              <a:lstStyle/>
              <a:p>
                <a:pPr>
                  <a:defRPr b="0" i="0" strike="noStrike" sz="1000" u="none">
                    <a:solidFill>
                      <a:srgbClr val="FFFFFF"/>
                    </a:solidFill>
                    <a:latin typeface="Segoe UI"/>
                  </a:defRPr>
                </a:pPr>
              </a:p>
            </c:txPr>
            <c:dLblPos val="ctr"/>
            <c:showLegendKey val="0"/>
            <c:showVal val="1"/>
            <c:showCatName val="0"/>
            <c:showSerName val="0"/>
            <c:showPercent val="0"/>
            <c:showBubbleSize val="0"/>
            <c:showLeaderLines val="0"/>
          </c:dLbls>
          <c:cat>
            <c:multiLvlStrRef>
              <c:f>Sheet1!$A$2:$A$6</c:f>
              <c:multiLvlStrCache>
                <c:ptCount val="5"/>
                <c:lvl>
                  <c:pt idx="0">
                    <c:v>2019</c:v>
                  </c:pt>
                  <c:pt idx="1">
                    <c:v>2020</c:v>
                  </c:pt>
                  <c:pt idx="2">
                    <c:v>2021</c:v>
                  </c:pt>
                  <c:pt idx="3">
                    <c:v>2022</c:v>
                  </c:pt>
                  <c:pt idx="4">
                    <c:v>2023</c:v>
                  </c:pt>
                </c:lvl>
              </c:multiLvlStrCache>
            </c:multiLvlStrRef>
          </c:cat>
          <c:val>
            <c:numRef>
              <c:f>Sheet1!$F$2:$F$6</c:f>
              <c:numCache>
                <c:formatCode>General</c:formatCode>
                <c:ptCount val="5"/>
                <c:pt idx="0">
                  <c:v>6.1</c:v>
                </c:pt>
                <c:pt idx="1">
                  <c:v>5.8</c:v>
                </c:pt>
                <c:pt idx="2">
                  <c:v>6.2</c:v>
                </c:pt>
                <c:pt idx="3">
                  <c:v>6.7</c:v>
                </c:pt>
                <c:pt idx="4">
                  <c:v>7.3</c:v>
                </c:pt>
              </c:numCache>
            </c:numRef>
          </c:val>
        </c:ser>
        <c:dLbls>
          <c:numFmt formatCode="#,##0" sourceLinked="0"/>
          <c:txPr>
            <a:bodyPr/>
            <a:lstStyle/>
            <a:p>
              <a:pPr>
                <a:defRPr b="0" i="0" strike="noStrike" sz="1000" u="none">
                  <a:solidFill>
                    <a:srgbClr val="FFFFFF"/>
                  </a:solidFill>
                  <a:latin typeface="Segoe U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6D7D9"/>
            </a:solidFill>
            <a:prstDash val="solid"/>
            <a:round/>
          </a:ln>
        </c:spPr>
        <c:txPr>
          <a:bodyPr/>
          <a:lstStyle/>
          <a:p>
            <a:pPr>
              <a:defRPr sz="1200" b="0" i="0" u="none" strike="noStrike">
                <a:solidFill>
                  <a:srgbClr val="000000"/>
                </a:solidFill>
                <a:latin typeface="Segoe U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D6D7D9"/>
            </a:solidFill>
            <a:prstDash val="solid"/>
            <a:round/>
          </a:ln>
        </c:spPr>
        <c:txPr>
          <a:bodyPr/>
          <a:lstStyle/>
          <a:p>
            <a:pPr>
              <a:defRPr sz="1200" b="0" i="0" u="none" strike="noStrike">
                <a:solidFill>
                  <a:srgbClr val="000000"/>
                </a:solidFill>
                <a:latin typeface="Segoe UI"/>
              </a:defRPr>
            </a:pPr>
            <a:endParaRPr lang="en-US"/>
          </a:p>
        </c:txPr>
        <c:crossAx val="2094734554"/>
        <c:crosses val="autoZero"/>
        <c:crossBetween val="between"/>
      </c:valAx>
      <c:spPr>
        <a:noFill/>
        <a:ln>
          <a:noFill/>
        </a:ln>
        <a:effectLst/>
      </c:spPr>
    </c:plotArea>
    <c:legend>
      <c:legendPos val="b"/>
      <c:overlay val="0"/>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00000"/>
                </a:solidFill>
                <a:latin typeface="Segoe UI"/>
              </a:defRPr>
            </a:pPr>
            <a:r>
              <a:rPr sz="1400" b="0" i="0" u="none" strike="noStrike">
                <a:solidFill>
                  <a:srgbClr val="000000"/>
                </a:solidFill>
                <a:latin typeface="Segoe UI"/>
              </a:rPr>
              <a:t>Demand by Sector (Mtoe)</a:t>
            </a:r>
          </a:p>
        </c:rich>
      </c:tx>
      <c:layout/>
      <c:overlay val="0"/>
    </c:title>
    <c:autoTitleDeleted val="0"/>
    <c:plotArea>
      <c:layout/>
      <c:barChart>
        <c:barDir val="col"/>
        <c:grouping val="stacked"/>
        <c:varyColors val="0"/>
        <c:ser>
          <c:idx val="0"/>
          <c:order val="0"/>
          <c:tx>
            <c:strRef>
              <c:f>Sheet1!$B$1</c:f>
              <c:strCache>
                <c:ptCount val="1"/>
                <c:pt idx="0">
                  <c:v>Industry</c:v>
                </c:pt>
              </c:strCache>
            </c:strRef>
          </c:tx>
          <c:spPr>
            <a:solidFill>
              <a:srgbClr val="C0504D"/>
            </a:solidFill>
            <a:effectLst/>
          </c:spPr>
          <c:invertIfNegative val="0"/>
          <c:dLbls>
            <c:numFmt formatCode="#,##0" sourceLinked="0"/>
            <c:txPr>
              <a:bodyPr/>
              <a:lstStyle/>
              <a:p>
                <a:pPr>
                  <a:defRPr b="0" i="0" strike="noStrike" sz="1000" u="none">
                    <a:solidFill>
                      <a:srgbClr val="FFFFFF"/>
                    </a:solidFill>
                    <a:latin typeface="Segoe UI"/>
                  </a:defRPr>
                </a:pPr>
              </a:p>
            </c:txPr>
            <c:dLblPos val="ctr"/>
            <c:showLegendKey val="0"/>
            <c:showVal val="1"/>
            <c:showCatName val="0"/>
            <c:showSerName val="0"/>
            <c:showPercent val="0"/>
            <c:showBubbleSize val="0"/>
            <c:showLeaderLines val="0"/>
          </c:dLbls>
          <c:cat>
            <c:multiLvlStrRef>
              <c:f>Sheet1!$A$2:$A$6</c:f>
              <c:multiLvlStrCache>
                <c:ptCount val="5"/>
                <c:lvl>
                  <c:pt idx="0">
                    <c:v>2019</c:v>
                  </c:pt>
                  <c:pt idx="1">
                    <c:v>2020</c:v>
                  </c:pt>
                  <c:pt idx="2">
                    <c:v>2021</c:v>
                  </c:pt>
                  <c:pt idx="3">
                    <c:v>2022</c:v>
                  </c:pt>
                  <c:pt idx="4">
                    <c:v>2023</c:v>
                  </c:pt>
                </c:lvl>
              </c:multiLvlStrCache>
            </c:multiLvlStrRef>
          </c:cat>
          <c:val>
            <c:numRef>
              <c:f>Sheet1!$B$2:$B$6</c:f>
              <c:numCache>
                <c:formatCode>General</c:formatCode>
                <c:ptCount val="5"/>
                <c:pt idx="0">
                  <c:v>32.1</c:v>
                </c:pt>
                <c:pt idx="1">
                  <c:v>29.5</c:v>
                </c:pt>
                <c:pt idx="2">
                  <c:v>31.2</c:v>
                </c:pt>
                <c:pt idx="3">
                  <c:v>33.8</c:v>
                </c:pt>
                <c:pt idx="4">
                  <c:v>35.4</c:v>
                </c:pt>
              </c:numCache>
            </c:numRef>
          </c:val>
        </c:ser>
        <c:ser>
          <c:idx val="1"/>
          <c:order val="1"/>
          <c:tx>
            <c:strRef>
              <c:f>Sheet1!$C$1</c:f>
              <c:strCache>
                <c:ptCount val="1"/>
                <c:pt idx="0">
                  <c:v>Transport</c:v>
                </c:pt>
              </c:strCache>
            </c:strRef>
          </c:tx>
          <c:spPr>
            <a:solidFill>
              <a:srgbClr val="4F81BD"/>
            </a:solidFill>
            <a:effectLst/>
          </c:spPr>
          <c:invertIfNegative val="0"/>
          <c:dLbls>
            <c:numFmt formatCode="#,##0" sourceLinked="0"/>
            <c:txPr>
              <a:bodyPr/>
              <a:lstStyle/>
              <a:p>
                <a:pPr>
                  <a:defRPr b="0" i="0" strike="noStrike" sz="1000" u="none">
                    <a:solidFill>
                      <a:srgbClr val="FFFFFF"/>
                    </a:solidFill>
                    <a:latin typeface="Segoe UI"/>
                  </a:defRPr>
                </a:pPr>
              </a:p>
            </c:txPr>
            <c:dLblPos val="ctr"/>
            <c:showLegendKey val="0"/>
            <c:showVal val="1"/>
            <c:showCatName val="0"/>
            <c:showSerName val="0"/>
            <c:showPercent val="0"/>
            <c:showBubbleSize val="0"/>
            <c:showLeaderLines val="0"/>
          </c:dLbls>
          <c:cat>
            <c:multiLvlStrRef>
              <c:f>Sheet1!$A$2:$A$6</c:f>
              <c:multiLvlStrCache>
                <c:ptCount val="5"/>
                <c:lvl>
                  <c:pt idx="0">
                    <c:v>2019</c:v>
                  </c:pt>
                  <c:pt idx="1">
                    <c:v>2020</c:v>
                  </c:pt>
                  <c:pt idx="2">
                    <c:v>2021</c:v>
                  </c:pt>
                  <c:pt idx="3">
                    <c:v>2022</c:v>
                  </c:pt>
                  <c:pt idx="4">
                    <c:v>2023</c:v>
                  </c:pt>
                </c:lvl>
              </c:multiLvlStrCache>
            </c:multiLvlStrRef>
          </c:cat>
          <c:val>
            <c:numRef>
              <c:f>Sheet1!$C$2:$C$6</c:f>
              <c:numCache>
                <c:formatCode>General</c:formatCode>
                <c:ptCount val="5"/>
                <c:pt idx="0">
                  <c:v>27.8</c:v>
                </c:pt>
                <c:pt idx="1">
                  <c:v>22.1</c:v>
                </c:pt>
                <c:pt idx="2">
                  <c:v>24.5</c:v>
                </c:pt>
                <c:pt idx="3">
                  <c:v>26.9</c:v>
                </c:pt>
                <c:pt idx="4">
                  <c:v>28.2</c:v>
                </c:pt>
              </c:numCache>
            </c:numRef>
          </c:val>
        </c:ser>
        <c:ser>
          <c:idx val="2"/>
          <c:order val="2"/>
          <c:tx>
            <c:strRef>
              <c:f>Sheet1!$D$1</c:f>
              <c:strCache>
                <c:ptCount val="1"/>
                <c:pt idx="0">
                  <c:v>Commercial</c:v>
                </c:pt>
              </c:strCache>
            </c:strRef>
          </c:tx>
          <c:spPr>
            <a:solidFill>
              <a:srgbClr val="9BBB59"/>
            </a:solidFill>
            <a:effectLst/>
          </c:spPr>
          <c:invertIfNegative val="0"/>
          <c:dLbls>
            <c:numFmt formatCode="#,##0" sourceLinked="0"/>
            <c:txPr>
              <a:bodyPr/>
              <a:lstStyle/>
              <a:p>
                <a:pPr>
                  <a:defRPr b="0" i="0" strike="noStrike" sz="1000" u="none">
                    <a:solidFill>
                      <a:srgbClr val="FFFFFF"/>
                    </a:solidFill>
                    <a:latin typeface="Segoe UI"/>
                  </a:defRPr>
                </a:pPr>
              </a:p>
            </c:txPr>
            <c:dLblPos val="ctr"/>
            <c:showLegendKey val="0"/>
            <c:showVal val="1"/>
            <c:showCatName val="0"/>
            <c:showSerName val="0"/>
            <c:showPercent val="0"/>
            <c:showBubbleSize val="0"/>
            <c:showLeaderLines val="0"/>
          </c:dLbls>
          <c:cat>
            <c:multiLvlStrRef>
              <c:f>Sheet1!$A$2:$A$6</c:f>
              <c:multiLvlStrCache>
                <c:ptCount val="5"/>
                <c:lvl>
                  <c:pt idx="0">
                    <c:v>2019</c:v>
                  </c:pt>
                  <c:pt idx="1">
                    <c:v>2020</c:v>
                  </c:pt>
                  <c:pt idx="2">
                    <c:v>2021</c:v>
                  </c:pt>
                  <c:pt idx="3">
                    <c:v>2022</c:v>
                  </c:pt>
                  <c:pt idx="4">
                    <c:v>2023</c:v>
                  </c:pt>
                </c:lvl>
              </c:multiLvlStrCache>
            </c:multiLvlStrRef>
          </c:cat>
          <c:val>
            <c:numRef>
              <c:f>Sheet1!$D$2:$D$6</c:f>
              <c:numCache>
                <c:formatCode>General</c:formatCode>
                <c:ptCount val="5"/>
                <c:pt idx="0">
                  <c:v>12.5</c:v>
                </c:pt>
                <c:pt idx="1">
                  <c:v>10.8</c:v>
                </c:pt>
                <c:pt idx="2">
                  <c:v>11.9</c:v>
                </c:pt>
                <c:pt idx="3">
                  <c:v>13.1</c:v>
                </c:pt>
                <c:pt idx="4">
                  <c:v>13.8</c:v>
                </c:pt>
              </c:numCache>
            </c:numRef>
          </c:val>
        </c:ser>
        <c:ser>
          <c:idx val="3"/>
          <c:order val="3"/>
          <c:tx>
            <c:strRef>
              <c:f>Sheet1!$E$1</c:f>
              <c:strCache>
                <c:ptCount val="1"/>
                <c:pt idx="0">
                  <c:v>Residential</c:v>
                </c:pt>
              </c:strCache>
            </c:strRef>
          </c:tx>
          <c:spPr>
            <a:solidFill>
              <a:srgbClr val="8064A2"/>
            </a:solidFill>
            <a:effectLst/>
          </c:spPr>
          <c:invertIfNegative val="0"/>
          <c:dLbls>
            <c:numFmt formatCode="#,##0" sourceLinked="0"/>
            <c:txPr>
              <a:bodyPr/>
              <a:lstStyle/>
              <a:p>
                <a:pPr>
                  <a:defRPr b="0" i="0" strike="noStrike" sz="1000" u="none">
                    <a:solidFill>
                      <a:srgbClr val="FFFFFF"/>
                    </a:solidFill>
                    <a:latin typeface="Segoe UI"/>
                  </a:defRPr>
                </a:pPr>
              </a:p>
            </c:txPr>
            <c:dLblPos val="ctr"/>
            <c:showLegendKey val="0"/>
            <c:showVal val="1"/>
            <c:showCatName val="0"/>
            <c:showSerName val="0"/>
            <c:showPercent val="0"/>
            <c:showBubbleSize val="0"/>
            <c:showLeaderLines val="0"/>
          </c:dLbls>
          <c:cat>
            <c:multiLvlStrRef>
              <c:f>Sheet1!$A$2:$A$6</c:f>
              <c:multiLvlStrCache>
                <c:ptCount val="5"/>
                <c:lvl>
                  <c:pt idx="0">
                    <c:v>2019</c:v>
                  </c:pt>
                  <c:pt idx="1">
                    <c:v>2020</c:v>
                  </c:pt>
                  <c:pt idx="2">
                    <c:v>2021</c:v>
                  </c:pt>
                  <c:pt idx="3">
                    <c:v>2022</c:v>
                  </c:pt>
                  <c:pt idx="4">
                    <c:v>2023</c:v>
                  </c:pt>
                </c:lvl>
              </c:multiLvlStrCache>
            </c:multiLvlStrRef>
          </c:cat>
          <c:val>
            <c:numRef>
              <c:f>Sheet1!$E$2:$E$6</c:f>
              <c:numCache>
                <c:formatCode>General</c:formatCode>
                <c:ptCount val="5"/>
                <c:pt idx="0">
                  <c:v>8.9</c:v>
                </c:pt>
                <c:pt idx="1">
                  <c:v>9.2</c:v>
                </c:pt>
                <c:pt idx="2">
                  <c:v>9.1</c:v>
                </c:pt>
                <c:pt idx="3">
                  <c:v>9.3</c:v>
                </c:pt>
                <c:pt idx="4">
                  <c:v>9.5</c:v>
                </c:pt>
              </c:numCache>
            </c:numRef>
          </c:val>
        </c:ser>
        <c:ser>
          <c:idx val="4"/>
          <c:order val="4"/>
          <c:tx>
            <c:strRef>
              <c:f>Sheet1!$F$1</c:f>
              <c:strCache>
                <c:ptCount val="1"/>
                <c:pt idx="0">
                  <c:v>Agriculture</c:v>
                </c:pt>
              </c:strCache>
            </c:strRef>
          </c:tx>
          <c:spPr>
            <a:solidFill>
              <a:srgbClr val="4BACC6"/>
            </a:solidFill>
            <a:effectLst/>
          </c:spPr>
          <c:invertIfNegative val="0"/>
          <c:dLbls>
            <c:numFmt formatCode="#,##0" sourceLinked="0"/>
            <c:txPr>
              <a:bodyPr/>
              <a:lstStyle/>
              <a:p>
                <a:pPr>
                  <a:defRPr b="0" i="0" strike="noStrike" sz="1000" u="none">
                    <a:solidFill>
                      <a:srgbClr val="FFFFFF"/>
                    </a:solidFill>
                    <a:latin typeface="Segoe UI"/>
                  </a:defRPr>
                </a:pPr>
              </a:p>
            </c:txPr>
            <c:dLblPos val="ctr"/>
            <c:showLegendKey val="0"/>
            <c:showVal val="1"/>
            <c:showCatName val="0"/>
            <c:showSerName val="0"/>
            <c:showPercent val="0"/>
            <c:showBubbleSize val="0"/>
            <c:showLeaderLines val="0"/>
          </c:dLbls>
          <c:cat>
            <c:multiLvlStrRef>
              <c:f>Sheet1!$A$2:$A$6</c:f>
              <c:multiLvlStrCache>
                <c:ptCount val="5"/>
                <c:lvl>
                  <c:pt idx="0">
                    <c:v>2019</c:v>
                  </c:pt>
                  <c:pt idx="1">
                    <c:v>2020</c:v>
                  </c:pt>
                  <c:pt idx="2">
                    <c:v>2021</c:v>
                  </c:pt>
                  <c:pt idx="3">
                    <c:v>2022</c:v>
                  </c:pt>
                  <c:pt idx="4">
                    <c:v>2023</c:v>
                  </c:pt>
                </c:lvl>
              </c:multiLvlStrCache>
            </c:multiLvlStrRef>
          </c:cat>
          <c:val>
            <c:numRef>
              <c:f>Sheet1!$F$2:$F$6</c:f>
              <c:numCache>
                <c:formatCode>General</c:formatCode>
                <c:ptCount val="5"/>
                <c:pt idx="0">
                  <c:v>4.2</c:v>
                </c:pt>
                <c:pt idx="1">
                  <c:v>4</c:v>
                </c:pt>
                <c:pt idx="2">
                  <c:v>4.1</c:v>
                </c:pt>
                <c:pt idx="3">
                  <c:v>4.3</c:v>
                </c:pt>
                <c:pt idx="4">
                  <c:v>4.4</c:v>
                </c:pt>
              </c:numCache>
            </c:numRef>
          </c:val>
        </c:ser>
        <c:dLbls>
          <c:numFmt formatCode="#,##0" sourceLinked="0"/>
          <c:txPr>
            <a:bodyPr/>
            <a:lstStyle/>
            <a:p>
              <a:pPr>
                <a:defRPr b="0" i="0" strike="noStrike" sz="1000" u="none">
                  <a:solidFill>
                    <a:srgbClr val="FFFFFF"/>
                  </a:solidFill>
                  <a:latin typeface="Segoe U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6D7D9"/>
            </a:solidFill>
            <a:prstDash val="solid"/>
            <a:round/>
          </a:ln>
        </c:spPr>
        <c:txPr>
          <a:bodyPr/>
          <a:lstStyle/>
          <a:p>
            <a:pPr>
              <a:defRPr sz="1200" b="0" i="0" u="none" strike="noStrike">
                <a:solidFill>
                  <a:srgbClr val="000000"/>
                </a:solidFill>
                <a:latin typeface="Segoe U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D6D7D9"/>
            </a:solidFill>
            <a:prstDash val="solid"/>
            <a:round/>
          </a:ln>
        </c:spPr>
        <c:txPr>
          <a:bodyPr/>
          <a:lstStyle/>
          <a:p>
            <a:pPr>
              <a:defRPr sz="1200" b="0" i="0" u="none" strike="noStrike">
                <a:solidFill>
                  <a:srgbClr val="000000"/>
                </a:solidFill>
                <a:latin typeface="Segoe UI"/>
              </a:defRPr>
            </a:pPr>
            <a:endParaRPr lang="en-US"/>
          </a:p>
        </c:txPr>
        <c:crossAx val="2094734554"/>
        <c:crosses val="autoZero"/>
        <c:crossBetween val="between"/>
      </c:valAx>
      <c:spPr>
        <a:noFill/>
        <a:ln>
          <a:noFill/>
        </a:ln>
        <a:effectLst/>
      </c:spPr>
    </c:plotArea>
    <c:legend>
      <c:legendPos val="b"/>
      <c:overlay val="0"/>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00000"/>
                </a:solidFill>
                <a:latin typeface="Segoe UI"/>
              </a:defRPr>
            </a:pPr>
            <a:r>
              <a:rPr sz="1400" b="0" i="0" u="none" strike="noStrike">
                <a:solidFill>
                  <a:srgbClr val="000000"/>
                </a:solidFill>
                <a:latin typeface="Segoe UI"/>
              </a:rPr>
              <a:t>Power Generation Mix (%)</a:t>
            </a:r>
          </a:p>
        </c:rich>
      </c:tx>
      <c:layout/>
      <c:overlay val="0"/>
    </c:title>
    <c:autoTitleDeleted val="0"/>
    <c:plotArea>
      <c:layout/>
      <c:barChart>
        <c:barDir val="col"/>
        <c:grouping val="stacked"/>
        <c:varyColors val="0"/>
        <c:ser>
          <c:idx val="0"/>
          <c:order val="0"/>
          <c:tx>
            <c:strRef>
              <c:f>Sheet1!$B$1</c:f>
              <c:strCache>
                <c:ptCount val="1"/>
                <c:pt idx="0">
                  <c:v>Natural Gas</c:v>
                </c:pt>
              </c:strCache>
            </c:strRef>
          </c:tx>
          <c:spPr>
            <a:solidFill>
              <a:srgbClr val="C0504D"/>
            </a:solidFill>
            <a:effectLst/>
          </c:spPr>
          <c:invertIfNegative val="0"/>
          <c:dLbls>
            <c:numFmt formatCode="#,##0" sourceLinked="0"/>
            <c:txPr>
              <a:bodyPr/>
              <a:lstStyle/>
              <a:p>
                <a:pPr>
                  <a:defRPr b="0" i="0" strike="noStrike" sz="1000" u="none">
                    <a:solidFill>
                      <a:srgbClr val="FFFFFF"/>
                    </a:solidFill>
                    <a:latin typeface="Segoe UI"/>
                  </a:defRPr>
                </a:pPr>
              </a:p>
            </c:txPr>
            <c:dLblPos val="ctr"/>
            <c:showLegendKey val="0"/>
            <c:showVal val="1"/>
            <c:showCatName val="0"/>
            <c:showSerName val="0"/>
            <c:showPercent val="0"/>
            <c:showBubbleSize val="0"/>
            <c:showLeaderLines val="0"/>
          </c:dLbls>
          <c:cat>
            <c:multiLvlStrRef>
              <c:f>Sheet1!$A$2:$A$6</c:f>
              <c:multiLvlStrCache>
                <c:ptCount val="5"/>
                <c:lvl>
                  <c:pt idx="0">
                    <c:v>2019</c:v>
                  </c:pt>
                  <c:pt idx="1">
                    <c:v>2020</c:v>
                  </c:pt>
                  <c:pt idx="2">
                    <c:v>2021</c:v>
                  </c:pt>
                  <c:pt idx="3">
                    <c:v>2022</c:v>
                  </c:pt>
                  <c:pt idx="4">
                    <c:v>2023</c:v>
                  </c:pt>
                </c:lvl>
              </c:multiLvlStrCache>
            </c:multiLvlStrRef>
          </c:cat>
          <c:val>
            <c:numRef>
              <c:f>Sheet1!$B$2:$B$6</c:f>
              <c:numCache>
                <c:formatCode>General</c:formatCode>
                <c:ptCount val="5"/>
                <c:pt idx="0">
                  <c:v>62.5</c:v>
                </c:pt>
                <c:pt idx="1">
                  <c:v>58.3</c:v>
                </c:pt>
                <c:pt idx="2">
                  <c:v>60.1</c:v>
                </c:pt>
                <c:pt idx="3">
                  <c:v>59.2</c:v>
                </c:pt>
                <c:pt idx="4">
                  <c:v>57.8</c:v>
                </c:pt>
              </c:numCache>
            </c:numRef>
          </c:val>
        </c:ser>
        <c:ser>
          <c:idx val="1"/>
          <c:order val="1"/>
          <c:tx>
            <c:strRef>
              <c:f>Sheet1!$C$1</c:f>
              <c:strCache>
                <c:ptCount val="1"/>
                <c:pt idx="0">
                  <c:v>Coal/Lignite</c:v>
                </c:pt>
              </c:strCache>
            </c:strRef>
          </c:tx>
          <c:spPr>
            <a:solidFill>
              <a:srgbClr val="4F81BD"/>
            </a:solidFill>
            <a:effectLst/>
          </c:spPr>
          <c:invertIfNegative val="0"/>
          <c:dLbls>
            <c:numFmt formatCode="#,##0" sourceLinked="0"/>
            <c:txPr>
              <a:bodyPr/>
              <a:lstStyle/>
              <a:p>
                <a:pPr>
                  <a:defRPr b="0" i="0" strike="noStrike" sz="1000" u="none">
                    <a:solidFill>
                      <a:srgbClr val="FFFFFF"/>
                    </a:solidFill>
                    <a:latin typeface="Segoe UI"/>
                  </a:defRPr>
                </a:pPr>
              </a:p>
            </c:txPr>
            <c:dLblPos val="ctr"/>
            <c:showLegendKey val="0"/>
            <c:showVal val="1"/>
            <c:showCatName val="0"/>
            <c:showSerName val="0"/>
            <c:showPercent val="0"/>
            <c:showBubbleSize val="0"/>
            <c:showLeaderLines val="0"/>
          </c:dLbls>
          <c:cat>
            <c:multiLvlStrRef>
              <c:f>Sheet1!$A$2:$A$6</c:f>
              <c:multiLvlStrCache>
                <c:ptCount val="5"/>
                <c:lvl>
                  <c:pt idx="0">
                    <c:v>2019</c:v>
                  </c:pt>
                  <c:pt idx="1">
                    <c:v>2020</c:v>
                  </c:pt>
                  <c:pt idx="2">
                    <c:v>2021</c:v>
                  </c:pt>
                  <c:pt idx="3">
                    <c:v>2022</c:v>
                  </c:pt>
                  <c:pt idx="4">
                    <c:v>2023</c:v>
                  </c:pt>
                </c:lvl>
              </c:multiLvlStrCache>
            </c:multiLvlStrRef>
          </c:cat>
          <c:val>
            <c:numRef>
              <c:f>Sheet1!$C$2:$C$6</c:f>
              <c:numCache>
                <c:formatCode>General</c:formatCode>
                <c:ptCount val="5"/>
                <c:pt idx="0">
                  <c:v>18.2</c:v>
                </c:pt>
                <c:pt idx="1">
                  <c:v>17.5</c:v>
                </c:pt>
                <c:pt idx="2">
                  <c:v>17.8</c:v>
                </c:pt>
                <c:pt idx="3">
                  <c:v>16.9</c:v>
                </c:pt>
                <c:pt idx="4">
                  <c:v>15.8</c:v>
                </c:pt>
              </c:numCache>
            </c:numRef>
          </c:val>
        </c:ser>
        <c:ser>
          <c:idx val="2"/>
          <c:order val="2"/>
          <c:tx>
            <c:strRef>
              <c:f>Sheet1!$D$1</c:f>
              <c:strCache>
                <c:ptCount val="1"/>
                <c:pt idx="0">
                  <c:v>Renewables</c:v>
                </c:pt>
              </c:strCache>
            </c:strRef>
          </c:tx>
          <c:spPr>
            <a:solidFill>
              <a:srgbClr val="9BBB59"/>
            </a:solidFill>
            <a:effectLst/>
          </c:spPr>
          <c:invertIfNegative val="0"/>
          <c:dLbls>
            <c:numFmt formatCode="#,##0" sourceLinked="0"/>
            <c:txPr>
              <a:bodyPr/>
              <a:lstStyle/>
              <a:p>
                <a:pPr>
                  <a:defRPr b="0" i="0" strike="noStrike" sz="1000" u="none">
                    <a:solidFill>
                      <a:srgbClr val="FFFFFF"/>
                    </a:solidFill>
                    <a:latin typeface="Segoe UI"/>
                  </a:defRPr>
                </a:pPr>
              </a:p>
            </c:txPr>
            <c:dLblPos val="ctr"/>
            <c:showLegendKey val="0"/>
            <c:showVal val="1"/>
            <c:showCatName val="0"/>
            <c:showSerName val="0"/>
            <c:showPercent val="0"/>
            <c:showBubbleSize val="0"/>
            <c:showLeaderLines val="0"/>
          </c:dLbls>
          <c:cat>
            <c:multiLvlStrRef>
              <c:f>Sheet1!$A$2:$A$6</c:f>
              <c:multiLvlStrCache>
                <c:ptCount val="5"/>
                <c:lvl>
                  <c:pt idx="0">
                    <c:v>2019</c:v>
                  </c:pt>
                  <c:pt idx="1">
                    <c:v>2020</c:v>
                  </c:pt>
                  <c:pt idx="2">
                    <c:v>2021</c:v>
                  </c:pt>
                  <c:pt idx="3">
                    <c:v>2022</c:v>
                  </c:pt>
                  <c:pt idx="4">
                    <c:v>2023</c:v>
                  </c:pt>
                </c:lvl>
              </c:multiLvlStrCache>
            </c:multiLvlStrRef>
          </c:cat>
          <c:val>
            <c:numRef>
              <c:f>Sheet1!$D$2:$D$6</c:f>
              <c:numCache>
                <c:formatCode>General</c:formatCode>
                <c:ptCount val="5"/>
                <c:pt idx="0">
                  <c:v>10.8</c:v>
                </c:pt>
                <c:pt idx="1">
                  <c:v>14.2</c:v>
                </c:pt>
                <c:pt idx="2">
                  <c:v>15.5</c:v>
                </c:pt>
                <c:pt idx="3">
                  <c:v>17.8</c:v>
                </c:pt>
                <c:pt idx="4">
                  <c:v>20.1</c:v>
                </c:pt>
              </c:numCache>
            </c:numRef>
          </c:val>
        </c:ser>
        <c:ser>
          <c:idx val="3"/>
          <c:order val="3"/>
          <c:tx>
            <c:strRef>
              <c:f>Sheet1!$E$1</c:f>
              <c:strCache>
                <c:ptCount val="1"/>
                <c:pt idx="0">
                  <c:v>Imports</c:v>
                </c:pt>
              </c:strCache>
            </c:strRef>
          </c:tx>
          <c:spPr>
            <a:solidFill>
              <a:srgbClr val="8064A2"/>
            </a:solidFill>
            <a:effectLst/>
          </c:spPr>
          <c:invertIfNegative val="0"/>
          <c:dLbls>
            <c:numFmt formatCode="#,##0" sourceLinked="0"/>
            <c:txPr>
              <a:bodyPr/>
              <a:lstStyle/>
              <a:p>
                <a:pPr>
                  <a:defRPr b="0" i="0" strike="noStrike" sz="1000" u="none">
                    <a:solidFill>
                      <a:srgbClr val="FFFFFF"/>
                    </a:solidFill>
                    <a:latin typeface="Segoe UI"/>
                  </a:defRPr>
                </a:pPr>
              </a:p>
            </c:txPr>
            <c:dLblPos val="ctr"/>
            <c:showLegendKey val="0"/>
            <c:showVal val="1"/>
            <c:showCatName val="0"/>
            <c:showSerName val="0"/>
            <c:showPercent val="0"/>
            <c:showBubbleSize val="0"/>
            <c:showLeaderLines val="0"/>
          </c:dLbls>
          <c:cat>
            <c:multiLvlStrRef>
              <c:f>Sheet1!$A$2:$A$6</c:f>
              <c:multiLvlStrCache>
                <c:ptCount val="5"/>
                <c:lvl>
                  <c:pt idx="0">
                    <c:v>2019</c:v>
                  </c:pt>
                  <c:pt idx="1">
                    <c:v>2020</c:v>
                  </c:pt>
                  <c:pt idx="2">
                    <c:v>2021</c:v>
                  </c:pt>
                  <c:pt idx="3">
                    <c:v>2022</c:v>
                  </c:pt>
                  <c:pt idx="4">
                    <c:v>2023</c:v>
                  </c:pt>
                </c:lvl>
              </c:multiLvlStrCache>
            </c:multiLvlStrRef>
          </c:cat>
          <c:val>
            <c:numRef>
              <c:f>Sheet1!$E$2:$E$6</c:f>
              <c:numCache>
                <c:formatCode>General</c:formatCode>
                <c:ptCount val="5"/>
                <c:pt idx="0">
                  <c:v>8.5</c:v>
                </c:pt>
                <c:pt idx="1">
                  <c:v>10</c:v>
                </c:pt>
                <c:pt idx="2">
                  <c:v>6.6</c:v>
                </c:pt>
                <c:pt idx="3">
                  <c:v>6.1</c:v>
                </c:pt>
                <c:pt idx="4">
                  <c:v>6.3</c:v>
                </c:pt>
              </c:numCache>
            </c:numRef>
          </c:val>
        </c:ser>
        <c:dLbls>
          <c:numFmt formatCode="#,##0" sourceLinked="0"/>
          <c:txPr>
            <a:bodyPr/>
            <a:lstStyle/>
            <a:p>
              <a:pPr>
                <a:defRPr b="0" i="0" strike="noStrike" sz="1000" u="none">
                  <a:solidFill>
                    <a:srgbClr val="FFFFFF"/>
                  </a:solidFill>
                  <a:latin typeface="Segoe U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6D7D9"/>
            </a:solidFill>
            <a:prstDash val="solid"/>
            <a:round/>
          </a:ln>
        </c:spPr>
        <c:txPr>
          <a:bodyPr/>
          <a:lstStyle/>
          <a:p>
            <a:pPr>
              <a:defRPr sz="1200" b="0" i="0" u="none" strike="noStrike">
                <a:solidFill>
                  <a:srgbClr val="000000"/>
                </a:solidFill>
                <a:latin typeface="Segoe U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D6D7D9"/>
            </a:solidFill>
            <a:prstDash val="solid"/>
            <a:round/>
          </a:ln>
        </c:spPr>
        <c:txPr>
          <a:bodyPr/>
          <a:lstStyle/>
          <a:p>
            <a:pPr>
              <a:defRPr sz="1200" b="0" i="0" u="none" strike="noStrike">
                <a:solidFill>
                  <a:srgbClr val="000000"/>
                </a:solidFill>
                <a:latin typeface="Segoe UI"/>
              </a:defRPr>
            </a:pPr>
            <a:endParaRPr lang="en-US"/>
          </a:p>
        </c:txPr>
        <c:crossAx val="2094734554"/>
        <c:crosses val="autoZero"/>
        <c:crossBetween val="between"/>
      </c:valAx>
      <c:spPr>
        <a:noFill/>
        <a:ln>
          <a:noFill/>
        </a:ln>
        <a:effectLst/>
      </c:spPr>
    </c:plotArea>
    <c:legend>
      <c:legendPos val="b"/>
      <c:overlay val="0"/>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00000"/>
                </a:solidFill>
                <a:latin typeface="Segoe UI"/>
              </a:defRPr>
            </a:pPr>
            <a:r>
              <a:rPr sz="1400" b="0" i="0" u="none" strike="noStrike">
                <a:solidFill>
                  <a:srgbClr val="000000"/>
                </a:solidFill>
                <a:latin typeface="Segoe UI"/>
              </a:rPr>
              <a:t>Gas Supply Trend (bcm)</a:t>
            </a:r>
          </a:p>
        </c:rich>
      </c:tx>
      <c:layout/>
      <c:overlay val="0"/>
    </c:title>
    <c:autoTitleDeleted val="0"/>
    <c:plotArea>
      <c:layout/>
      <c:lineChart>
        <c:varyColors val="0"/>
        <c:ser>
          <c:idx val="0"/>
          <c:order val="0"/>
          <c:tx>
            <c:strRef>
              <c:f>Sheet1!$B$1</c:f>
              <c:strCache>
                <c:ptCount val="1"/>
                <c:pt idx="0">
                  <c:v>Domestic Production</c:v>
                </c:pt>
              </c:strCache>
            </c:strRef>
          </c:tx>
          <c:spPr>
            <a:solidFill>
              <a:srgbClr val="C0504D"/>
            </a:solidFill>
            <a:ln w="25400" cap="flat">
              <a:solidFill>
                <a:srgbClr val="C0504D"/>
              </a:solidFill>
              <a:prstDash val="solid"/>
              <a:round/>
            </a:ln>
            <a:effectLst/>
          </c:spPr>
          <c:invertIfNegative val="0"/>
          <c:dLbls>
            <c:numFmt formatCode="#,##0" sourceLinked="0"/>
            <c:txPr>
              <a:bodyPr/>
              <a:lstStyle/>
              <a:p>
                <a:pPr>
                  <a:defRPr b="0" i="0" strike="noStrike" sz="1000" u="none">
                    <a:solidFill>
                      <a:srgbClr val="000000"/>
                    </a:solidFill>
                    <a:latin typeface="Segoe UI"/>
                  </a:defRPr>
                </a:pPr>
              </a:p>
            </c:txPr>
            <c:dLblPos val="t"/>
            <c:showLegendKey val="0"/>
            <c:showVal val="1"/>
            <c:showCatName val="0"/>
            <c:showSerName val="0"/>
            <c:showPercent val="0"/>
            <c:showBubbleSize val="0"/>
            <c:showLeaderLines val="0"/>
          </c:dLbls>
          <c:marker>
            <c:symbol val="circle"/>
            <c:size val="6"/>
            <c:spPr>
              <a:solidFill>
                <a:srgbClr val="C0504D"/>
              </a:solidFill>
              <a:ln w="9525" cap="flat">
                <a:solidFill>
                  <a:srgbClr val="C0504D"/>
                </a:solidFill>
                <a:prstDash val="solid"/>
                <a:round/>
              </a:ln>
              <a:effectLst/>
            </c:spPr>
          </c:marker>
          <c:cat>
            <c:multiLvlStrRef>
              <c:f>Sheet1!$A$2:$A$6</c:f>
              <c:multiLvlStrCache>
                <c:ptCount val="5"/>
                <c:lvl>
                  <c:pt idx="0">
                    <c:v>2019</c:v>
                  </c:pt>
                  <c:pt idx="1">
                    <c:v>2020</c:v>
                  </c:pt>
                  <c:pt idx="2">
                    <c:v>2021</c:v>
                  </c:pt>
                  <c:pt idx="3">
                    <c:v>2022</c:v>
                  </c:pt>
                  <c:pt idx="4">
                    <c:v>2023</c:v>
                  </c:pt>
                </c:lvl>
              </c:multiLvlStrCache>
            </c:multiLvlStrRef>
          </c:cat>
          <c:val>
            <c:numRef>
              <c:f>Sheet1!$B$2:$B$6</c:f>
              <c:numCache>
                <c:formatCode>General</c:formatCode>
                <c:ptCount val="5"/>
                <c:pt idx="0">
                  <c:v>36.2</c:v>
                </c:pt>
                <c:pt idx="1">
                  <c:v>33.5</c:v>
                </c:pt>
                <c:pt idx="2">
                  <c:v>31.8</c:v>
                </c:pt>
                <c:pt idx="3">
                  <c:v>30.1</c:v>
                </c:pt>
                <c:pt idx="4">
                  <c:v>28.5</c:v>
                </c:pt>
              </c:numCache>
            </c:numRef>
          </c:val>
          <c:smooth val="0"/>
        </c:ser>
        <c:ser>
          <c:idx val="1"/>
          <c:order val="1"/>
          <c:tx>
            <c:strRef>
              <c:f>Sheet1!$C$1</c:f>
              <c:strCache>
                <c:ptCount val="1"/>
                <c:pt idx="0">
                  <c:v>LNG Imports</c:v>
                </c:pt>
              </c:strCache>
            </c:strRef>
          </c:tx>
          <c:spPr>
            <a:solidFill>
              <a:srgbClr val="4F81BD"/>
            </a:solidFill>
            <a:ln w="25400" cap="flat">
              <a:solidFill>
                <a:srgbClr val="4F81BD"/>
              </a:solidFill>
              <a:prstDash val="solid"/>
              <a:round/>
            </a:ln>
            <a:effectLst/>
          </c:spPr>
          <c:invertIfNegative val="0"/>
          <c:dLbls>
            <c:numFmt formatCode="#,##0" sourceLinked="0"/>
            <c:txPr>
              <a:bodyPr/>
              <a:lstStyle/>
              <a:p>
                <a:pPr>
                  <a:defRPr b="0" i="0" strike="noStrike" sz="1000" u="none">
                    <a:solidFill>
                      <a:srgbClr val="000000"/>
                    </a:solidFill>
                    <a:latin typeface="Segoe UI"/>
                  </a:defRPr>
                </a:pPr>
              </a:p>
            </c:txPr>
            <c:dLblPos val="t"/>
            <c:showLegendKey val="0"/>
            <c:showVal val="1"/>
            <c:showCatName val="0"/>
            <c:showSerName val="0"/>
            <c:showPercent val="0"/>
            <c:showBubbleSize val="0"/>
            <c:showLeaderLines val="0"/>
          </c:dLbls>
          <c:marker>
            <c:symbol val="circle"/>
            <c:size val="6"/>
            <c:spPr>
              <a:solidFill>
                <a:srgbClr val="4F81BD"/>
              </a:solidFill>
              <a:ln w="9525" cap="flat">
                <a:solidFill>
                  <a:srgbClr val="4F81BD"/>
                </a:solidFill>
                <a:prstDash val="solid"/>
                <a:round/>
              </a:ln>
              <a:effectLst/>
            </c:spPr>
          </c:marker>
          <c:cat>
            <c:multiLvlStrRef>
              <c:f>Sheet1!$A$2:$A$6</c:f>
              <c:multiLvlStrCache>
                <c:ptCount val="5"/>
                <c:lvl>
                  <c:pt idx="0">
                    <c:v>2019</c:v>
                  </c:pt>
                  <c:pt idx="1">
                    <c:v>2020</c:v>
                  </c:pt>
                  <c:pt idx="2">
                    <c:v>2021</c:v>
                  </c:pt>
                  <c:pt idx="3">
                    <c:v>2022</c:v>
                  </c:pt>
                  <c:pt idx="4">
                    <c:v>2023</c:v>
                  </c:pt>
                </c:lvl>
              </c:multiLvlStrCache>
            </c:multiLvlStrRef>
          </c:cat>
          <c:val>
            <c:numRef>
              <c:f>Sheet1!$C$2:$C$6</c:f>
              <c:numCache>
                <c:formatCode>General</c:formatCode>
                <c:ptCount val="5"/>
                <c:pt idx="0">
                  <c:v>8.5</c:v>
                </c:pt>
                <c:pt idx="1">
                  <c:v>7.2</c:v>
                </c:pt>
                <c:pt idx="2">
                  <c:v>10.8</c:v>
                </c:pt>
                <c:pt idx="3">
                  <c:v>13.5</c:v>
                </c:pt>
                <c:pt idx="4">
                  <c:v>16.2</c:v>
                </c:pt>
              </c:numCache>
            </c:numRef>
          </c:val>
          <c:smooth val="0"/>
        </c:ser>
        <c:ser>
          <c:idx val="2"/>
          <c:order val="2"/>
          <c:tx>
            <c:strRef>
              <c:f>Sheet1!$D$1</c:f>
              <c:strCache>
                <c:ptCount val="1"/>
                <c:pt idx="0">
                  <c:v>Pipeline Imports</c:v>
                </c:pt>
              </c:strCache>
            </c:strRef>
          </c:tx>
          <c:spPr>
            <a:solidFill>
              <a:srgbClr val="9BBB59"/>
            </a:solidFill>
            <a:ln w="25400" cap="flat">
              <a:solidFill>
                <a:srgbClr val="9BBB59"/>
              </a:solidFill>
              <a:prstDash val="solid"/>
              <a:round/>
            </a:ln>
            <a:effectLst/>
          </c:spPr>
          <c:invertIfNegative val="0"/>
          <c:dLbls>
            <c:numFmt formatCode="#,##0" sourceLinked="0"/>
            <c:txPr>
              <a:bodyPr/>
              <a:lstStyle/>
              <a:p>
                <a:pPr>
                  <a:defRPr b="0" i="0" strike="noStrike" sz="1000" u="none">
                    <a:solidFill>
                      <a:srgbClr val="000000"/>
                    </a:solidFill>
                    <a:latin typeface="Segoe UI"/>
                  </a:defRPr>
                </a:pPr>
              </a:p>
            </c:txPr>
            <c:dLblPos val="t"/>
            <c:showLegendKey val="0"/>
            <c:showVal val="1"/>
            <c:showCatName val="0"/>
            <c:showSerName val="0"/>
            <c:showPercent val="0"/>
            <c:showBubbleSize val="0"/>
            <c:showLeaderLines val="0"/>
          </c:dLbls>
          <c:marker>
            <c:symbol val="circle"/>
            <c:size val="6"/>
            <c:spPr>
              <a:solidFill>
                <a:srgbClr val="9BBB59"/>
              </a:solidFill>
              <a:ln w="9525" cap="flat">
                <a:solidFill>
                  <a:srgbClr val="9BBB59"/>
                </a:solidFill>
                <a:prstDash val="solid"/>
                <a:round/>
              </a:ln>
              <a:effectLst/>
            </c:spPr>
          </c:marker>
          <c:cat>
            <c:multiLvlStrRef>
              <c:f>Sheet1!$A$2:$A$6</c:f>
              <c:multiLvlStrCache>
                <c:ptCount val="5"/>
                <c:lvl>
                  <c:pt idx="0">
                    <c:v>2019</c:v>
                  </c:pt>
                  <c:pt idx="1">
                    <c:v>2020</c:v>
                  </c:pt>
                  <c:pt idx="2">
                    <c:v>2021</c:v>
                  </c:pt>
                  <c:pt idx="3">
                    <c:v>2022</c:v>
                  </c:pt>
                  <c:pt idx="4">
                    <c:v>2023</c:v>
                  </c:pt>
                </c:lvl>
              </c:multiLvlStrCache>
            </c:multiLvlStrRef>
          </c:cat>
          <c:val>
            <c:numRef>
              <c:f>Sheet1!$D$2:$D$6</c:f>
              <c:numCache>
                <c:formatCode>General</c:formatCode>
                <c:ptCount val="5"/>
                <c:pt idx="0">
                  <c:v>10.1</c:v>
                </c:pt>
                <c:pt idx="1">
                  <c:v>9.8</c:v>
                </c:pt>
                <c:pt idx="2">
                  <c:v>10.2</c:v>
                </c:pt>
                <c:pt idx="3">
                  <c:v>10.5</c:v>
                </c:pt>
                <c:pt idx="4">
                  <c:v>10.8</c:v>
                </c:pt>
              </c:numCache>
            </c:numRef>
          </c:val>
          <c:smooth val="0"/>
        </c:ser>
        <c:dLbls>
          <c:numFmt formatCode="#,##0" sourceLinked="0"/>
          <c:txPr>
            <a:bodyPr/>
            <a:lstStyle/>
            <a:p>
              <a:pPr>
                <a:defRPr b="0" i="0" strike="noStrike" sz="1000" u="none">
                  <a:solidFill>
                    <a:srgbClr val="000000"/>
                  </a:solidFill>
                  <a:latin typeface="Segoe U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6D7D9"/>
            </a:solidFill>
            <a:prstDash val="solid"/>
            <a:round/>
          </a:ln>
        </c:spPr>
        <c:txPr>
          <a:bodyPr/>
          <a:lstStyle/>
          <a:p>
            <a:pPr>
              <a:defRPr sz="1200" b="0" i="0" u="none" strike="noStrike">
                <a:solidFill>
                  <a:srgbClr val="000000"/>
                </a:solidFill>
                <a:latin typeface="Segoe U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D6D7D9"/>
            </a:solidFill>
            <a:prstDash val="solid"/>
            <a:round/>
          </a:ln>
        </c:spPr>
        <c:txPr>
          <a:bodyPr/>
          <a:lstStyle/>
          <a:p>
            <a:pPr>
              <a:defRPr sz="1200" b="0" i="0" u="none" strike="noStrike">
                <a:solidFill>
                  <a:srgbClr val="000000"/>
                </a:solidFill>
                <a:latin typeface="Segoe UI"/>
              </a:defRPr>
            </a:pPr>
            <a:endParaRPr lang="en-US"/>
          </a:p>
        </c:txPr>
        <c:crossAx val="2094734554"/>
        <c:crosses val="autoZero"/>
        <c:crossBetween val="between"/>
      </c:valAx>
      <c:spPr>
        <a:noFill/>
        <a:ln>
          <a:noFill/>
        </a:ln>
        <a:effectLst/>
      </c:spPr>
    </c:plotArea>
    <c:legend>
      <c:legendPos val="b"/>
      <c:overlay val="0"/>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00000"/>
                </a:solidFill>
                <a:latin typeface="Segoe UI"/>
              </a:defRPr>
            </a:pPr>
            <a:r>
              <a:rPr sz="1400" b="0" i="0" u="none" strike="noStrike">
                <a:solidFill>
                  <a:srgbClr val="000000"/>
                </a:solidFill>
                <a:latin typeface="Segoe UI"/>
              </a:rPr>
              <a:t>Energy Price Trends</a:t>
            </a:r>
          </a:p>
        </c:rich>
      </c:tx>
      <c:layout/>
      <c:overlay val="0"/>
    </c:title>
    <c:autoTitleDeleted val="0"/>
    <c:plotArea>
      <c:layout/>
      <c:lineChart>
        <c:varyColors val="0"/>
        <c:ser>
          <c:idx val="0"/>
          <c:order val="0"/>
          <c:tx>
            <c:strRef>
              <c:f>Sheet1!$B$1</c:f>
              <c:strCache>
                <c:ptCount val="1"/>
                <c:pt idx="0">
                  <c:v>Industrial Rate</c:v>
                </c:pt>
              </c:strCache>
            </c:strRef>
          </c:tx>
          <c:spPr>
            <a:solidFill>
              <a:srgbClr val="C0504D"/>
            </a:solidFill>
            <a:ln w="25400" cap="flat">
              <a:solidFill>
                <a:srgbClr val="C0504D"/>
              </a:solidFill>
              <a:prstDash val="solid"/>
              <a:round/>
            </a:ln>
            <a:effectLst/>
          </c:spPr>
          <c:invertIfNegative val="0"/>
          <c:dLbls>
            <c:numFmt formatCode="#,##0" sourceLinked="0"/>
            <c:txPr>
              <a:bodyPr/>
              <a:lstStyle/>
              <a:p>
                <a:pPr>
                  <a:defRPr b="0" i="0" strike="noStrike" sz="1000" u="none">
                    <a:solidFill>
                      <a:srgbClr val="000000"/>
                    </a:solidFill>
                    <a:latin typeface="Segoe UI"/>
                  </a:defRPr>
                </a:pPr>
              </a:p>
            </c:txPr>
            <c:dLblPos val="t"/>
            <c:showLegendKey val="0"/>
            <c:showVal val="1"/>
            <c:showCatName val="0"/>
            <c:showSerName val="0"/>
            <c:showPercent val="0"/>
            <c:showBubbleSize val="0"/>
            <c:showLeaderLines val="0"/>
          </c:dLbls>
          <c:marker>
            <c:symbol val="circle"/>
            <c:size val="6"/>
            <c:spPr>
              <a:solidFill>
                <a:srgbClr val="C0504D"/>
              </a:solidFill>
              <a:ln w="9525" cap="flat">
                <a:solidFill>
                  <a:srgbClr val="C0504D"/>
                </a:solidFill>
                <a:prstDash val="solid"/>
                <a:round/>
              </a:ln>
              <a:effectLst/>
            </c:spPr>
          </c:marker>
          <c:cat>
            <c:multiLvlStrRef>
              <c:f>Sheet1!$A$2:$A$6</c:f>
              <c:multiLvlStrCache>
                <c:ptCount val="5"/>
                <c:lvl>
                  <c:pt idx="0">
                    <c:v>2019</c:v>
                  </c:pt>
                  <c:pt idx="1">
                    <c:v>2020</c:v>
                  </c:pt>
                  <c:pt idx="2">
                    <c:v>2021</c:v>
                  </c:pt>
                  <c:pt idx="3">
                    <c:v>2022</c:v>
                  </c:pt>
                  <c:pt idx="4">
                    <c:v>2023</c:v>
                  </c:pt>
                </c:lvl>
              </c:multiLvlStrCache>
            </c:multiLvlStrRef>
          </c:cat>
          <c:val>
            <c:numRef>
              <c:f>Sheet1!$B$2:$B$6</c:f>
              <c:numCache>
                <c:formatCode>General</c:formatCode>
                <c:ptCount val="5"/>
                <c:pt idx="0">
                  <c:v>3.12</c:v>
                </c:pt>
                <c:pt idx="1">
                  <c:v>2.98</c:v>
                </c:pt>
                <c:pt idx="2">
                  <c:v>3.21</c:v>
                </c:pt>
                <c:pt idx="3">
                  <c:v>3.58</c:v>
                </c:pt>
                <c:pt idx="4">
                  <c:v>4.01</c:v>
                </c:pt>
              </c:numCache>
            </c:numRef>
          </c:val>
          <c:smooth val="0"/>
        </c:ser>
        <c:ser>
          <c:idx val="1"/>
          <c:order val="1"/>
          <c:tx>
            <c:strRef>
              <c:f>Sheet1!$C$1</c:f>
              <c:strCache>
                <c:ptCount val="1"/>
                <c:pt idx="0">
                  <c:v>Commercial Rate</c:v>
                </c:pt>
              </c:strCache>
            </c:strRef>
          </c:tx>
          <c:spPr>
            <a:solidFill>
              <a:srgbClr val="4F81BD"/>
            </a:solidFill>
            <a:ln w="25400" cap="flat">
              <a:solidFill>
                <a:srgbClr val="4F81BD"/>
              </a:solidFill>
              <a:prstDash val="solid"/>
              <a:round/>
            </a:ln>
            <a:effectLst/>
          </c:spPr>
          <c:invertIfNegative val="0"/>
          <c:dLbls>
            <c:numFmt formatCode="#,##0" sourceLinked="0"/>
            <c:txPr>
              <a:bodyPr/>
              <a:lstStyle/>
              <a:p>
                <a:pPr>
                  <a:defRPr b="0" i="0" strike="noStrike" sz="1000" u="none">
                    <a:solidFill>
                      <a:srgbClr val="000000"/>
                    </a:solidFill>
                    <a:latin typeface="Segoe UI"/>
                  </a:defRPr>
                </a:pPr>
              </a:p>
            </c:txPr>
            <c:dLblPos val="t"/>
            <c:showLegendKey val="0"/>
            <c:showVal val="1"/>
            <c:showCatName val="0"/>
            <c:showSerName val="0"/>
            <c:showPercent val="0"/>
            <c:showBubbleSize val="0"/>
            <c:showLeaderLines val="0"/>
          </c:dLbls>
          <c:marker>
            <c:symbol val="circle"/>
            <c:size val="6"/>
            <c:spPr>
              <a:solidFill>
                <a:srgbClr val="4F81BD"/>
              </a:solidFill>
              <a:ln w="9525" cap="flat">
                <a:solidFill>
                  <a:srgbClr val="4F81BD"/>
                </a:solidFill>
                <a:prstDash val="solid"/>
                <a:round/>
              </a:ln>
              <a:effectLst/>
            </c:spPr>
          </c:marker>
          <c:cat>
            <c:multiLvlStrRef>
              <c:f>Sheet1!$A$2:$A$6</c:f>
              <c:multiLvlStrCache>
                <c:ptCount val="5"/>
                <c:lvl>
                  <c:pt idx="0">
                    <c:v>2019</c:v>
                  </c:pt>
                  <c:pt idx="1">
                    <c:v>2020</c:v>
                  </c:pt>
                  <c:pt idx="2">
                    <c:v>2021</c:v>
                  </c:pt>
                  <c:pt idx="3">
                    <c:v>2022</c:v>
                  </c:pt>
                  <c:pt idx="4">
                    <c:v>2023</c:v>
                  </c:pt>
                </c:lvl>
              </c:multiLvlStrCache>
            </c:multiLvlStrRef>
          </c:cat>
          <c:val>
            <c:numRef>
              <c:f>Sheet1!$C$2:$C$6</c:f>
              <c:numCache>
                <c:formatCode>General</c:formatCode>
                <c:ptCount val="5"/>
                <c:pt idx="0">
                  <c:v>3.85</c:v>
                </c:pt>
                <c:pt idx="1">
                  <c:v>3.72</c:v>
                </c:pt>
                <c:pt idx="2">
                  <c:v>3.95</c:v>
                </c:pt>
                <c:pt idx="3">
                  <c:v>4.32</c:v>
                </c:pt>
                <c:pt idx="4">
                  <c:v>4.78</c:v>
                </c:pt>
              </c:numCache>
            </c:numRef>
          </c:val>
          <c:smooth val="0"/>
        </c:ser>
        <c:ser>
          <c:idx val="2"/>
          <c:order val="2"/>
          <c:tx>
            <c:strRef>
              <c:f>Sheet1!$D$1</c:f>
              <c:strCache>
                <c:ptCount val="1"/>
                <c:pt idx="0">
                  <c:v>Residential Rate</c:v>
                </c:pt>
              </c:strCache>
            </c:strRef>
          </c:tx>
          <c:spPr>
            <a:solidFill>
              <a:srgbClr val="9BBB59"/>
            </a:solidFill>
            <a:ln w="25400" cap="flat">
              <a:solidFill>
                <a:srgbClr val="9BBB59"/>
              </a:solidFill>
              <a:prstDash val="solid"/>
              <a:round/>
            </a:ln>
            <a:effectLst/>
          </c:spPr>
          <c:invertIfNegative val="0"/>
          <c:dLbls>
            <c:numFmt formatCode="#,##0" sourceLinked="0"/>
            <c:txPr>
              <a:bodyPr/>
              <a:lstStyle/>
              <a:p>
                <a:pPr>
                  <a:defRPr b="0" i="0" strike="noStrike" sz="1000" u="none">
                    <a:solidFill>
                      <a:srgbClr val="000000"/>
                    </a:solidFill>
                    <a:latin typeface="Segoe UI"/>
                  </a:defRPr>
                </a:pPr>
              </a:p>
            </c:txPr>
            <c:dLblPos val="t"/>
            <c:showLegendKey val="0"/>
            <c:showVal val="1"/>
            <c:showCatName val="0"/>
            <c:showSerName val="0"/>
            <c:showPercent val="0"/>
            <c:showBubbleSize val="0"/>
            <c:showLeaderLines val="0"/>
          </c:dLbls>
          <c:marker>
            <c:symbol val="circle"/>
            <c:size val="6"/>
            <c:spPr>
              <a:solidFill>
                <a:srgbClr val="9BBB59"/>
              </a:solidFill>
              <a:ln w="9525" cap="flat">
                <a:solidFill>
                  <a:srgbClr val="9BBB59"/>
                </a:solidFill>
                <a:prstDash val="solid"/>
                <a:round/>
              </a:ln>
              <a:effectLst/>
            </c:spPr>
          </c:marker>
          <c:cat>
            <c:multiLvlStrRef>
              <c:f>Sheet1!$A$2:$A$6</c:f>
              <c:multiLvlStrCache>
                <c:ptCount val="5"/>
                <c:lvl>
                  <c:pt idx="0">
                    <c:v>2019</c:v>
                  </c:pt>
                  <c:pt idx="1">
                    <c:v>2020</c:v>
                  </c:pt>
                  <c:pt idx="2">
                    <c:v>2021</c:v>
                  </c:pt>
                  <c:pt idx="3">
                    <c:v>2022</c:v>
                  </c:pt>
                  <c:pt idx="4">
                    <c:v>2023</c:v>
                  </c:pt>
                </c:lvl>
              </c:multiLvlStrCache>
            </c:multiLvlStrRef>
          </c:cat>
          <c:val>
            <c:numRef>
              <c:f>Sheet1!$D$2:$D$6</c:f>
              <c:numCache>
                <c:formatCode>General</c:formatCode>
                <c:ptCount val="5"/>
                <c:pt idx="0">
                  <c:v>2.95</c:v>
                </c:pt>
                <c:pt idx="1">
                  <c:v>2.88</c:v>
                </c:pt>
                <c:pt idx="2">
                  <c:v>3.05</c:v>
                </c:pt>
                <c:pt idx="3">
                  <c:v>3.38</c:v>
                </c:pt>
                <c:pt idx="4">
                  <c:v>3.72</c:v>
                </c:pt>
              </c:numCache>
            </c:numRef>
          </c:val>
          <c:smooth val="0"/>
        </c:ser>
        <c:dLbls>
          <c:numFmt formatCode="#,##0" sourceLinked="0"/>
          <c:txPr>
            <a:bodyPr/>
            <a:lstStyle/>
            <a:p>
              <a:pPr>
                <a:defRPr b="0" i="0" strike="noStrike" sz="1000" u="none">
                  <a:solidFill>
                    <a:srgbClr val="000000"/>
                  </a:solidFill>
                  <a:latin typeface="Segoe U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6D7D9"/>
            </a:solidFill>
            <a:prstDash val="solid"/>
            <a:round/>
          </a:ln>
        </c:spPr>
        <c:txPr>
          <a:bodyPr/>
          <a:lstStyle/>
          <a:p>
            <a:pPr>
              <a:defRPr sz="1200" b="0" i="0" u="none" strike="noStrike">
                <a:solidFill>
                  <a:srgbClr val="000000"/>
                </a:solidFill>
                <a:latin typeface="Segoe U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D6D7D9"/>
            </a:solidFill>
            <a:prstDash val="solid"/>
            <a:round/>
          </a:ln>
        </c:spPr>
        <c:txPr>
          <a:bodyPr/>
          <a:lstStyle/>
          <a:p>
            <a:pPr>
              <a:defRPr sz="1200" b="0" i="0" u="none" strike="noStrike">
                <a:solidFill>
                  <a:srgbClr val="000000"/>
                </a:solidFill>
                <a:latin typeface="Segoe UI"/>
              </a:defRPr>
            </a:pPr>
            <a:endParaRPr lang="en-US"/>
          </a:p>
        </c:txPr>
        <c:crossAx val="2094734554"/>
        <c:crosses val="autoZero"/>
        <c:crossBetween val="between"/>
      </c:valAx>
      <c:spPr>
        <a:noFill/>
        <a:ln>
          <a:noFill/>
        </a:ln>
        <a:effectLst/>
      </c:spPr>
    </c:plotArea>
    <c:legend>
      <c:legendPos val="b"/>
      <c:overlay val="0"/>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00000"/>
                </a:solidFill>
                <a:latin typeface="Segoe UI"/>
              </a:defRPr>
            </a:pPr>
            <a:r>
              <a:rPr sz="1400" b="0" i="0" u="none" strike="noStrike">
                <a:solidFill>
                  <a:srgbClr val="000000"/>
                </a:solidFill>
                <a:latin typeface="Segoe UI"/>
              </a:rPr>
              <a:t>Market Segments (THB Billion)</a:t>
            </a:r>
          </a:p>
        </c:rich>
      </c:tx>
      <c:layout/>
      <c:overlay val="0"/>
    </c:title>
    <c:autoTitleDeleted val="0"/>
    <c:plotArea>
      <c:layout/>
      <c:barChart>
        <c:barDir val="col"/>
        <c:grouping val="stacked"/>
        <c:varyColors val="0"/>
        <c:ser>
          <c:idx val="0"/>
          <c:order val="0"/>
          <c:tx>
            <c:strRef>
              <c:f>Sheet1!$B$1</c:f>
              <c:strCache>
                <c:ptCount val="1"/>
                <c:pt idx="0">
                  <c:v>Government</c:v>
                </c:pt>
              </c:strCache>
            </c:strRef>
          </c:tx>
          <c:spPr>
            <a:solidFill>
              <a:srgbClr val="C0504D"/>
            </a:solidFill>
            <a:effectLst/>
          </c:spPr>
          <c:invertIfNegative val="0"/>
          <c:dLbls>
            <c:numFmt formatCode="#,##0" sourceLinked="0"/>
            <c:txPr>
              <a:bodyPr/>
              <a:lstStyle/>
              <a:p>
                <a:pPr>
                  <a:defRPr b="0" i="0" strike="noStrike" sz="1000" u="none">
                    <a:solidFill>
                      <a:srgbClr val="FFFFFF"/>
                    </a:solidFill>
                    <a:latin typeface="Segoe UI"/>
                  </a:defRPr>
                </a:pPr>
              </a:p>
            </c:txPr>
            <c:dLblPos val="ctr"/>
            <c:showLegendKey val="0"/>
            <c:showVal val="1"/>
            <c:showCatName val="0"/>
            <c:showSerName val="0"/>
            <c:showPercent val="0"/>
            <c:showBubbleSize val="0"/>
            <c:showLeaderLines val="0"/>
          </c:dLbls>
          <c:cat>
            <c:multiLvlStrRef>
              <c:f>Sheet1!$A$2:$A$6</c:f>
              <c:multiLvlStrCache>
                <c:ptCount val="5"/>
                <c:lvl>
                  <c:pt idx="0">
                    <c:v>2019</c:v>
                  </c:pt>
                  <c:pt idx="1">
                    <c:v>2020</c:v>
                  </c:pt>
                  <c:pt idx="2">
                    <c:v>2021</c:v>
                  </c:pt>
                  <c:pt idx="3">
                    <c:v>2022</c:v>
                  </c:pt>
                  <c:pt idx="4">
                    <c:v>2023</c:v>
                  </c:pt>
                </c:lvl>
              </c:multiLvlStrCache>
            </c:multiLvlStrRef>
          </c:cat>
          <c:val>
            <c:numRef>
              <c:f>Sheet1!$B$2:$B$6</c:f>
              <c:numCache>
                <c:formatCode>General</c:formatCode>
                <c:ptCount val="5"/>
                <c:pt idx="0">
                  <c:v>1.8</c:v>
                </c:pt>
                <c:pt idx="1">
                  <c:v>1.5</c:v>
                </c:pt>
                <c:pt idx="2">
                  <c:v>2.1</c:v>
                </c:pt>
                <c:pt idx="3">
                  <c:v>2.8</c:v>
                </c:pt>
                <c:pt idx="4">
                  <c:v>3.4</c:v>
                </c:pt>
              </c:numCache>
            </c:numRef>
          </c:val>
        </c:ser>
        <c:ser>
          <c:idx val="1"/>
          <c:order val="1"/>
          <c:tx>
            <c:strRef>
              <c:f>Sheet1!$C$1</c:f>
              <c:strCache>
                <c:ptCount val="1"/>
                <c:pt idx="0">
                  <c:v>Industrial</c:v>
                </c:pt>
              </c:strCache>
            </c:strRef>
          </c:tx>
          <c:spPr>
            <a:solidFill>
              <a:srgbClr val="4F81BD"/>
            </a:solidFill>
            <a:effectLst/>
          </c:spPr>
          <c:invertIfNegative val="0"/>
          <c:dLbls>
            <c:numFmt formatCode="#,##0" sourceLinked="0"/>
            <c:txPr>
              <a:bodyPr/>
              <a:lstStyle/>
              <a:p>
                <a:pPr>
                  <a:defRPr b="0" i="0" strike="noStrike" sz="1000" u="none">
                    <a:solidFill>
                      <a:srgbClr val="FFFFFF"/>
                    </a:solidFill>
                    <a:latin typeface="Segoe UI"/>
                  </a:defRPr>
                </a:pPr>
              </a:p>
            </c:txPr>
            <c:dLblPos val="ctr"/>
            <c:showLegendKey val="0"/>
            <c:showVal val="1"/>
            <c:showCatName val="0"/>
            <c:showSerName val="0"/>
            <c:showPercent val="0"/>
            <c:showBubbleSize val="0"/>
            <c:showLeaderLines val="0"/>
          </c:dLbls>
          <c:cat>
            <c:multiLvlStrRef>
              <c:f>Sheet1!$A$2:$A$6</c:f>
              <c:multiLvlStrCache>
                <c:ptCount val="5"/>
                <c:lvl>
                  <c:pt idx="0">
                    <c:v>2019</c:v>
                  </c:pt>
                  <c:pt idx="1">
                    <c:v>2020</c:v>
                  </c:pt>
                  <c:pt idx="2">
                    <c:v>2021</c:v>
                  </c:pt>
                  <c:pt idx="3">
                    <c:v>2022</c:v>
                  </c:pt>
                  <c:pt idx="4">
                    <c:v>2023</c:v>
                  </c:pt>
                </c:lvl>
              </c:multiLvlStrCache>
            </c:multiLvlStrRef>
          </c:cat>
          <c:val>
            <c:numRef>
              <c:f>Sheet1!$C$2:$C$6</c:f>
              <c:numCache>
                <c:formatCode>General</c:formatCode>
                <c:ptCount val="5"/>
                <c:pt idx="0">
                  <c:v>1.2</c:v>
                </c:pt>
                <c:pt idx="1">
                  <c:v>1</c:v>
                </c:pt>
                <c:pt idx="2">
                  <c:v>1.4</c:v>
                </c:pt>
                <c:pt idx="3">
                  <c:v>1.9</c:v>
                </c:pt>
                <c:pt idx="4">
                  <c:v>2.5</c:v>
                </c:pt>
              </c:numCache>
            </c:numRef>
          </c:val>
        </c:ser>
        <c:ser>
          <c:idx val="2"/>
          <c:order val="2"/>
          <c:tx>
            <c:strRef>
              <c:f>Sheet1!$D$1</c:f>
              <c:strCache>
                <c:ptCount val="1"/>
                <c:pt idx="0">
                  <c:v>Commercial</c:v>
                </c:pt>
              </c:strCache>
            </c:strRef>
          </c:tx>
          <c:spPr>
            <a:solidFill>
              <a:srgbClr val="9BBB59"/>
            </a:solidFill>
            <a:effectLst/>
          </c:spPr>
          <c:invertIfNegative val="0"/>
          <c:dLbls>
            <c:numFmt formatCode="#,##0" sourceLinked="0"/>
            <c:txPr>
              <a:bodyPr/>
              <a:lstStyle/>
              <a:p>
                <a:pPr>
                  <a:defRPr b="0" i="0" strike="noStrike" sz="1000" u="none">
                    <a:solidFill>
                      <a:srgbClr val="FFFFFF"/>
                    </a:solidFill>
                    <a:latin typeface="Segoe UI"/>
                  </a:defRPr>
                </a:pPr>
              </a:p>
            </c:txPr>
            <c:dLblPos val="ctr"/>
            <c:showLegendKey val="0"/>
            <c:showVal val="1"/>
            <c:showCatName val="0"/>
            <c:showSerName val="0"/>
            <c:showPercent val="0"/>
            <c:showBubbleSize val="0"/>
            <c:showLeaderLines val="0"/>
          </c:dLbls>
          <c:cat>
            <c:multiLvlStrRef>
              <c:f>Sheet1!$A$2:$A$6</c:f>
              <c:multiLvlStrCache>
                <c:ptCount val="5"/>
                <c:lvl>
                  <c:pt idx="0">
                    <c:v>2019</c:v>
                  </c:pt>
                  <c:pt idx="1">
                    <c:v>2020</c:v>
                  </c:pt>
                  <c:pt idx="2">
                    <c:v>2021</c:v>
                  </c:pt>
                  <c:pt idx="3">
                    <c:v>2022</c:v>
                  </c:pt>
                  <c:pt idx="4">
                    <c:v>2023</c:v>
                  </c:pt>
                </c:lvl>
              </c:multiLvlStrCache>
            </c:multiLvlStrRef>
          </c:cat>
          <c:val>
            <c:numRef>
              <c:f>Sheet1!$D$2:$D$6</c:f>
              <c:numCache>
                <c:formatCode>General</c:formatCode>
                <c:ptCount val="5"/>
                <c:pt idx="0">
                  <c:v>0.8</c:v>
                </c:pt>
                <c:pt idx="1">
                  <c:v>0.6</c:v>
                </c:pt>
                <c:pt idx="2">
                  <c:v>0.9</c:v>
                </c:pt>
                <c:pt idx="3">
                  <c:v>1.2</c:v>
                </c:pt>
                <c:pt idx="4">
                  <c:v>1.6</c:v>
                </c:pt>
              </c:numCache>
            </c:numRef>
          </c:val>
        </c:ser>
        <c:ser>
          <c:idx val="3"/>
          <c:order val="3"/>
          <c:tx>
            <c:strRef>
              <c:f>Sheet1!$E$1</c:f>
              <c:strCache>
                <c:ptCount val="1"/>
                <c:pt idx="0">
                  <c:v>Residential</c:v>
                </c:pt>
              </c:strCache>
            </c:strRef>
          </c:tx>
          <c:spPr>
            <a:solidFill>
              <a:srgbClr val="8064A2"/>
            </a:solidFill>
            <a:effectLst/>
          </c:spPr>
          <c:invertIfNegative val="0"/>
          <c:dLbls>
            <c:numFmt formatCode="#,##0" sourceLinked="0"/>
            <c:txPr>
              <a:bodyPr/>
              <a:lstStyle/>
              <a:p>
                <a:pPr>
                  <a:defRPr b="0" i="0" strike="noStrike" sz="1000" u="none">
                    <a:solidFill>
                      <a:srgbClr val="FFFFFF"/>
                    </a:solidFill>
                    <a:latin typeface="Segoe UI"/>
                  </a:defRPr>
                </a:pPr>
              </a:p>
            </c:txPr>
            <c:dLblPos val="ctr"/>
            <c:showLegendKey val="0"/>
            <c:showVal val="1"/>
            <c:showCatName val="0"/>
            <c:showSerName val="0"/>
            <c:showPercent val="0"/>
            <c:showBubbleSize val="0"/>
            <c:showLeaderLines val="0"/>
          </c:dLbls>
          <c:cat>
            <c:multiLvlStrRef>
              <c:f>Sheet1!$A$2:$A$6</c:f>
              <c:multiLvlStrCache>
                <c:ptCount val="5"/>
                <c:lvl>
                  <c:pt idx="0">
                    <c:v>2019</c:v>
                  </c:pt>
                  <c:pt idx="1">
                    <c:v>2020</c:v>
                  </c:pt>
                  <c:pt idx="2">
                    <c:v>2021</c:v>
                  </c:pt>
                  <c:pt idx="3">
                    <c:v>2022</c:v>
                  </c:pt>
                  <c:pt idx="4">
                    <c:v>2023</c:v>
                  </c:pt>
                </c:lvl>
              </c:multiLvlStrCache>
            </c:multiLvlStrRef>
          </c:cat>
          <c:val>
            <c:numRef>
              <c:f>Sheet1!$E$2:$E$6</c:f>
              <c:numCache>
                <c:formatCode>General</c:formatCode>
                <c:ptCount val="5"/>
                <c:pt idx="0">
                  <c:v>0.3</c:v>
                </c:pt>
                <c:pt idx="1">
                  <c:v>0.2</c:v>
                </c:pt>
                <c:pt idx="2">
                  <c:v>0.4</c:v>
                </c:pt>
                <c:pt idx="3">
                  <c:v>0.5</c:v>
                </c:pt>
                <c:pt idx="4">
                  <c:v>0.7</c:v>
                </c:pt>
              </c:numCache>
            </c:numRef>
          </c:val>
        </c:ser>
        <c:dLbls>
          <c:numFmt formatCode="#,##0" sourceLinked="0"/>
          <c:txPr>
            <a:bodyPr/>
            <a:lstStyle/>
            <a:p>
              <a:pPr>
                <a:defRPr b="0" i="0" strike="noStrike" sz="1000" u="none">
                  <a:solidFill>
                    <a:srgbClr val="FFFFFF"/>
                  </a:solidFill>
                  <a:latin typeface="Segoe U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6D7D9"/>
            </a:solidFill>
            <a:prstDash val="solid"/>
            <a:round/>
          </a:ln>
        </c:spPr>
        <c:txPr>
          <a:bodyPr/>
          <a:lstStyle/>
          <a:p>
            <a:pPr>
              <a:defRPr sz="1200" b="0" i="0" u="none" strike="noStrike">
                <a:solidFill>
                  <a:srgbClr val="000000"/>
                </a:solidFill>
                <a:latin typeface="Segoe U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D6D7D9"/>
            </a:solidFill>
            <a:prstDash val="solid"/>
            <a:round/>
          </a:ln>
        </c:spPr>
        <c:txPr>
          <a:bodyPr/>
          <a:lstStyle/>
          <a:p>
            <a:pPr>
              <a:defRPr sz="1200" b="0" i="0" u="none" strike="noStrike">
                <a:solidFill>
                  <a:srgbClr val="000000"/>
                </a:solidFill>
                <a:latin typeface="Segoe UI"/>
              </a:defRPr>
            </a:pPr>
            <a:endParaRPr lang="en-US"/>
          </a:p>
        </c:txPr>
        <c:crossAx val="2094734554"/>
        <c:crosses val="autoZero"/>
        <c:crossBetween val="between"/>
      </c:valAx>
      <c:spPr>
        <a:noFill/>
        <a:ln>
          <a:noFill/>
        </a:ln>
        <a:effectLst/>
      </c:spPr>
    </c:plotArea>
    <c:legend>
      <c:legendPos val="b"/>
      <c:overlay val="0"/>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DIVIDER_NAVY-image-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O_BA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YCP_MAI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933420"/>
            <a:ext cx="12191970" cy="0"/>
          </a:xfrm>
          <a:prstGeom prst="line">
            <a:avLst/>
          </a:prstGeom>
          <a:noFill/>
          <a:ln w="57150">
            <a:solidFill>
              <a:srgbClr val="293F55"/>
            </a:solidFill>
            <a:prstDash val="solid"/>
          </a:ln>
        </p:spPr>
      </p:sp>
      <p:sp>
        <p:nvSpPr>
          <p:cNvPr id="3" name="Shape 1"/>
          <p:cNvSpPr/>
          <p:nvPr/>
        </p:nvSpPr>
        <p:spPr>
          <a:xfrm>
            <a:off x="0" y="1003280"/>
            <a:ext cx="12191970" cy="0"/>
          </a:xfrm>
          <a:prstGeom prst="line">
            <a:avLst/>
          </a:prstGeom>
          <a:noFill/>
          <a:ln w="28575">
            <a:solidFill>
              <a:srgbClr val="293F55"/>
            </a:solidFill>
            <a:prstDash val="solid"/>
          </a:ln>
        </p:spPr>
      </p:sp>
      <p:sp>
        <p:nvSpPr>
          <p:cNvPr id="4" name="Shape 2"/>
          <p:cNvSpPr/>
          <p:nvPr/>
        </p:nvSpPr>
        <p:spPr>
          <a:xfrm>
            <a:off x="0" y="6616690"/>
            <a:ext cx="12191970" cy="0"/>
          </a:xfrm>
          <a:prstGeom prst="line">
            <a:avLst/>
          </a:prstGeom>
          <a:noFill/>
          <a:ln w="28575">
            <a:solidFill>
              <a:srgbClr val="293F55"/>
            </a:solidFill>
            <a:prstDash val="solid"/>
          </a:ln>
        </p:spPr>
      </p:sp>
      <p:sp>
        <p:nvSpPr>
          <p:cNvPr id="5" name="Text 3"/>
          <p:cNvSpPr/>
          <p:nvPr/>
        </p:nvSpPr>
        <p:spPr>
          <a:xfrm>
            <a:off x="3758184" y="6638544"/>
            <a:ext cx="4681728" cy="219456"/>
          </a:xfrm>
          <a:prstGeom prst="rect">
            <a:avLst/>
          </a:prstGeom>
          <a:noFill/>
          <a:ln/>
        </p:spPr>
        <p:txBody>
          <a:bodyPr wrap="square" rtlCol="0" anchor="ctr"/>
          <a:lstStyle/>
          <a:p>
            <a:pPr algn="ctr" indent="0" marL="0">
              <a:buNone/>
            </a:pPr>
            <a:r>
              <a:rPr lang="en-US" sz="800" dirty="0">
                <a:solidFill>
                  <a:srgbClr val="808080"/>
                </a:solidFill>
                <a:latin typeface="Segoe UI" pitchFamily="34" charset="0"/>
                <a:ea typeface="Segoe UI" pitchFamily="34" charset="-122"/>
                <a:cs typeface="Segoe UI" pitchFamily="34" charset="-120"/>
              </a:rPr>
              <a:t>(C) YCP 2026</a:t>
            </a:r>
            <a:endParaRPr lang="en-US" sz="800" dirty="0"/>
          </a:p>
        </p:txBody>
      </p:sp>
      <p:pic>
        <p:nvPicPr>
          <p:cNvPr id="6" name="Image 0" descr="preencoded.png">    </p:cNvPr>
          <p:cNvPicPr>
            <a:picLocks noChangeAspect="1"/>
          </p:cNvPicPr>
          <p:nvPr/>
        </p:nvPicPr>
        <p:blipFill>
          <a:blip r:embed="rId1"/>
          <a:stretch>
            <a:fillRect/>
          </a:stretch>
        </p:blipFill>
        <p:spPr>
          <a:xfrm>
            <a:off x="347472" y="6675120"/>
            <a:ext cx="429768" cy="155448"/>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YCP_MAST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IVIDER_NAV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78084" y="534650"/>
            <a:ext cx="2228118" cy="794796"/>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charts/chart5.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charts/chart6.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www.google.com/search?q=Daikin%20Industries%20Thailand+official+website" TargetMode="External"/><Relationship Id="rId2" Type="http://schemas.openxmlformats.org/officeDocument/2006/relationships/hyperlink" Target="https://www.google.com/search?q=Hitachi%20Energy%20Thailand+official+website" TargetMode="External"/><Relationship Id="rId3" Type="http://schemas.openxmlformats.org/officeDocument/2006/relationships/hyperlink" Target="https://www.google.com/search?q=Panasonic%20Energy%20Solutions+official+website" TargetMode="External"/><Relationship Id="rId4" Type="http://schemas.openxmlformats.org/officeDocument/2006/relationships/slideLayout" Target="../slideLayouts/slideLayout3.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www.google.com/search?q=Absolute%20Clean%20Energy%20(ACE)+official+website" TargetMode="External"/><Relationship Id="rId2" Type="http://schemas.openxmlformats.org/officeDocument/2006/relationships/hyperlink" Target="https://www.google.com/search?q=Energy%20Absolute%20PCL+official+website" TargetMode="External"/><Relationship Id="rId3" Type="http://schemas.openxmlformats.org/officeDocument/2006/relationships/hyperlink" Target="https://www.google.com/search?q=Gunkul%20Engineering+official+website" TargetMode="External"/><Relationship Id="rId4" Type="http://schemas.openxmlformats.org/officeDocument/2006/relationships/slideLayout" Target="../slideLayouts/slideLayout3.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www.google.com/search?q=Schneider%20Electric%20Thailand+official+website" TargetMode="External"/><Relationship Id="rId2" Type="http://schemas.openxmlformats.org/officeDocument/2006/relationships/hyperlink" Target="https://www.google.com/search?q=Siemens%20Energy%20Thailand+official+website" TargetMode="External"/><Relationship Id="rId3" Type="http://schemas.openxmlformats.org/officeDocument/2006/relationships/hyperlink" Target="https://www.google.com/search?q=Samsung%20C%26T%20Energy%20Division+official+website" TargetMode="External"/><Relationship Id="rId4" Type="http://schemas.openxmlformats.org/officeDocument/2006/relationships/slideLayout" Target="../slideLayouts/slideLayout3.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www.google.com/search?q=Thai%20Energy%20Conservation+official+website" TargetMode="External"/><Relationship Id="rId2" Type="http://schemas.openxmlformats.org/officeDocument/2006/relationships/hyperlink" Target="https://www.google.com/search?q=Green%20Building%20Solutions+official+website" TargetMode="External"/><Relationship Id="rId3" Type="http://schemas.openxmlformats.org/officeDocument/2006/relationships/hyperlink" Target="https://www.google.com/search?q=EcoTech%20Industries+official+website" TargetMode="External"/><Relationship Id="rId4" Type="http://schemas.openxmlformats.org/officeDocument/2006/relationships/slideLayout" Target="../slideLayouts/slideLayout3.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www.google.com/search?q=Bangchak%20Green%20Energy+official+website" TargetMode="External"/><Relationship Id="rId2" Type="http://schemas.openxmlformats.org/officeDocument/2006/relationships/hyperlink" Target="https://www.google.com/search?q=WHA%20Utilities%20%26%20Power+official+website" TargetMode="External"/><Relationship Id="rId3" Type="http://schemas.openxmlformats.org/officeDocument/2006/relationships/hyperlink" Target="https://www.google.com/search?q=Thai%20Carbon%20Solutions+official+website" TargetMode="External"/><Relationship Id="rId4" Type="http://schemas.openxmlformats.org/officeDocument/2006/relationships/slideLayout" Target="../slideLayouts/slideLayout3.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hyperlink" Target="https://www.google.com/search?q=Toyota%20Motor%20Thailand+official+website" TargetMode="External"/><Relationship Id="rId2" Type="http://schemas.openxmlformats.org/officeDocument/2006/relationships/hyperlink" Target="https://www.google.com/search?q=SCG%20Chemicals+official+website" TargetMode="External"/><Relationship Id="rId3" Type="http://schemas.openxmlformats.org/officeDocument/2006/relationships/hyperlink" Target="https://www.google.com/search?q=Central%20Group+official+website" TargetMode="External"/><Relationship Id="rId4" Type="http://schemas.openxmlformats.org/officeDocument/2006/relationships/slideLayout" Target="../slideLayouts/slideLayout3.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16509" y="1493490"/>
            <a:ext cx="8553389" cy="2592233"/>
          </a:xfrm>
          <a:prstGeom prst="rect">
            <a:avLst/>
          </a:prstGeom>
          <a:noFill/>
          <a:ln/>
        </p:spPr>
        <p:txBody>
          <a:bodyPr wrap="square" rtlCol="0" anchor="ctr">
            <a:normAutofit/>
          </a:bodyPr>
          <a:lstStyle/>
          <a:p>
            <a:pPr indent="0" marL="0">
              <a:buNone/>
            </a:pPr>
            <a:r>
              <a:rPr lang="en-US" sz="3600" dirty="0">
                <a:solidFill>
                  <a:srgbClr val="1F497D"/>
                </a:solidFill>
                <a:latin typeface="Segoe UI" pitchFamily="34" charset="0"/>
                <a:ea typeface="Segoe UI" pitchFamily="34" charset="-122"/>
                <a:cs typeface="Segoe UI" pitchFamily="34" charset="-120"/>
              </a:rPr>
              <a:t>THAILAND</a:t>
            </a:r>
            <a:endParaRPr lang="en-US" sz="3600" dirty="0"/>
          </a:p>
        </p:txBody>
      </p:sp>
      <p:sp>
        <p:nvSpPr>
          <p:cNvPr id="3" name="Text 1"/>
          <p:cNvSpPr/>
          <p:nvPr/>
        </p:nvSpPr>
        <p:spPr>
          <a:xfrm>
            <a:off x="416509" y="4445813"/>
            <a:ext cx="8553389" cy="1507937"/>
          </a:xfrm>
          <a:prstGeom prst="rect">
            <a:avLst/>
          </a:prstGeom>
          <a:noFill/>
          <a:ln/>
        </p:spPr>
        <p:txBody>
          <a:bodyPr wrap="square" rtlCol="0" anchor="ctr">
            <a:normAutofit/>
          </a:bodyPr>
          <a:lstStyle/>
          <a:p>
            <a:pPr indent="0" marL="0">
              <a:buNone/>
            </a:pPr>
            <a:r>
              <a:rPr lang="en-US" sz="1800" dirty="0">
                <a:solidFill>
                  <a:srgbClr val="007FFF"/>
                </a:solidFill>
                <a:latin typeface="Segoe UI" pitchFamily="34" charset="0"/>
                <a:ea typeface="Segoe UI" pitchFamily="34" charset="-122"/>
                <a:cs typeface="Segoe UI" pitchFamily="34" charset="-120"/>
              </a:rPr>
              <a:t>Energy Services - Market Overview &amp; Analysis</a:t>
            </a:r>
            <a:endParaRPr lang="en-US" sz="1800" dirty="0"/>
          </a:p>
        </p:txBody>
      </p:sp>
      <p:pic>
        <p:nvPicPr>
          <p:cNvPr id="4" name="Image 0" descr="preencoded.png">    </p:cNvPr>
          <p:cNvPicPr>
            <a:picLocks noChangeAspect="1"/>
          </p:cNvPicPr>
          <p:nvPr/>
        </p:nvPicPr>
        <p:blipFill>
          <a:blip r:embed="rId2"/>
          <a:stretch>
            <a:fillRect/>
          </a:stretch>
        </p:blipFill>
        <p:spPr>
          <a:xfrm>
            <a:off x="408462" y="295168"/>
            <a:ext cx="1041410" cy="368229"/>
          </a:xfrm>
          <a:prstGeom prst="rect">
            <a:avLst/>
          </a:prstGeom>
        </p:spPr>
      </p:pic>
      <p:sp>
        <p:nvSpPr>
          <p:cNvPr id="5" name="Text 2"/>
          <p:cNvSpPr/>
          <p:nvPr/>
        </p:nvSpPr>
        <p:spPr>
          <a:xfrm>
            <a:off x="420624" y="5431536"/>
            <a:ext cx="8229600" cy="274320"/>
          </a:xfrm>
          <a:prstGeom prst="rect">
            <a:avLst/>
          </a:prstGeom>
          <a:noFill/>
          <a:ln/>
        </p:spPr>
        <p:txBody>
          <a:bodyPr wrap="square" rtlCol="0" anchor="ctr"/>
          <a:lstStyle/>
          <a:p>
            <a:pPr indent="0" marL="0">
              <a:buNone/>
            </a:pPr>
            <a:r>
              <a:rPr lang="en-US" sz="1000" dirty="0">
                <a:solidFill>
                  <a:srgbClr val="666666"/>
                </a:solidFill>
                <a:latin typeface="Segoe UI" pitchFamily="34" charset="0"/>
                <a:ea typeface="Segoe UI" pitchFamily="34" charset="-122"/>
                <a:cs typeface="Segoe UI" pitchFamily="34" charset="-120"/>
              </a:rPr>
              <a:t>February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343632" y="44623"/>
            <a:ext cx="11508821" cy="831830"/>
          </a:xfrm>
          <a:prstGeom prst="rect">
            <a:avLst/>
          </a:prstGeom>
          <a:noFill/>
          <a:ln/>
        </p:spPr>
        <p:txBody>
          <a:bodyPr wrap="square" rtlCol="0" anchor="ctr"/>
          <a:lstStyle/>
          <a:p>
            <a:pPr indent="0" marL="0">
              <a:buNone/>
            </a:pPr>
            <a:r>
              <a:rPr lang="en-US" sz="1800" dirty="0">
                <a:solidFill>
                  <a:srgbClr val="1F497D"/>
                </a:solidFill>
                <a:latin typeface="Segoe UI" pitchFamily="34" charset="0"/>
                <a:ea typeface="Segoe UI" pitchFamily="34" charset="-122"/>
                <a:cs typeface="Segoe UI" pitchFamily="34" charset="-120"/>
              </a:rPr>
              <a:t>Table of Contents</a:t>
            </a:r>
            <a:endParaRPr lang="en-US" sz="1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43632" y="1371600"/>
          <a:ext cx="11508821" cy="914400"/>
        </p:xfrm>
        <a:graphic>
          <a:graphicData uri="http://schemas.openxmlformats.org/drawingml/2006/table">
            <a:tbl>
              <a:tblPr/>
              <a:tblGrid>
                <a:gridCol w="11508821"/>
              </a:tblGrid>
              <a:tr h="539496">
                <a:tc>
                  <a:txBody>
                    <a:bodyPr/>
                    <a:lstStyle/>
                    <a:p>
                      <a:pPr indent="0" marL="0">
                        <a:buNone/>
                      </a:pPr>
                      <a:r>
                        <a:rPr lang="en-US" sz="1800" dirty="0">
                          <a:solidFill>
                            <a:srgbClr val="000000"/>
                          </a:solidFill>
                          <a:latin typeface="Segoe UI" pitchFamily="34" charset="0"/>
                          <a:ea typeface="Segoe UI" pitchFamily="34" charset="-122"/>
                          <a:cs typeface="Segoe UI" pitchFamily="34" charset="-120"/>
                        </a:rPr>
                        <a:t>Policy &amp; Regulatory</a:t>
                      </a:r>
                      <a:endParaRPr lang="en-US" sz="1800" dirty="0">
                        <a:latin typeface="Segoe UI" charset="0"/>
                        <a:ea typeface="Segoe UI" charset="0"/>
                        <a:cs typeface="Segoe UI" charset="0"/>
                      </a:endParaRPr>
                    </a:p>
                  </a:txBody>
                  <a:tcPr marL="481066" marR="36576" marT="0" marB="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539496">
                <a:tc>
                  <a:txBody>
                    <a:bodyPr/>
                    <a:lstStyle/>
                    <a:p>
                      <a:pPr indent="0" marL="0">
                        <a:buNone/>
                      </a:pPr>
                      <a:r>
                        <a:rPr lang="en-US" sz="1800" dirty="0">
                          <a:solidFill>
                            <a:srgbClr val="000000"/>
                          </a:solidFill>
                          <a:latin typeface="Segoe UI" pitchFamily="34" charset="0"/>
                          <a:ea typeface="Segoe UI" pitchFamily="34" charset="-122"/>
                          <a:cs typeface="Segoe UI" pitchFamily="34" charset="-120"/>
                        </a:rPr>
                        <a:t>Market Overview</a:t>
                      </a:r>
                      <a:endParaRPr lang="en-US" sz="1800" dirty="0">
                        <a:latin typeface="Segoe UI" charset="0"/>
                        <a:ea typeface="Segoe UI" charset="0"/>
                        <a:cs typeface="Segoe UI" charset="0"/>
                      </a:endParaRPr>
                    </a:p>
                  </a:txBody>
                  <a:tcPr marL="481066" marR="36576" marT="0" marB="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539496">
                <a:tc>
                  <a:txBody>
                    <a:bodyPr/>
                    <a:lstStyle/>
                    <a:p>
                      <a:pPr indent="0" marL="0">
                        <a:buNone/>
                      </a:pPr>
                      <a:r>
                        <a:rPr lang="en-US" sz="1800" dirty="0">
                          <a:solidFill>
                            <a:srgbClr val="000000"/>
                          </a:solidFill>
                          <a:latin typeface="Segoe UI" pitchFamily="34" charset="0"/>
                          <a:ea typeface="Segoe UI" pitchFamily="34" charset="-122"/>
                          <a:cs typeface="Segoe UI" pitchFamily="34" charset="-120"/>
                        </a:rPr>
                        <a:t>Competitive Landscape</a:t>
                      </a:r>
                      <a:endParaRPr lang="en-US" sz="1800" dirty="0">
                        <a:latin typeface="Segoe UI" charset="0"/>
                        <a:ea typeface="Segoe UI" charset="0"/>
                        <a:cs typeface="Segoe UI" charset="0"/>
                      </a:endParaRPr>
                    </a:p>
                  </a:txBody>
                  <a:tcPr marL="481066" marR="36576" marT="0" marB="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539496">
                <a:tc>
                  <a:txBody>
                    <a:bodyPr/>
                    <a:lstStyle/>
                    <a:p>
                      <a:pPr indent="0" marL="0">
                        <a:buNone/>
                      </a:pPr>
                      <a:r>
                        <a:rPr lang="en-US" sz="1800" dirty="0">
                          <a:solidFill>
                            <a:srgbClr val="000000"/>
                          </a:solidFill>
                          <a:latin typeface="Segoe UI" pitchFamily="34" charset="0"/>
                          <a:ea typeface="Segoe UI" pitchFamily="34" charset="-122"/>
                          <a:cs typeface="Segoe UI" pitchFamily="34" charset="-120"/>
                        </a:rPr>
                        <a:t>Strategic Analysis</a:t>
                      </a:r>
                      <a:endParaRPr lang="en-US" sz="1800" dirty="0">
                        <a:latin typeface="Segoe UI" charset="0"/>
                        <a:ea typeface="Segoe UI" charset="0"/>
                        <a:cs typeface="Segoe UI" charset="0"/>
                      </a:endParaRPr>
                    </a:p>
                  </a:txBody>
                  <a:tcPr marL="481066" marR="36576" marT="0" marB="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539496">
                <a:tc>
                  <a:txBody>
                    <a:bodyPr/>
                    <a:lstStyle/>
                    <a:p>
                      <a:pPr indent="0" marL="0">
                        <a:buNone/>
                      </a:pPr>
                      <a:r>
                        <a:rPr lang="en-US" sz="1800" dirty="0">
                          <a:solidFill>
                            <a:srgbClr val="000000"/>
                          </a:solidFill>
                          <a:latin typeface="Segoe UI" pitchFamily="34" charset="0"/>
                          <a:ea typeface="Segoe UI" pitchFamily="34" charset="-122"/>
                          <a:cs typeface="Segoe UI" pitchFamily="34" charset="-120"/>
                        </a:rPr>
                        <a:t>Recommendations</a:t>
                      </a:r>
                      <a:endParaRPr lang="en-US" sz="1800" dirty="0">
                        <a:latin typeface="Segoe UI" charset="0"/>
                        <a:ea typeface="Segoe UI" charset="0"/>
                        <a:cs typeface="Segoe UI" charset="0"/>
                      </a:endParaRPr>
                    </a:p>
                  </a:txBody>
                  <a:tcPr marL="481066" marR="36576" marT="0" marB="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539496">
                <a:tc>
                  <a:txBody>
                    <a:bodyPr/>
                    <a:lstStyle/>
                    <a:p>
                      <a:pPr indent="0" marL="0">
                        <a:buNone/>
                      </a:pPr>
                      <a:r>
                        <a:rPr lang="en-US" sz="1800" dirty="0">
                          <a:solidFill>
                            <a:srgbClr val="000000"/>
                          </a:solidFill>
                          <a:latin typeface="Segoe UI" pitchFamily="34" charset="0"/>
                          <a:ea typeface="Segoe UI" pitchFamily="34" charset="-122"/>
                          <a:cs typeface="Segoe UI" pitchFamily="34" charset="-120"/>
                        </a:rPr>
                        <a:t>Appendix</a:t>
                      </a:r>
                      <a:endParaRPr lang="en-US" sz="1800" dirty="0">
                        <a:latin typeface="Segoe UI" charset="0"/>
                        <a:ea typeface="Segoe UI" charset="0"/>
                        <a:cs typeface="Segoe UI" charset="0"/>
                      </a:endParaRPr>
                    </a:p>
                  </a:txBody>
                  <a:tcPr marL="481066" marR="36576" marT="0" marB="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343632" y="44623"/>
            <a:ext cx="11508821" cy="831830"/>
          </a:xfrm>
          <a:prstGeom prst="rect">
            <a:avLst/>
          </a:prstGeom>
          <a:noFill/>
          <a:ln/>
        </p:spPr>
        <p:txBody>
          <a:bodyPr wrap="square" rtlCol="0" anchor="ctr"/>
          <a:lstStyle/>
          <a:p>
            <a:pPr indent="0" marL="0">
              <a:buNone/>
            </a:pPr>
            <a:r>
              <a:rPr lang="en-US" sz="2000" dirty="0">
                <a:solidFill>
                  <a:srgbClr val="1F497D"/>
                </a:solidFill>
                <a:latin typeface="Segoe UI" pitchFamily="34" charset="0"/>
                <a:ea typeface="Segoe UI" pitchFamily="34" charset="-122"/>
                <a:cs typeface="Segoe UI" pitchFamily="34" charset="-120"/>
              </a:rPr>
              <a:t>Executive Summary</a:t>
            </a:r>
            <a:endParaRPr lang="en-US" sz="2000" dirty="0"/>
          </a:p>
        </p:txBody>
      </p:sp>
      <p:sp>
        <p:nvSpPr>
          <p:cNvPr id="3" name="Text 1"/>
          <p:cNvSpPr/>
          <p:nvPr/>
        </p:nvSpPr>
        <p:spPr>
          <a:xfrm>
            <a:off x="343632" y="1371600"/>
            <a:ext cx="11508821" cy="4572000"/>
          </a:xfrm>
          <a:prstGeom prst="rect">
            <a:avLst/>
          </a:prstGeom>
          <a:noFill/>
          <a:ln/>
        </p:spPr>
        <p:txBody>
          <a:bodyPr wrap="square" rtlCol="0" anchor="t">
            <a:normAutofit/>
          </a:bodyPr>
          <a:lstStyle/>
          <a:p>
            <a:pPr indent="0" marL="0">
              <a:lnSpc>
                <a:spcPct val="130000"/>
              </a:lnSpc>
              <a:buNone/>
            </a:pPr>
            <a:r>
              <a:rPr lang="en-US" sz="1400" dirty="0">
                <a:solidFill>
                  <a:srgbClr val="000000"/>
                </a:solidFill>
                <a:latin typeface="Segoe UI" pitchFamily="34" charset="0"/>
                <a:ea typeface="Segoe UI" pitchFamily="34" charset="-122"/>
                <a:cs typeface="Segoe UI" pitchFamily="34" charset="-120"/>
              </a:rPr>
              <a:t>Thailand presents a compelling market entry opportunity for Energy Services, driven by rising industrial energy costs, government mandates for building retrofits, and a critical 18-month window created by carbon tax legislation and Japanese FDI surge. The ESCO market is valued at THB 8.5B (2023) growing 15% annually, with projected THB 12B+ by 2027. A Joint Venture with Absolute Clean Energy (ACE) is recommended as the optimal entry strategy, balancing speed-to-market with risk management. Key success factors include securing DEDE ESCO registration, obtaining BOI promotion for tax incentives, and establishing pilot projects with Japanese manufacturers in the Eastern Seaboard industrial estates. Total Phase 1 investment of USD 5-8M with expected breakeven at 30-36 months and IRR of 18-22%. The regulatory environment is favorable with established BOI framework, though bureaucratic delays and political transitions warrant monitoring.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343632" y="44623"/>
            <a:ext cx="11508821" cy="831830"/>
          </a:xfrm>
          <a:prstGeom prst="rect">
            <a:avLst/>
          </a:prstGeom>
          <a:noFill/>
          <a:ln/>
        </p:spPr>
        <p:txBody>
          <a:bodyPr wrap="square" rtlCol="0" anchor="ctr"/>
          <a:lstStyle/>
          <a:p>
            <a:pPr indent="0" marL="0">
              <a:buNone/>
            </a:pPr>
            <a:r>
              <a:rPr lang="en-US" sz="2000" dirty="0">
                <a:solidFill>
                  <a:srgbClr val="1F497D"/>
                </a:solidFill>
                <a:latin typeface="Segoe UI" pitchFamily="34" charset="0"/>
                <a:ea typeface="Segoe UI" pitchFamily="34" charset="-122"/>
                <a:cs typeface="Segoe UI" pitchFamily="34" charset="-120"/>
              </a:rPr>
              <a:t>Opportunities &amp; Barriers</a:t>
            </a:r>
            <a:endParaRPr lang="en-US" sz="2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43632" y="1371600"/>
          <a:ext cx="5525811" cy="914400"/>
        </p:xfrm>
        <a:graphic>
          <a:graphicData uri="http://schemas.openxmlformats.org/drawingml/2006/table">
            <a:tbl>
              <a:tblPr/>
              <a:tblGrid>
                <a:gridCol w="5525811"/>
              </a:tblGrid>
              <a:tr h="731520">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Opportunities</a:t>
                      </a:r>
                      <a:endParaRPr lang="en-US" sz="1400" dirty="0">
                        <a:latin typeface="Segoe UI" charset="0"/>
                        <a:ea typeface="Segoe UI" charset="0"/>
                        <a:cs typeface="Segoe UI" charset="0"/>
                      </a:endParaRPr>
                    </a:p>
                  </a:txBody>
                  <a:tcPr marL="91440" marR="91440" marT="45720" marB="45720" anchor="ctr">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solidFill>
                      <a:srgbClr val="2E7D32"/>
                    </a:solidFill>
                  </a:tcPr>
                </a:tc>
              </a:tr>
              <a:tr h="731520">
                <a:tc>
                  <a:txBody>
                    <a:bodyPr/>
                    <a:lstStyle/>
                    <a:p>
                      <a:pPr indent="0" marL="0">
                        <a:buNone/>
                      </a:pPr>
                      <a:r>
                        <a:rPr lang="en-US" sz="1200" dirty="0">
                          <a:solidFill>
                            <a:srgbClr val="000000"/>
                          </a:solidFill>
                          <a:latin typeface="Segoe UI" pitchFamily="34" charset="0"/>
                          <a:ea typeface="Segoe UI" pitchFamily="34" charset="-122"/>
                          <a:cs typeface="Segoe UI" pitchFamily="34" charset="-120"/>
                        </a:rPr>
                        <a:t>Rising industrial energy costs creating urgent demand for efficiency solutions</a:t>
                      </a:r>
                      <a:endParaRPr lang="en-US" sz="1200" dirty="0">
                        <a:latin typeface="Segoe UI" charset="0"/>
                        <a:ea typeface="Segoe UI" charset="0"/>
                        <a:cs typeface="Segoe UI" charset="0"/>
                      </a:endParaRPr>
                    </a:p>
                  </a:txBody>
                  <a:tcPr marL="91440" marR="91440" marT="45720" marB="45720" anchor="ctr">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731520">
                <a:tc>
                  <a:txBody>
                    <a:bodyPr/>
                    <a:lstStyle/>
                    <a:p>
                      <a:pPr indent="0" marL="0">
                        <a:buNone/>
                      </a:pPr>
                      <a:r>
                        <a:rPr lang="en-US" sz="1200" dirty="0">
                          <a:solidFill>
                            <a:srgbClr val="000000"/>
                          </a:solidFill>
                          <a:latin typeface="Segoe UI" pitchFamily="34" charset="0"/>
                          <a:ea typeface="Segoe UI" pitchFamily="34" charset="-122"/>
                          <a:cs typeface="Segoe UI" pitchFamily="34" charset="-120"/>
                        </a:rPr>
                        <a:t>Government building retrofit mandate covering 5,000+ facilities</a:t>
                      </a:r>
                      <a:endParaRPr lang="en-US" sz="1200" dirty="0">
                        <a:latin typeface="Segoe UI" charset="0"/>
                        <a:ea typeface="Segoe UI" charset="0"/>
                        <a:cs typeface="Segoe UI" charset="0"/>
                      </a:endParaRPr>
                    </a:p>
                  </a:txBody>
                  <a:tcPr marL="91440" marR="91440" marT="45720" marB="45720" anchor="ctr">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731520">
                <a:tc>
                  <a:txBody>
                    <a:bodyPr/>
                    <a:lstStyle/>
                    <a:p>
                      <a:pPr indent="0" marL="0">
                        <a:buNone/>
                      </a:pPr>
                      <a:r>
                        <a:rPr lang="en-US" sz="1200" dirty="0">
                          <a:solidFill>
                            <a:srgbClr val="000000"/>
                          </a:solidFill>
                          <a:latin typeface="Segoe UI" pitchFamily="34" charset="0"/>
                          <a:ea typeface="Segoe UI" pitchFamily="34" charset="-122"/>
                          <a:cs typeface="Segoe UI" pitchFamily="34" charset="-120"/>
                        </a:rPr>
                        <a:t>Carbon tax legislation expected by 2027 will accelerate private sector ESCO adoption</a:t>
                      </a:r>
                      <a:endParaRPr lang="en-US" sz="1200" dirty="0">
                        <a:latin typeface="Segoe UI" charset="0"/>
                        <a:ea typeface="Segoe UI" charset="0"/>
                        <a:cs typeface="Segoe UI" charset="0"/>
                      </a:endParaRPr>
                    </a:p>
                  </a:txBody>
                  <a:tcPr marL="91440" marR="91440" marT="45720" marB="45720" anchor="ctr">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731520">
                <a:tc>
                  <a:txBody>
                    <a:bodyPr/>
                    <a:lstStyle/>
                    <a:p>
                      <a:pPr indent="0" marL="0">
                        <a:buNone/>
                      </a:pPr>
                      <a:r>
                        <a:rPr lang="en-US" sz="1200" dirty="0">
                          <a:solidFill>
                            <a:srgbClr val="000000"/>
                          </a:solidFill>
                          <a:latin typeface="Segoe UI" pitchFamily="34" charset="0"/>
                          <a:ea typeface="Segoe UI" pitchFamily="34" charset="-122"/>
                          <a:cs typeface="Segoe UI" pitchFamily="34" charset="-120"/>
                        </a:rPr>
                        <a:t>Data center boom driving 45% growth in cooling efficiency services</a:t>
                      </a:r>
                      <a:endParaRPr lang="en-US" sz="1200" dirty="0">
                        <a:latin typeface="Segoe UI" charset="0"/>
                        <a:ea typeface="Segoe UI" charset="0"/>
                        <a:cs typeface="Segoe UI" charset="0"/>
                      </a:endParaRPr>
                    </a:p>
                  </a:txBody>
                  <a:tcPr marL="91440" marR="91440" marT="45720" marB="45720" anchor="ctr">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bl>
          </a:graphicData>
        </a:graphic>
      </p:graphicFrame>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326642" y="1371600"/>
          <a:ext cx="5525811" cy="914400"/>
        </p:xfrm>
        <a:graphic>
          <a:graphicData uri="http://schemas.openxmlformats.org/drawingml/2006/table">
            <a:tbl>
              <a:tblPr/>
              <a:tblGrid>
                <a:gridCol w="5525811"/>
              </a:tblGrid>
              <a:tr h="731520">
                <a:tc>
                  <a:txBody>
                    <a:bodyPr/>
                    <a:lstStyle/>
                    <a:p>
                      <a:pPr indent="0" marL="0">
                        <a:buNone/>
                      </a:pPr>
                      <a:r>
                        <a:rPr lang="en-US" sz="1400" b="1" dirty="0">
                          <a:solidFill>
                            <a:srgbClr val="FFFFFF"/>
                          </a:solidFill>
                          <a:latin typeface="Segoe UI" pitchFamily="34" charset="0"/>
                          <a:ea typeface="Segoe UI" pitchFamily="34" charset="-122"/>
                          <a:cs typeface="Segoe UI" pitchFamily="34" charset="-120"/>
                        </a:rPr>
                        <a:t>Barriers</a:t>
                      </a:r>
                      <a:endParaRPr lang="en-US" sz="1400" dirty="0">
                        <a:latin typeface="Segoe UI" charset="0"/>
                        <a:ea typeface="Segoe UI" charset="0"/>
                        <a:cs typeface="Segoe UI" charset="0"/>
                      </a:endParaRPr>
                    </a:p>
                  </a:txBody>
                  <a:tcPr marL="91440" marR="91440" marT="45720" marB="45720" anchor="ctr">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solidFill>
                      <a:srgbClr val="E46C0A"/>
                    </a:solidFill>
                  </a:tcPr>
                </a:tc>
              </a:tr>
              <a:tr h="731520">
                <a:tc>
                  <a:txBody>
                    <a:bodyPr/>
                    <a:lstStyle/>
                    <a:p>
                      <a:pPr indent="0" marL="0">
                        <a:buNone/>
                      </a:pPr>
                      <a:r>
                        <a:rPr lang="en-US" sz="1200" dirty="0">
                          <a:solidFill>
                            <a:srgbClr val="000000"/>
                          </a:solidFill>
                          <a:latin typeface="Segoe UI" pitchFamily="34" charset="0"/>
                          <a:ea typeface="Segoe UI" pitchFamily="34" charset="-122"/>
                          <a:cs typeface="Segoe UI" pitchFamily="34" charset="-120"/>
                        </a:rPr>
                        <a:t>Thai ESCO market fragmented with 45+ competitors and intense price competition</a:t>
                      </a:r>
                      <a:endParaRPr lang="en-US" sz="1200" dirty="0">
                        <a:latin typeface="Segoe UI" charset="0"/>
                        <a:ea typeface="Segoe UI" charset="0"/>
                        <a:cs typeface="Segoe UI" charset="0"/>
                      </a:endParaRPr>
                    </a:p>
                  </a:txBody>
                  <a:tcPr marL="91440" marR="91440" marT="45720" marB="45720" anchor="ctr">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731520">
                <a:tc>
                  <a:txBody>
                    <a:bodyPr/>
                    <a:lstStyle/>
                    <a:p>
                      <a:pPr indent="0" marL="0">
                        <a:buNone/>
                      </a:pPr>
                      <a:r>
                        <a:rPr lang="en-US" sz="1200" dirty="0">
                          <a:solidFill>
                            <a:srgbClr val="000000"/>
                          </a:solidFill>
                          <a:latin typeface="Segoe UI" pitchFamily="34" charset="0"/>
                          <a:ea typeface="Segoe UI" pitchFamily="34" charset="-122"/>
                          <a:cs typeface="Segoe UI" pitchFamily="34" charset="-120"/>
                        </a:rPr>
                        <a:t>Complex BOI and licensing requirements add 6-9 months to market entry timeline</a:t>
                      </a:r>
                      <a:endParaRPr lang="en-US" sz="1200" dirty="0">
                        <a:latin typeface="Segoe UI" charset="0"/>
                        <a:ea typeface="Segoe UI" charset="0"/>
                        <a:cs typeface="Segoe UI" charset="0"/>
                      </a:endParaRPr>
                    </a:p>
                  </a:txBody>
                  <a:tcPr marL="91440" marR="91440" marT="45720" marB="45720" anchor="ctr">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731520">
                <a:tc>
                  <a:txBody>
                    <a:bodyPr/>
                    <a:lstStyle/>
                    <a:p>
                      <a:pPr indent="0" marL="0">
                        <a:buNone/>
                      </a:pPr>
                      <a:r>
                        <a:rPr lang="en-US" sz="1200" dirty="0">
                          <a:solidFill>
                            <a:srgbClr val="000000"/>
                          </a:solidFill>
                          <a:latin typeface="Segoe UI" pitchFamily="34" charset="0"/>
                          <a:ea typeface="Segoe UI" pitchFamily="34" charset="-122"/>
                          <a:cs typeface="Segoe UI" pitchFamily="34" charset="-120"/>
                        </a:rPr>
                        <a:t>Local companies have deep government relationships difficult for foreign entrants to replicate</a:t>
                      </a:r>
                      <a:endParaRPr lang="en-US" sz="1200" dirty="0">
                        <a:latin typeface="Segoe UI" charset="0"/>
                        <a:ea typeface="Segoe UI" charset="0"/>
                        <a:cs typeface="Segoe UI" charset="0"/>
                      </a:endParaRPr>
                    </a:p>
                  </a:txBody>
                  <a:tcPr marL="91440" marR="91440" marT="45720" marB="45720" anchor="ctr">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77662" y="2730673"/>
            <a:ext cx="7491313" cy="1384127"/>
          </a:xfrm>
          <a:prstGeom prst="rect">
            <a:avLst/>
          </a:prstGeom>
          <a:noFill/>
          <a:ln/>
        </p:spPr>
        <p:txBody>
          <a:bodyPr wrap="square" rtlCol="0" anchor="ctr"/>
          <a:lstStyle/>
          <a:p>
            <a:pPr algn="ctr" indent="0" marL="0">
              <a:buNone/>
            </a:pPr>
            <a:r>
              <a:rPr lang="en-US" sz="4400" b="1" dirty="0">
                <a:solidFill>
                  <a:srgbClr val="FFFFFF"/>
                </a:solidFill>
                <a:latin typeface="Segoe UI" pitchFamily="34" charset="0"/>
                <a:ea typeface="Segoe UI" pitchFamily="34" charset="-122"/>
                <a:cs typeface="Segoe UI" pitchFamily="34" charset="-120"/>
              </a:rPr>
              <a:t>Policy &amp; Regulatory</a:t>
            </a:r>
            <a:endParaRPr lang="en-US" sz="4400" dirty="0"/>
          </a:p>
        </p:txBody>
      </p:sp>
      <p:sp>
        <p:nvSpPr>
          <p:cNvPr id="3" name="Shape 1"/>
          <p:cNvSpPr/>
          <p:nvPr/>
        </p:nvSpPr>
        <p:spPr>
          <a:xfrm>
            <a:off x="455646" y="4297680"/>
            <a:ext cx="4113246" cy="0"/>
          </a:xfrm>
          <a:prstGeom prst="line">
            <a:avLst/>
          </a:prstGeom>
          <a:noFill/>
          <a:ln w="22225">
            <a:solidFill>
              <a:srgbClr val="FFFFFF"/>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341620" y="262890"/>
            <a:ext cx="11508821" cy="860450"/>
          </a:xfrm>
          <a:prstGeom prst="rect">
            <a:avLst/>
          </a:prstGeom>
          <a:noFill/>
          <a:ln/>
        </p:spPr>
        <p:txBody>
          <a:bodyPr wrap="square" rtlCol="0" anchor="t">
            <a:normAutofit/>
          </a:bodyPr>
          <a:lstStyle/>
          <a:p>
            <a:pPr indent="0" marL="0">
              <a:buNone/>
            </a:pPr>
            <a:r>
              <a:rPr lang="en-US" sz="2000" dirty="0">
                <a:solidFill>
                  <a:srgbClr val="1F497D"/>
                </a:solidFill>
                <a:latin typeface="Segoe UI" pitchFamily="34" charset="0"/>
                <a:ea typeface="Segoe UI" pitchFamily="34" charset="-122"/>
                <a:cs typeface="Segoe UI" pitchFamily="34" charset="-120"/>
              </a:rPr>
              <a:t>Thailand - Energy Services Foundational Acts</a:t>
            </a:r>
            <a:pPr indent="0" marL="0">
              <a:spcBef>
                <a:spcPts val="200"/>
              </a:spcBef>
              <a:buNone/>
            </a:pPr>
            <a:r>
              <a:rPr lang="en-US" sz="1600" dirty="0">
                <a:solidFill>
                  <a:srgbClr val="1F497D"/>
                </a:solidFill>
                <a:latin typeface="Segoe UI" pitchFamily="34" charset="0"/>
                <a:ea typeface="Segoe UI" pitchFamily="34" charset="-122"/>
                <a:cs typeface="Segoe UI" pitchFamily="34" charset="-120"/>
              </a:rPr>
              <a:t>Thailand regulatory framework increasingly favors energy efficiency investments with clear enforcement mechanisms</a:t>
            </a:r>
            <a:endParaRPr lang="en-US" sz="2000" dirty="0"/>
          </a:p>
        </p:txBody>
      </p:sp>
      <p:sp>
        <p:nvSpPr>
          <p:cNvPr id="3" name="Text 1"/>
          <p:cNvSpPr/>
          <p:nvPr/>
        </p:nvSpPr>
        <p:spPr>
          <a:xfrm>
            <a:off x="333665" y="6048847"/>
            <a:ext cx="11516777" cy="554035"/>
          </a:xfrm>
          <a:prstGeom prst="rect">
            <a:avLst/>
          </a:prstGeom>
          <a:noFill/>
          <a:ln/>
        </p:spPr>
        <p:txBody>
          <a:bodyPr wrap="square" rtlCol="0" anchor="t"/>
          <a:lstStyle/>
          <a:p>
            <a:pPr indent="0" marL="0">
              <a:buNone/>
            </a:pPr>
            <a:r>
              <a:rPr lang="en-US" sz="1000" dirty="0">
                <a:solidFill>
                  <a:srgbClr val="999999"/>
                </a:solidFill>
                <a:latin typeface="Segoe UI" pitchFamily="34" charset="0"/>
                <a:ea typeface="Segoe UI" pitchFamily="34" charset="-122"/>
                <a:cs typeface="Segoe UI" pitchFamily="34" charset="-120"/>
              </a:rPr>
              <a:t>Source: YCP Analysis</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43632" y="1709654"/>
          <a:ext cx="11521440" cy="4383176"/>
        </p:xfrm>
        <a:graphic>
          <a:graphicData uri="http://schemas.openxmlformats.org/drawingml/2006/table">
            <a:tbl>
              <a:tblPr/>
              <a:tblGrid>
                <a:gridCol w="2706624"/>
                <a:gridCol w="987552"/>
                <a:gridCol w="4142232"/>
                <a:gridCol w="3685032"/>
              </a:tblGrid>
              <a:tr h="1095794">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Act Name</a:t>
                      </a:r>
                      <a:endParaRPr lang="en-US" sz="1400" dirty="0">
                        <a:latin typeface="Segoe UI" charset="0"/>
                        <a:ea typeface="Segoe UI" charset="0"/>
                        <a:cs typeface="Segoe UI" charset="0"/>
                      </a:endParaRPr>
                    </a:p>
                  </a:txBody>
                  <a:tcPr marL="36576" marR="36576" marT="0" marB="0" anchor="mid">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Year</a:t>
                      </a:r>
                      <a:endParaRPr lang="en-US" sz="1400" dirty="0">
                        <a:latin typeface="Segoe UI" charset="0"/>
                        <a:ea typeface="Segoe UI" charset="0"/>
                        <a:cs typeface="Segoe UI" charset="0"/>
                      </a:endParaRPr>
                    </a:p>
                  </a:txBody>
                  <a:tcPr marL="36576" marR="36576" marT="0" marB="0" anchor="mid">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Requirements</a:t>
                      </a:r>
                      <a:endParaRPr lang="en-US" sz="1400" dirty="0">
                        <a:latin typeface="Segoe UI" charset="0"/>
                        <a:ea typeface="Segoe UI" charset="0"/>
                        <a:cs typeface="Segoe UI" charset="0"/>
                      </a:endParaRPr>
                    </a:p>
                  </a:txBody>
                  <a:tcPr marL="36576" marR="36576" marT="0" marB="0" anchor="mid">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Enforcement</a:t>
                      </a:r>
                      <a:endParaRPr lang="en-US" sz="1400" dirty="0">
                        <a:latin typeface="Segoe UI" charset="0"/>
                        <a:ea typeface="Segoe UI" charset="0"/>
                        <a:cs typeface="Segoe UI" charset="0"/>
                      </a:endParaRPr>
                    </a:p>
                  </a:txBody>
                  <a:tcPr marL="36576" marR="36576" marT="0" marB="0" anchor="mid">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r>
              <a:tr h="1095794">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Energy Conservation Promotion Act</a:t>
                      </a:r>
                      <a:endParaRPr lang="en-US" sz="1400" dirty="0">
                        <a:latin typeface="Segoe UI" charset="0"/>
                        <a:ea typeface="Segoe UI" charset="0"/>
                        <a:cs typeface="Segoe UI" charset="0"/>
                      </a:endParaRPr>
                    </a:p>
                  </a:txBody>
                  <a:tcPr marL="36576" marR="36576" marT="0" marB="0" anchor="mid">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1992 (amended 2007)</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Designated facilities must appoint energy managers, submit energy management reports, and implement efficiency improvement plans</a:t>
                      </a:r>
                      <a:endParaRPr lang="en-US" sz="1400" dirty="0">
                        <a:latin typeface="Segoe UI" charset="0"/>
                        <a:ea typeface="Segoe UI" charset="0"/>
                        <a:cs typeface="Segoe UI" charset="0"/>
                      </a:endParaRPr>
                    </a:p>
                    <a:p>
                      <a:pPr indent="0" marL="0">
                        <a:buNone/>
                      </a:pPr>
                      <a:r>
                        <a:rPr lang="en-US" sz="1400" dirty="0">
                          <a:solidFill>
                            <a:srgbClr val="000000"/>
                          </a:solidFill>
                          <a:latin typeface="Segoe UI" pitchFamily="34" charset="0"/>
                          <a:ea typeface="Segoe UI" pitchFamily="34" charset="-122"/>
                          <a:cs typeface="Segoe UI" pitchFamily="34" charset="-120"/>
                        </a:rPr>
                        <a:t>Penalties: Fines up to THB 500,000 for non-compliance; facility shutdown orders for repeat violations</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Department of Alternative Energy Development and Efficiency (DEDE) conducts...</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r>
              <a:tr h="1095794">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Energy Industry Act B.E. 2550</a:t>
                      </a:r>
                      <a:endParaRPr lang="en-US" sz="1400" dirty="0">
                        <a:latin typeface="Segoe UI" charset="0"/>
                        <a:ea typeface="Segoe UI" charset="0"/>
                        <a:cs typeface="Segoe UI" charset="0"/>
                      </a:endParaRPr>
                    </a:p>
                  </a:txBody>
                  <a:tcPr marL="36576" marR="36576" marT="0" marB="0" anchor="mid">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2007</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Licensing framework for energy service providers including ESCOs; technical standards for energy equipment and performance contracting</a:t>
                      </a:r>
                      <a:endParaRPr lang="en-US" sz="1400" dirty="0">
                        <a:latin typeface="Segoe UI" charset="0"/>
                        <a:ea typeface="Segoe UI" charset="0"/>
                        <a:cs typeface="Segoe UI" charset="0"/>
                      </a:endParaRPr>
                    </a:p>
                    <a:p>
                      <a:pPr indent="0" marL="0">
                        <a:buNone/>
                      </a:pPr>
                      <a:r>
                        <a:rPr lang="en-US" sz="1400" dirty="0">
                          <a:solidFill>
                            <a:srgbClr val="000000"/>
                          </a:solidFill>
                          <a:latin typeface="Segoe UI" pitchFamily="34" charset="0"/>
                          <a:ea typeface="Segoe UI" pitchFamily="34" charset="-122"/>
                          <a:cs typeface="Segoe UI" pitchFamily="34" charset="-120"/>
                        </a:rPr>
                        <a:t>Penalties: License revocation and fines up to THB 1,000,000; criminal liability for safety violations</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Energy Regulatory Commission (ERC) oversees licensing and compliance, annual...</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r>
              <a:tr h="1095794">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Building Energy Code</a:t>
                      </a:r>
                      <a:endParaRPr lang="en-US" sz="1400" dirty="0">
                        <a:latin typeface="Segoe UI" charset="0"/>
                        <a:ea typeface="Segoe UI" charset="0"/>
                        <a:cs typeface="Segoe UI" charset="0"/>
                      </a:endParaRPr>
                    </a:p>
                  </a:txBody>
                  <a:tcPr marL="36576" marR="36576" marT="0" marB="0" anchor="mid">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2009 (updated 2020)</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New commercial buildings over 2,000 sqm must meet minimum energy performance standards including OTTV below 50 W/sqm</a:t>
                      </a:r>
                      <a:endParaRPr lang="en-US" sz="1400" dirty="0">
                        <a:latin typeface="Segoe UI" charset="0"/>
                        <a:ea typeface="Segoe UI" charset="0"/>
                        <a:cs typeface="Segoe UI" charset="0"/>
                      </a:endParaRPr>
                    </a:p>
                    <a:p>
                      <a:pPr indent="0" marL="0">
                        <a:buNone/>
                      </a:pPr>
                      <a:r>
                        <a:rPr lang="en-US" sz="1400" dirty="0">
                          <a:solidFill>
                            <a:srgbClr val="000000"/>
                          </a:solidFill>
                          <a:latin typeface="Segoe UI" pitchFamily="34" charset="0"/>
                          <a:ea typeface="Segoe UI" pitchFamily="34" charset="-122"/>
                          <a:cs typeface="Segoe UI" pitchFamily="34" charset="-120"/>
                        </a:rPr>
                        <a:t>Penalties: Construction permit denial; mandatory retrofit within 2 years of non-compliance finding</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Local building authorities verify compliance during construction permits and...</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r>
            </a:tbl>
          </a:graphicData>
        </a:graphic>
      </p:graphicFrame>
      <p:sp>
        <p:nvSpPr>
          <p:cNvPr id="5" name="Text 2"/>
          <p:cNvSpPr/>
          <p:nvPr/>
        </p:nvSpPr>
        <p:spPr>
          <a:xfrm>
            <a:off x="343632" y="3520440"/>
            <a:ext cx="11508821" cy="320040"/>
          </a:xfrm>
          <a:prstGeom prst="rect">
            <a:avLst/>
          </a:prstGeom>
          <a:noFill/>
          <a:ln/>
        </p:spPr>
        <p:txBody>
          <a:bodyPr wrap="square" rtlCol="0" anchor="ctr"/>
          <a:lstStyle/>
          <a:p>
            <a:pPr indent="0" marL="0">
              <a:buNone/>
            </a:pPr>
            <a:r>
              <a:rPr lang="en-US" sz="1100" i="1" dirty="0">
                <a:solidFill>
                  <a:srgbClr val="666666"/>
                </a:solidFill>
                <a:latin typeface="Segoe UI" pitchFamily="34" charset="0"/>
                <a:ea typeface="Segoe UI" pitchFamily="34" charset="-122"/>
                <a:cs typeface="Segoe UI" pitchFamily="34" charset="-120"/>
              </a:rPr>
              <a:t>Thailand regulatory framework increasingly favors energy efficiency investments with clear enforcement mechanisms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341620" y="262890"/>
            <a:ext cx="11508821" cy="860450"/>
          </a:xfrm>
          <a:prstGeom prst="rect">
            <a:avLst/>
          </a:prstGeom>
          <a:noFill/>
          <a:ln/>
        </p:spPr>
        <p:txBody>
          <a:bodyPr wrap="square" rtlCol="0" anchor="t">
            <a:normAutofit/>
          </a:bodyPr>
          <a:lstStyle/>
          <a:p>
            <a:pPr indent="0" marL="0">
              <a:buNone/>
            </a:pPr>
            <a:r>
              <a:rPr lang="en-US" sz="2000" dirty="0">
                <a:solidFill>
                  <a:srgbClr val="1F497D"/>
                </a:solidFill>
                <a:latin typeface="Segoe UI" pitchFamily="34" charset="0"/>
                <a:ea typeface="Segoe UI" pitchFamily="34" charset="-122"/>
                <a:cs typeface="Segoe UI" pitchFamily="34" charset="-120"/>
              </a:rPr>
              <a:t>Thailand - National Energy Policy</a:t>
            </a:r>
            <a:pPr indent="0" marL="0">
              <a:spcBef>
                <a:spcPts val="200"/>
              </a:spcBef>
              <a:buNone/>
            </a:pPr>
            <a:r>
              <a:rPr lang="en-US" sz="1600" dirty="0">
                <a:solidFill>
                  <a:srgbClr val="1F497D"/>
                </a:solidFill>
                <a:latin typeface="Segoe UI" pitchFamily="34" charset="0"/>
                <a:ea typeface="Segoe UI" pitchFamily="34" charset="-122"/>
                <a:cs typeface="Segoe UI" pitchFamily="34" charset="-120"/>
              </a:rPr>
              <a:t>Thailand targets 30% renewable energy share by 2036 under the Alternative Energy Development Plan</a:t>
            </a:r>
            <a:endParaRPr lang="en-US" sz="2000" dirty="0"/>
          </a:p>
        </p:txBody>
      </p:sp>
      <p:sp>
        <p:nvSpPr>
          <p:cNvPr id="3" name="Text 1"/>
          <p:cNvSpPr/>
          <p:nvPr/>
        </p:nvSpPr>
        <p:spPr>
          <a:xfrm>
            <a:off x="333665" y="6109015"/>
            <a:ext cx="11516777" cy="554035"/>
          </a:xfrm>
          <a:prstGeom prst="rect">
            <a:avLst/>
          </a:prstGeom>
          <a:noFill/>
          <a:ln/>
        </p:spPr>
        <p:txBody>
          <a:bodyPr wrap="square" rtlCol="0" anchor="t"/>
          <a:lstStyle/>
          <a:p>
            <a:pPr indent="0" marL="0">
              <a:buNone/>
            </a:pPr>
            <a:r>
              <a:rPr lang="en-US" sz="1000" dirty="0">
                <a:solidFill>
                  <a:srgbClr val="999999"/>
                </a:solidFill>
                <a:latin typeface="Segoe UI" pitchFamily="34" charset="0"/>
                <a:ea typeface="Segoe UI" pitchFamily="34" charset="-122"/>
                <a:cs typeface="Segoe UI" pitchFamily="34" charset="-120"/>
              </a:rPr>
              <a:t>Source: YCP Analysis</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43632" y="1371600"/>
          <a:ext cx="11508821" cy="2286000"/>
        </p:xfrm>
        <a:graphic>
          <a:graphicData uri="http://schemas.openxmlformats.org/drawingml/2006/table">
            <a:tbl>
              <a:tblPr/>
              <a:tblGrid>
                <a:gridCol w="3776472"/>
                <a:gridCol w="2825496"/>
                <a:gridCol w="2459736"/>
                <a:gridCol w="2459736"/>
              </a:tblGrid>
              <a:tr h="45720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Metric</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Target</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Deadline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Status</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45720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Energy Intensity Reduction</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30% reduction from 2010 baseline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2036</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On track - 18% achieved by 2023</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45720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Renewable Energy Share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30% of final energy consumption</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2036</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Progress - 15.5% as of 2023</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45720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EV Penetration</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30% of new vehicle sales</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2030</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Behind - currently at 12%</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45720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Carbon Neutrality</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Net zero GHG emissions</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2065</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Roadmap published Q3 2023</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bl>
          </a:graphicData>
        </a:graphic>
      </p:graphicFrame>
      <p:sp>
        <p:nvSpPr>
          <p:cNvPr id="5" name="Text 2"/>
          <p:cNvSpPr/>
          <p:nvPr/>
        </p:nvSpPr>
        <p:spPr>
          <a:xfrm>
            <a:off x="343632" y="3794760"/>
            <a:ext cx="11508821" cy="274320"/>
          </a:xfrm>
          <a:prstGeom prst="rect">
            <a:avLst/>
          </a:prstGeom>
          <a:noFill/>
          <a:ln/>
        </p:spPr>
        <p:txBody>
          <a:bodyPr wrap="square" rtlCol="0" anchor="ctr"/>
          <a:lstStyle/>
          <a:p>
            <a:pPr indent="0" marL="0">
              <a:buNone/>
            </a:pPr>
            <a:r>
              <a:rPr lang="en-US" sz="1400" b="1" dirty="0">
                <a:solidFill>
                  <a:srgbClr val="1F497D"/>
                </a:solidFill>
                <a:latin typeface="Segoe UI" pitchFamily="34" charset="0"/>
                <a:ea typeface="Segoe UI" pitchFamily="34" charset="-122"/>
                <a:cs typeface="Segoe UI" pitchFamily="34" charset="-120"/>
              </a:rPr>
              <a:t>Key Initiatives</a:t>
            </a:r>
            <a:endParaRPr lang="en-US" sz="1400" dirty="0"/>
          </a:p>
        </p:txBody>
      </p:sp>
      <p:sp>
        <p:nvSpPr>
          <p:cNvPr id="6" name="Text 3"/>
          <p:cNvSpPr/>
          <p:nvPr/>
        </p:nvSpPr>
        <p:spPr>
          <a:xfrm>
            <a:off x="343632" y="4114800"/>
            <a:ext cx="11508821" cy="1280160"/>
          </a:xfrm>
          <a:prstGeom prst="rect">
            <a:avLst/>
          </a:prstGeom>
          <a:noFill/>
          <a:ln/>
        </p:spPr>
        <p:txBody>
          <a:bodyPr wrap="square" rtlCol="0" anchor="t"/>
          <a:lstStyle/>
          <a:p>
            <a:pPr marL="342900" indent="-342900">
              <a:buSzPct val="100000"/>
              <a:buChar char="•"/>
            </a:pPr>
            <a:r>
              <a:rPr lang="en-US" sz="1200" dirty="0">
                <a:solidFill>
                  <a:srgbClr val="000000"/>
                </a:solidFill>
                <a:latin typeface="Segoe UI" pitchFamily="34" charset="0"/>
                <a:ea typeface="Segoe UI" pitchFamily="34" charset="-122"/>
                <a:cs typeface="Segoe UI" pitchFamily="34" charset="-120"/>
              </a:rPr>
              <a:t>Smart Grid Development Program with THB 15.6B investment</a:t>
            </a:r>
            <a:endParaRPr lang="en-US" sz="1200" dirty="0"/>
          </a:p>
          <a:p>
            <a:pPr marL="342900" indent="-342900">
              <a:buSzPct val="100000"/>
              <a:buChar char="•"/>
            </a:pPr>
            <a:r>
              <a:rPr lang="en-US" sz="1200" dirty="0">
                <a:solidFill>
                  <a:srgbClr val="000000"/>
                </a:solidFill>
                <a:latin typeface="Segoe UI" pitchFamily="34" charset="0"/>
                <a:ea typeface="Segoe UI" pitchFamily="34" charset="-122"/>
                <a:cs typeface="Segoe UI" pitchFamily="34" charset="-120"/>
              </a:rPr>
              <a:t>BCG Economy Model integrating bio-circular-green strategies</a:t>
            </a:r>
            <a:endParaRPr lang="en-US" sz="1200" dirty="0"/>
          </a:p>
          <a:p>
            <a:pPr marL="342900" indent="-342900">
              <a:buSzPct val="100000"/>
              <a:buChar char="•"/>
            </a:pPr>
            <a:r>
              <a:rPr lang="en-US" sz="1200" dirty="0">
                <a:solidFill>
                  <a:srgbClr val="000000"/>
                </a:solidFill>
                <a:latin typeface="Segoe UI" pitchFamily="34" charset="0"/>
                <a:ea typeface="Segoe UI" pitchFamily="34" charset="-122"/>
                <a:cs typeface="Segoe UI" pitchFamily="34" charset="-120"/>
              </a:rPr>
              <a:t>ERC Sandbox for innovative energy trading pilots</a:t>
            </a:r>
            <a:endParaRPr lang="en-US" sz="1200" dirty="0"/>
          </a:p>
          <a:p>
            <a:pPr marL="342900" indent="-342900">
              <a:buSzPct val="100000"/>
              <a:buChar char="•"/>
            </a:pPr>
            <a:r>
              <a:rPr lang="en-US" sz="1200" dirty="0">
                <a:solidFill>
                  <a:srgbClr val="000000"/>
                </a:solidFill>
                <a:latin typeface="Segoe UI" pitchFamily="34" charset="0"/>
                <a:ea typeface="Segoe UI" pitchFamily="34" charset="-122"/>
                <a:cs typeface="Segoe UI" pitchFamily="34" charset="-120"/>
              </a:rPr>
              <a:t>Thailand 4.0 industrial digitalization incentives for energy sector</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341620" y="262890"/>
            <a:ext cx="11508821" cy="860450"/>
          </a:xfrm>
          <a:prstGeom prst="rect">
            <a:avLst/>
          </a:prstGeom>
          <a:noFill/>
          <a:ln/>
        </p:spPr>
        <p:txBody>
          <a:bodyPr wrap="square" rtlCol="0" anchor="t">
            <a:normAutofit/>
          </a:bodyPr>
          <a:lstStyle/>
          <a:p>
            <a:pPr indent="0" marL="0">
              <a:buNone/>
            </a:pPr>
            <a:r>
              <a:rPr lang="en-US" sz="2000" dirty="0">
                <a:solidFill>
                  <a:srgbClr val="1F497D"/>
                </a:solidFill>
                <a:latin typeface="Segoe UI" pitchFamily="34" charset="0"/>
                <a:ea typeface="Segoe UI" pitchFamily="34" charset="-122"/>
                <a:cs typeface="Segoe UI" pitchFamily="34" charset="-120"/>
              </a:rPr>
              <a:t>Thailand - Foreign Investment Rules</a:t>
            </a:r>
            <a:pPr indent="0" marL="0">
              <a:spcBef>
                <a:spcPts val="200"/>
              </a:spcBef>
              <a:buNone/>
            </a:pPr>
            <a:r>
              <a:rPr lang="en-US" sz="1600" dirty="0">
                <a:solidFill>
                  <a:srgbClr val="1F497D"/>
                </a:solidFill>
                <a:latin typeface="Segoe UI" pitchFamily="34" charset="0"/>
                <a:ea typeface="Segoe UI" pitchFamily="34" charset="-122"/>
                <a:cs typeface="Segoe UI" pitchFamily="34" charset="-120"/>
              </a:rPr>
              <a:t>Stable regulatory environment with established BOI framework; main risks are bureaucratic delays and periodic policy shifts during government transitions</a:t>
            </a:r>
            <a:endParaRPr lang="en-US" sz="2000" dirty="0"/>
          </a:p>
        </p:txBody>
      </p:sp>
      <p:sp>
        <p:nvSpPr>
          <p:cNvPr id="3" name="Text 1"/>
          <p:cNvSpPr/>
          <p:nvPr/>
        </p:nvSpPr>
        <p:spPr>
          <a:xfrm>
            <a:off x="333665" y="6099048"/>
            <a:ext cx="11516777" cy="246248"/>
          </a:xfrm>
          <a:prstGeom prst="rect">
            <a:avLst/>
          </a:prstGeom>
          <a:noFill/>
          <a:ln/>
        </p:spPr>
        <p:txBody>
          <a:bodyPr wrap="square" rtlCol="0" anchor="t"/>
          <a:lstStyle/>
          <a:p>
            <a:pPr indent="0" marL="0">
              <a:buNone/>
            </a:pPr>
            <a:r>
              <a:rPr lang="en-US" sz="1000" dirty="0">
                <a:solidFill>
                  <a:srgbClr val="999999"/>
                </a:solidFill>
                <a:latin typeface="Segoe UI" pitchFamily="34" charset="0"/>
                <a:ea typeface="Segoe UI" pitchFamily="34" charset="-122"/>
                <a:cs typeface="Segoe UI" pitchFamily="34" charset="-120"/>
              </a:rPr>
              <a:t>Source: YCP Analysis</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43632" y="1371600"/>
          <a:ext cx="11508821" cy="1554480"/>
        </p:xfrm>
        <a:graphic>
          <a:graphicData uri="http://schemas.openxmlformats.org/drawingml/2006/table">
            <a:tbl>
              <a:tblPr/>
              <a:tblGrid>
                <a:gridCol w="3072384"/>
                <a:gridCol w="1847088"/>
                <a:gridCol w="6601968"/>
              </a:tblGrid>
              <a:tr h="51816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Category</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Limit</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Details</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51816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General Sectors</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49% foreign ownership cap under Foreign Business Act</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BOI-promoted projects may receive 100% foreign ownership; Treaty of Amity allows US nationals...</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51816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Promoted Investment</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100% under BOI Zone 3 incentives</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343632" y="3063240"/>
          <a:ext cx="11508821" cy="2011680"/>
        </p:xfrm>
        <a:graphic>
          <a:graphicData uri="http://schemas.openxmlformats.org/drawingml/2006/table">
            <a:tbl>
              <a:tblPr/>
              <a:tblGrid>
                <a:gridCol w="3072384"/>
                <a:gridCol w="3072384"/>
                <a:gridCol w="5376672"/>
              </a:tblGrid>
              <a:tr h="50292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Incentive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Benefit</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Eligibility</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50292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BOI Energy Efficiency Promotion</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8-year corporate tax exemption, import duty waivers on equipment</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Projects with minimum THB 50M investment in...</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50292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Eastern Economic Corridor (EEC)</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Enhanced tax holidays up to 13 years, land lease up to 99 years</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Operations located in Chachoengsao, Chonburi,...</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50292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Green Bond Tax Incentives</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Withholding tax exemption on green bond interest payments</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Certified green projects per Thai Green Bond...</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bl>
          </a:graphicData>
        </a:graphic>
      </p:graphicFrame>
      <p:sp>
        <p:nvSpPr>
          <p:cNvPr id="6" name="Text 2"/>
          <p:cNvSpPr/>
          <p:nvPr/>
        </p:nvSpPr>
        <p:spPr>
          <a:xfrm>
            <a:off x="343632" y="5212080"/>
            <a:ext cx="11508821" cy="365760"/>
          </a:xfrm>
          <a:prstGeom prst="rect">
            <a:avLst/>
          </a:prstGeom>
          <a:noFill/>
          <a:ln/>
        </p:spPr>
        <p:txBody>
          <a:bodyPr wrap="square" rtlCol="0" anchor="ctr"/>
          <a:lstStyle/>
          <a:p>
            <a:pPr indent="0" marL="0">
              <a:buNone/>
            </a:pPr>
            <a:r>
              <a:rPr lang="en-US" sz="1400" b="1" dirty="0">
                <a:solidFill>
                  <a:srgbClr val="2E7D32"/>
                </a:solidFill>
                <a:latin typeface="Segoe UI" pitchFamily="34" charset="0"/>
                <a:ea typeface="Segoe UI" pitchFamily="34" charset="-122"/>
                <a:cs typeface="Segoe UI" pitchFamily="34" charset="-120"/>
              </a:rPr>
              <a:t>Regulatory Risk: MEDIUM-LOW</a:t>
            </a:r>
            <a:endParaRPr lang="en-US" sz="1400" dirty="0"/>
          </a:p>
        </p:txBody>
      </p:sp>
      <p:sp>
        <p:nvSpPr>
          <p:cNvPr id="7" name="Text 3"/>
          <p:cNvSpPr/>
          <p:nvPr/>
        </p:nvSpPr>
        <p:spPr>
          <a:xfrm>
            <a:off x="343632" y="5623560"/>
            <a:ext cx="11508821" cy="320040"/>
          </a:xfrm>
          <a:prstGeom prst="rect">
            <a:avLst/>
          </a:prstGeom>
          <a:noFill/>
          <a:ln/>
        </p:spPr>
        <p:txBody>
          <a:bodyPr wrap="square" rtlCol="0" anchor="ctr"/>
          <a:lstStyle/>
          <a:p>
            <a:pPr indent="0" marL="0">
              <a:buNone/>
            </a:pPr>
            <a:r>
              <a:rPr lang="en-US" sz="1100" dirty="0">
                <a:solidFill>
                  <a:srgbClr val="666666"/>
                </a:solidFill>
                <a:latin typeface="Segoe UI" pitchFamily="34" charset="0"/>
                <a:ea typeface="Segoe UI" pitchFamily="34" charset="-122"/>
                <a:cs typeface="Segoe UI" pitchFamily="34" charset="-120"/>
              </a:rPr>
              <a:t>Stable regulatory environment with established BOI framework; main risks are bureaucratic delays and periodic policy shifts during government transitions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77662" y="2730673"/>
            <a:ext cx="7491313" cy="1384127"/>
          </a:xfrm>
          <a:prstGeom prst="rect">
            <a:avLst/>
          </a:prstGeom>
          <a:noFill/>
          <a:ln/>
        </p:spPr>
        <p:txBody>
          <a:bodyPr wrap="square" rtlCol="0" anchor="ctr"/>
          <a:lstStyle/>
          <a:p>
            <a:pPr algn="ctr" indent="0" marL="0">
              <a:buNone/>
            </a:pPr>
            <a:r>
              <a:rPr lang="en-US" sz="4400" b="1" dirty="0">
                <a:solidFill>
                  <a:srgbClr val="FFFFFF"/>
                </a:solidFill>
                <a:latin typeface="Segoe UI" pitchFamily="34" charset="0"/>
                <a:ea typeface="Segoe UI" pitchFamily="34" charset="-122"/>
                <a:cs typeface="Segoe UI" pitchFamily="34" charset="-120"/>
              </a:rPr>
              <a:t>Market Overview</a:t>
            </a:r>
            <a:endParaRPr lang="en-US" sz="4400" dirty="0"/>
          </a:p>
        </p:txBody>
      </p:sp>
      <p:sp>
        <p:nvSpPr>
          <p:cNvPr id="3" name="Shape 1"/>
          <p:cNvSpPr/>
          <p:nvPr/>
        </p:nvSpPr>
        <p:spPr>
          <a:xfrm>
            <a:off x="455646" y="4297680"/>
            <a:ext cx="4113246" cy="0"/>
          </a:xfrm>
          <a:prstGeom prst="line">
            <a:avLst/>
          </a:prstGeom>
          <a:noFill/>
          <a:ln w="22225">
            <a:solidFill>
              <a:srgbClr val="FFFFFF"/>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343632" y="44623"/>
            <a:ext cx="11508821" cy="831830"/>
          </a:xfrm>
          <a:prstGeom prst="rect">
            <a:avLst/>
          </a:prstGeom>
          <a:noFill/>
          <a:ln/>
        </p:spPr>
        <p:txBody>
          <a:bodyPr wrap="square" rtlCol="0" anchor="t">
            <a:normAutofit/>
          </a:bodyPr>
          <a:lstStyle/>
          <a:p>
            <a:pPr indent="0" marL="0">
              <a:buNone/>
            </a:pPr>
            <a:r>
              <a:rPr lang="en-US" sz="2000" dirty="0">
                <a:solidFill>
                  <a:srgbClr val="1F497D"/>
                </a:solidFill>
                <a:latin typeface="Segoe UI" pitchFamily="34" charset="0"/>
                <a:ea typeface="Segoe UI" pitchFamily="34" charset="-122"/>
                <a:cs typeface="Segoe UI" pitchFamily="34" charset="-120"/>
              </a:rPr>
              <a:t>Thailand - Total Primary Energy Supply</a:t>
            </a:r>
            <a:endParaRPr lang="en-US" sz="2000" dirty="0"/>
          </a:p>
        </p:txBody>
      </p:sp>
      <p:sp>
        <p:nvSpPr>
          <p:cNvPr id="3" name="Text 1"/>
          <p:cNvSpPr/>
          <p:nvPr/>
        </p:nvSpPr>
        <p:spPr>
          <a:xfrm>
            <a:off x="340248" y="6021598"/>
            <a:ext cx="11516777" cy="554035"/>
          </a:xfrm>
          <a:prstGeom prst="rect">
            <a:avLst/>
          </a:prstGeom>
          <a:noFill/>
          <a:ln/>
        </p:spPr>
        <p:txBody>
          <a:bodyPr wrap="square" rtlCol="0" anchor="t"/>
          <a:lstStyle/>
          <a:p>
            <a:pPr indent="0" marL="0">
              <a:buNone/>
            </a:pPr>
            <a:r>
              <a:rPr lang="en-US" sz="1000" dirty="0">
                <a:solidFill>
                  <a:srgbClr val="999999"/>
                </a:solidFill>
                <a:latin typeface="Segoe UI" pitchFamily="34" charset="0"/>
                <a:ea typeface="Segoe UI" pitchFamily="34" charset="-122"/>
                <a:cs typeface="Segoe UI" pitchFamily="34" charset="-120"/>
              </a:rPr>
              <a:t>Source: YCP Analysis</a:t>
            </a:r>
            <a:endParaRPr lang="en-US" sz="1000" dirty="0"/>
          </a:p>
        </p:txBody>
      </p:sp>
      <p:graphicFrame>
        <p:nvGraphicFramePr>
          <p:cNvPr id="4" name="Chart 0" descr=""/>
          <p:cNvGraphicFramePr/>
          <p:nvPr/>
        </p:nvGraphicFramePr>
        <p:xfrm>
          <a:off x="752460" y="2112996"/>
          <a:ext cx="5248290" cy="3516325"/>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772400" y="1371600"/>
            <a:ext cx="73152" cy="1280160"/>
          </a:xfrm>
          <a:prstGeom prst="rect">
            <a:avLst/>
          </a:prstGeom>
          <a:solidFill>
            <a:srgbClr val="1F497D"/>
          </a:solidFill>
          <a:ln/>
        </p:spPr>
      </p:sp>
      <p:sp>
        <p:nvSpPr>
          <p:cNvPr id="6" name="Shape 3"/>
          <p:cNvSpPr/>
          <p:nvPr/>
        </p:nvSpPr>
        <p:spPr>
          <a:xfrm>
            <a:off x="7882128" y="1371600"/>
            <a:ext cx="3913632" cy="1280160"/>
          </a:xfrm>
          <a:prstGeom prst="rect">
            <a:avLst/>
          </a:prstGeom>
          <a:solidFill>
            <a:srgbClr val="FFFFFF"/>
          </a:solidFill>
          <a:ln w="12700">
            <a:solidFill>
              <a:srgbClr val="BFBFBF"/>
            </a:solidFill>
            <a:prstDash val="solid"/>
          </a:ln>
        </p:spPr>
      </p:sp>
      <p:sp>
        <p:nvSpPr>
          <p:cNvPr id="7" name="Text 4"/>
          <p:cNvSpPr/>
          <p:nvPr/>
        </p:nvSpPr>
        <p:spPr>
          <a:xfrm>
            <a:off x="7955280" y="1417320"/>
            <a:ext cx="3749040" cy="320040"/>
          </a:xfrm>
          <a:prstGeom prst="rect">
            <a:avLst/>
          </a:prstGeom>
          <a:noFill/>
          <a:ln/>
        </p:spPr>
        <p:txBody>
          <a:bodyPr wrap="square" rtlCol="0" anchor="ctr"/>
          <a:lstStyle/>
          <a:p>
            <a:pPr indent="0" marL="0">
              <a:buNone/>
            </a:pPr>
            <a:r>
              <a:rPr lang="en-US" sz="1400" b="1" dirty="0">
                <a:solidFill>
                  <a:srgbClr val="1F497D"/>
                </a:solidFill>
                <a:latin typeface="Segoe UI" pitchFamily="34" charset="0"/>
                <a:ea typeface="Segoe UI" pitchFamily="34" charset="-122"/>
                <a:cs typeface="Segoe UI" pitchFamily="34" charset="-120"/>
              </a:rPr>
              <a:t>Key Insight</a:t>
            </a:r>
            <a:endParaRPr lang="en-US" sz="1400" dirty="0"/>
          </a:p>
        </p:txBody>
      </p:sp>
      <p:sp>
        <p:nvSpPr>
          <p:cNvPr id="8" name="Text 5"/>
          <p:cNvSpPr/>
          <p:nvPr/>
        </p:nvSpPr>
        <p:spPr>
          <a:xfrm>
            <a:off x="7955280" y="1737360"/>
            <a:ext cx="3749040" cy="822960"/>
          </a:xfrm>
          <a:prstGeom prst="rect">
            <a:avLst/>
          </a:prstGeom>
          <a:noFill/>
          <a:ln/>
        </p:spPr>
        <p:txBody>
          <a:bodyPr wrap="square" rtlCol="0" anchor="t">
            <a:normAutofit/>
          </a:bodyPr>
          <a:lstStyle/>
          <a:p>
            <a:pPr indent="0" marL="0">
              <a:buNone/>
            </a:pPr>
            <a:r>
              <a:rPr lang="en-US" sz="1100" dirty="0">
                <a:solidFill>
                  <a:srgbClr val="000000"/>
                </a:solidFill>
                <a:latin typeface="Segoe UI" pitchFamily="34" charset="0"/>
                <a:ea typeface="Segoe UI" pitchFamily="34" charset="-122"/>
                <a:cs typeface="Segoe UI" pitchFamily="34" charset="-120"/>
              </a:rPr>
              <a:t>Natural Gas: 39%</a:t>
            </a:r>
            <a:endParaRPr lang="en-US" sz="1100" dirty="0"/>
          </a:p>
        </p:txBody>
      </p:sp>
      <p:sp>
        <p:nvSpPr>
          <p:cNvPr id="9" name="Shape 6"/>
          <p:cNvSpPr/>
          <p:nvPr/>
        </p:nvSpPr>
        <p:spPr>
          <a:xfrm>
            <a:off x="7772400" y="2834640"/>
            <a:ext cx="73152" cy="1280160"/>
          </a:xfrm>
          <a:prstGeom prst="rect">
            <a:avLst/>
          </a:prstGeom>
          <a:solidFill>
            <a:srgbClr val="1F497D"/>
          </a:solidFill>
          <a:ln/>
        </p:spPr>
      </p:sp>
      <p:sp>
        <p:nvSpPr>
          <p:cNvPr id="10" name="Shape 7"/>
          <p:cNvSpPr/>
          <p:nvPr/>
        </p:nvSpPr>
        <p:spPr>
          <a:xfrm>
            <a:off x="7882128" y="2834640"/>
            <a:ext cx="3913632" cy="1280160"/>
          </a:xfrm>
          <a:prstGeom prst="rect">
            <a:avLst/>
          </a:prstGeom>
          <a:solidFill>
            <a:srgbClr val="FFFFFF"/>
          </a:solidFill>
          <a:ln w="12700">
            <a:solidFill>
              <a:srgbClr val="BFBFBF"/>
            </a:solidFill>
            <a:prstDash val="solid"/>
          </a:ln>
        </p:spPr>
      </p:sp>
      <p:sp>
        <p:nvSpPr>
          <p:cNvPr id="11" name="Text 8"/>
          <p:cNvSpPr/>
          <p:nvPr/>
        </p:nvSpPr>
        <p:spPr>
          <a:xfrm>
            <a:off x="7955280" y="2880360"/>
            <a:ext cx="3749040" cy="320040"/>
          </a:xfrm>
          <a:prstGeom prst="rect">
            <a:avLst/>
          </a:prstGeom>
          <a:noFill/>
          <a:ln/>
        </p:spPr>
        <p:txBody>
          <a:bodyPr wrap="square" rtlCol="0" anchor="ctr"/>
          <a:lstStyle/>
          <a:p>
            <a:pPr indent="0" marL="0">
              <a:buNone/>
            </a:pPr>
            <a:r>
              <a:rPr lang="en-US" sz="1400" b="1" dirty="0">
                <a:solidFill>
                  <a:srgbClr val="1F497D"/>
                </a:solidFill>
                <a:latin typeface="Segoe UI" pitchFamily="34" charset="0"/>
                <a:ea typeface="Segoe UI" pitchFamily="34" charset="-122"/>
                <a:cs typeface="Segoe UI" pitchFamily="34" charset="-120"/>
              </a:rPr>
              <a:t>Market Data</a:t>
            </a:r>
            <a:endParaRPr lang="en-US" sz="1400" dirty="0"/>
          </a:p>
        </p:txBody>
      </p:sp>
      <p:sp>
        <p:nvSpPr>
          <p:cNvPr id="12" name="Text 9"/>
          <p:cNvSpPr/>
          <p:nvPr/>
        </p:nvSpPr>
        <p:spPr>
          <a:xfrm>
            <a:off x="7955280" y="3200400"/>
            <a:ext cx="3749040" cy="822960"/>
          </a:xfrm>
          <a:prstGeom prst="rect">
            <a:avLst/>
          </a:prstGeom>
          <a:noFill/>
          <a:ln/>
        </p:spPr>
        <p:txBody>
          <a:bodyPr wrap="square" rtlCol="0" anchor="t">
            <a:normAutofit/>
          </a:bodyPr>
          <a:lstStyle/>
          <a:p>
            <a:pPr indent="0" marL="0">
              <a:buNone/>
            </a:pPr>
            <a:r>
              <a:rPr lang="en-US" sz="1100" dirty="0">
                <a:solidFill>
                  <a:srgbClr val="000000"/>
                </a:solidFill>
                <a:latin typeface="Segoe UI" pitchFamily="34" charset="0"/>
                <a:ea typeface="Segoe UI" pitchFamily="34" charset="-122"/>
                <a:cs typeface="Segoe UI" pitchFamily="34" charset="-120"/>
              </a:rPr>
              <a:t>Renewable: 12%</a:t>
            </a:r>
            <a:endParaRPr lang="en-US" sz="1100" dirty="0"/>
          </a:p>
        </p:txBody>
      </p:sp>
      <p:sp>
        <p:nvSpPr>
          <p:cNvPr id="13" name="Shape 10"/>
          <p:cNvSpPr/>
          <p:nvPr/>
        </p:nvSpPr>
        <p:spPr>
          <a:xfrm>
            <a:off x="7772400" y="4297680"/>
            <a:ext cx="73152" cy="1280160"/>
          </a:xfrm>
          <a:prstGeom prst="rect">
            <a:avLst/>
          </a:prstGeom>
          <a:solidFill>
            <a:srgbClr val="1F497D"/>
          </a:solidFill>
          <a:ln/>
        </p:spPr>
      </p:sp>
      <p:sp>
        <p:nvSpPr>
          <p:cNvPr id="14" name="Shape 11"/>
          <p:cNvSpPr/>
          <p:nvPr/>
        </p:nvSpPr>
        <p:spPr>
          <a:xfrm>
            <a:off x="7882128" y="4297680"/>
            <a:ext cx="3913632" cy="1280160"/>
          </a:xfrm>
          <a:prstGeom prst="rect">
            <a:avLst/>
          </a:prstGeom>
          <a:solidFill>
            <a:srgbClr val="FFFFFF"/>
          </a:solidFill>
          <a:ln w="12700">
            <a:solidFill>
              <a:srgbClr val="BFBFBF"/>
            </a:solidFill>
            <a:prstDash val="solid"/>
          </a:ln>
        </p:spPr>
      </p:sp>
      <p:sp>
        <p:nvSpPr>
          <p:cNvPr id="15" name="Text 12"/>
          <p:cNvSpPr/>
          <p:nvPr/>
        </p:nvSpPr>
        <p:spPr>
          <a:xfrm>
            <a:off x="7955280" y="4343400"/>
            <a:ext cx="3749040" cy="320040"/>
          </a:xfrm>
          <a:prstGeom prst="rect">
            <a:avLst/>
          </a:prstGeom>
          <a:noFill/>
          <a:ln/>
        </p:spPr>
        <p:txBody>
          <a:bodyPr wrap="square" rtlCol="0" anchor="ctr"/>
          <a:lstStyle/>
          <a:p>
            <a:pPr indent="0" marL="0">
              <a:buNone/>
            </a:pPr>
            <a:r>
              <a:rPr lang="en-US" sz="1400" b="1" dirty="0">
                <a:solidFill>
                  <a:srgbClr val="1F497D"/>
                </a:solidFill>
                <a:latin typeface="Segoe UI" pitchFamily="34" charset="0"/>
                <a:ea typeface="Segoe UI" pitchFamily="34" charset="-122"/>
                <a:cs typeface="Segoe UI" pitchFamily="34" charset="-120"/>
              </a:rPr>
              <a:t>Opportunity</a:t>
            </a:r>
            <a:endParaRPr lang="en-US" sz="1400" dirty="0"/>
          </a:p>
        </p:txBody>
      </p:sp>
      <p:sp>
        <p:nvSpPr>
          <p:cNvPr id="16" name="Text 13"/>
          <p:cNvSpPr/>
          <p:nvPr/>
        </p:nvSpPr>
        <p:spPr>
          <a:xfrm>
            <a:off x="7955280" y="4663440"/>
            <a:ext cx="3749040" cy="822960"/>
          </a:xfrm>
          <a:prstGeom prst="rect">
            <a:avLst/>
          </a:prstGeom>
          <a:noFill/>
          <a:ln/>
        </p:spPr>
        <p:txBody>
          <a:bodyPr wrap="square" rtlCol="0" anchor="t">
            <a:normAutofit/>
          </a:bodyPr>
          <a:lstStyle/>
          <a:p>
            <a:pPr indent="0" marL="0">
              <a:buNone/>
            </a:pPr>
            <a:r>
              <a:rPr lang="en-US" sz="1100" dirty="0">
                <a:solidFill>
                  <a:srgbClr val="000000"/>
                </a:solidFill>
                <a:latin typeface="Segoe UI" pitchFamily="34" charset="0"/>
                <a:ea typeface="Segoe UI" pitchFamily="34" charset="-122"/>
                <a:cs typeface="Segoe UI" pitchFamily="34" charset="-120"/>
              </a:rPr>
              <a:t>Thailand TPES reached 137 Mtoe in 2023, growing 2.1% YoY driven by industrial recovery</a:t>
            </a:r>
            <a:endParaRPr lang="en-US" sz="1100" dirty="0"/>
          </a:p>
        </p:txBody>
      </p:sp>
      <p:sp>
        <p:nvSpPr>
          <p:cNvPr id="17" name="Shape 14"/>
          <p:cNvSpPr/>
          <p:nvPr/>
        </p:nvSpPr>
        <p:spPr>
          <a:xfrm>
            <a:off x="1005840" y="2029968"/>
            <a:ext cx="4123944" cy="950976"/>
          </a:xfrm>
          <a:prstGeom prst="rect">
            <a:avLst/>
          </a:prstGeom>
          <a:solidFill>
            <a:srgbClr val="D9D9D9"/>
          </a:solidFill>
          <a:ln w="9525">
            <a:solidFill>
              <a:srgbClr val="BFBFBF"/>
            </a:solidFill>
            <a:prstDash val="solid"/>
          </a:ln>
        </p:spPr>
      </p:sp>
      <p:sp>
        <p:nvSpPr>
          <p:cNvPr id="18" name="Text 15"/>
          <p:cNvSpPr/>
          <p:nvPr/>
        </p:nvSpPr>
        <p:spPr>
          <a:xfrm>
            <a:off x="1097280" y="2121408"/>
            <a:ext cx="3941064" cy="768096"/>
          </a:xfrm>
          <a:prstGeom prst="rect">
            <a:avLst/>
          </a:prstGeom>
          <a:noFill/>
          <a:ln/>
        </p:spPr>
        <p:txBody>
          <a:bodyPr wrap="square" rtlCol="0" anchor="ctr">
            <a:normAutofit/>
          </a:bodyPr>
          <a:lstStyle/>
          <a:p>
            <a:pPr indent="0" marL="0">
              <a:buNone/>
            </a:pPr>
            <a:r>
              <a:rPr lang="en-US" sz="900" dirty="0">
                <a:solidFill>
                  <a:srgbClr val="000000"/>
                </a:solidFill>
                <a:latin typeface="Segoe UI" pitchFamily="34" charset="0"/>
                <a:ea typeface="Segoe UI" pitchFamily="34" charset="-122"/>
                <a:cs typeface="Segoe UI" pitchFamily="34" charset="-120"/>
              </a:rPr>
              <a:t>Natural gas dominates at 39% but declining as renewables accelerate to 12% share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343632" y="44623"/>
            <a:ext cx="11508821" cy="831830"/>
          </a:xfrm>
          <a:prstGeom prst="rect">
            <a:avLst/>
          </a:prstGeom>
          <a:noFill/>
          <a:ln/>
        </p:spPr>
        <p:txBody>
          <a:bodyPr wrap="square" rtlCol="0" anchor="t">
            <a:normAutofit/>
          </a:bodyPr>
          <a:lstStyle/>
          <a:p>
            <a:pPr indent="0" marL="0">
              <a:buNone/>
            </a:pPr>
            <a:r>
              <a:rPr lang="en-US" sz="2000" dirty="0">
                <a:solidFill>
                  <a:srgbClr val="1F497D"/>
                </a:solidFill>
                <a:latin typeface="Segoe UI" pitchFamily="34" charset="0"/>
                <a:ea typeface="Segoe UI" pitchFamily="34" charset="-122"/>
                <a:cs typeface="Segoe UI" pitchFamily="34" charset="-120"/>
              </a:rPr>
              <a:t>Thailand - Final Energy Demand</a:t>
            </a:r>
            <a:endParaRPr lang="en-US" sz="2000" dirty="0"/>
          </a:p>
        </p:txBody>
      </p:sp>
      <p:sp>
        <p:nvSpPr>
          <p:cNvPr id="3" name="Text 1"/>
          <p:cNvSpPr/>
          <p:nvPr/>
        </p:nvSpPr>
        <p:spPr>
          <a:xfrm>
            <a:off x="340248" y="6057351"/>
            <a:ext cx="11516777" cy="400141"/>
          </a:xfrm>
          <a:prstGeom prst="rect">
            <a:avLst/>
          </a:prstGeom>
          <a:noFill/>
          <a:ln/>
        </p:spPr>
        <p:txBody>
          <a:bodyPr wrap="square" rtlCol="0" anchor="t"/>
          <a:lstStyle/>
          <a:p>
            <a:pPr indent="0" marL="0">
              <a:buNone/>
            </a:pPr>
            <a:r>
              <a:rPr lang="en-US" sz="1000" dirty="0">
                <a:solidFill>
                  <a:srgbClr val="999999"/>
                </a:solidFill>
                <a:latin typeface="Segoe UI" pitchFamily="34" charset="0"/>
                <a:ea typeface="Segoe UI" pitchFamily="34" charset="-122"/>
                <a:cs typeface="Segoe UI" pitchFamily="34" charset="-120"/>
              </a:rPr>
              <a:t>Source: YCP Analysis</a:t>
            </a:r>
            <a:endParaRPr lang="en-US" sz="1000" dirty="0"/>
          </a:p>
        </p:txBody>
      </p:sp>
      <p:graphicFrame>
        <p:nvGraphicFramePr>
          <p:cNvPr id="4" name="Chart 0" descr=""/>
          <p:cNvGraphicFramePr/>
          <p:nvPr/>
        </p:nvGraphicFramePr>
        <p:xfrm>
          <a:off x="757215" y="2198675"/>
          <a:ext cx="5243535" cy="247967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772400" y="1371600"/>
            <a:ext cx="73152" cy="1280160"/>
          </a:xfrm>
          <a:prstGeom prst="rect">
            <a:avLst/>
          </a:prstGeom>
          <a:solidFill>
            <a:srgbClr val="1F497D"/>
          </a:solidFill>
          <a:ln/>
        </p:spPr>
      </p:sp>
      <p:sp>
        <p:nvSpPr>
          <p:cNvPr id="6" name="Shape 3"/>
          <p:cNvSpPr/>
          <p:nvPr/>
        </p:nvSpPr>
        <p:spPr>
          <a:xfrm>
            <a:off x="7882128" y="1371600"/>
            <a:ext cx="3913632" cy="1280160"/>
          </a:xfrm>
          <a:prstGeom prst="rect">
            <a:avLst/>
          </a:prstGeom>
          <a:solidFill>
            <a:srgbClr val="FFFFFF"/>
          </a:solidFill>
          <a:ln w="12700">
            <a:solidFill>
              <a:srgbClr val="BFBFBF"/>
            </a:solidFill>
            <a:prstDash val="solid"/>
          </a:ln>
        </p:spPr>
      </p:sp>
      <p:sp>
        <p:nvSpPr>
          <p:cNvPr id="7" name="Text 4"/>
          <p:cNvSpPr/>
          <p:nvPr/>
        </p:nvSpPr>
        <p:spPr>
          <a:xfrm>
            <a:off x="7955280" y="1417320"/>
            <a:ext cx="3749040" cy="320040"/>
          </a:xfrm>
          <a:prstGeom prst="rect">
            <a:avLst/>
          </a:prstGeom>
          <a:noFill/>
          <a:ln/>
        </p:spPr>
        <p:txBody>
          <a:bodyPr wrap="square" rtlCol="0" anchor="ctr"/>
          <a:lstStyle/>
          <a:p>
            <a:pPr indent="0" marL="0">
              <a:buNone/>
            </a:pPr>
            <a:r>
              <a:rPr lang="en-US" sz="1400" b="1" dirty="0">
                <a:solidFill>
                  <a:srgbClr val="1F497D"/>
                </a:solidFill>
                <a:latin typeface="Segoe UI" pitchFamily="34" charset="0"/>
                <a:ea typeface="Segoe UI" pitchFamily="34" charset="-122"/>
                <a:cs typeface="Segoe UI" pitchFamily="34" charset="-120"/>
              </a:rPr>
              <a:t>Key Insight</a:t>
            </a:r>
            <a:endParaRPr lang="en-US" sz="1400" dirty="0"/>
          </a:p>
        </p:txBody>
      </p:sp>
      <p:sp>
        <p:nvSpPr>
          <p:cNvPr id="8" name="Text 5"/>
          <p:cNvSpPr/>
          <p:nvPr/>
        </p:nvSpPr>
        <p:spPr>
          <a:xfrm>
            <a:off x="7955280" y="1737360"/>
            <a:ext cx="3749040" cy="822960"/>
          </a:xfrm>
          <a:prstGeom prst="rect">
            <a:avLst/>
          </a:prstGeom>
          <a:noFill/>
          <a:ln/>
        </p:spPr>
        <p:txBody>
          <a:bodyPr wrap="square" rtlCol="0" anchor="t">
            <a:normAutofit/>
          </a:bodyPr>
          <a:lstStyle/>
          <a:p>
            <a:pPr indent="0" marL="0">
              <a:buNone/>
            </a:pPr>
            <a:r>
              <a:rPr lang="en-US" sz="1100" dirty="0">
                <a:solidFill>
                  <a:srgbClr val="000000"/>
                </a:solidFill>
                <a:latin typeface="Segoe UI" pitchFamily="34" charset="0"/>
                <a:ea typeface="Segoe UI" pitchFamily="34" charset="-122"/>
                <a:cs typeface="Segoe UI" pitchFamily="34" charset="-120"/>
              </a:rPr>
              <a:t>Industry: 37%</a:t>
            </a:r>
            <a:endParaRPr lang="en-US" sz="1100" dirty="0"/>
          </a:p>
        </p:txBody>
      </p:sp>
      <p:sp>
        <p:nvSpPr>
          <p:cNvPr id="9" name="Shape 6"/>
          <p:cNvSpPr/>
          <p:nvPr/>
        </p:nvSpPr>
        <p:spPr>
          <a:xfrm>
            <a:off x="7772400" y="2834640"/>
            <a:ext cx="73152" cy="1280160"/>
          </a:xfrm>
          <a:prstGeom prst="rect">
            <a:avLst/>
          </a:prstGeom>
          <a:solidFill>
            <a:srgbClr val="1F497D"/>
          </a:solidFill>
          <a:ln/>
        </p:spPr>
      </p:sp>
      <p:sp>
        <p:nvSpPr>
          <p:cNvPr id="10" name="Shape 7"/>
          <p:cNvSpPr/>
          <p:nvPr/>
        </p:nvSpPr>
        <p:spPr>
          <a:xfrm>
            <a:off x="7882128" y="2834640"/>
            <a:ext cx="3913632" cy="1280160"/>
          </a:xfrm>
          <a:prstGeom prst="rect">
            <a:avLst/>
          </a:prstGeom>
          <a:solidFill>
            <a:srgbClr val="FFFFFF"/>
          </a:solidFill>
          <a:ln w="12700">
            <a:solidFill>
              <a:srgbClr val="BFBFBF"/>
            </a:solidFill>
            <a:prstDash val="solid"/>
          </a:ln>
        </p:spPr>
      </p:sp>
      <p:sp>
        <p:nvSpPr>
          <p:cNvPr id="11" name="Text 8"/>
          <p:cNvSpPr/>
          <p:nvPr/>
        </p:nvSpPr>
        <p:spPr>
          <a:xfrm>
            <a:off x="7955280" y="2880360"/>
            <a:ext cx="3749040" cy="320040"/>
          </a:xfrm>
          <a:prstGeom prst="rect">
            <a:avLst/>
          </a:prstGeom>
          <a:noFill/>
          <a:ln/>
        </p:spPr>
        <p:txBody>
          <a:bodyPr wrap="square" rtlCol="0" anchor="ctr"/>
          <a:lstStyle/>
          <a:p>
            <a:pPr indent="0" marL="0">
              <a:buNone/>
            </a:pPr>
            <a:r>
              <a:rPr lang="en-US" sz="1400" b="1" dirty="0">
                <a:solidFill>
                  <a:srgbClr val="1F497D"/>
                </a:solidFill>
                <a:latin typeface="Segoe UI" pitchFamily="34" charset="0"/>
                <a:ea typeface="Segoe UI" pitchFamily="34" charset="-122"/>
                <a:cs typeface="Segoe UI" pitchFamily="34" charset="-120"/>
              </a:rPr>
              <a:t>Market Data</a:t>
            </a:r>
            <a:endParaRPr lang="en-US" sz="1400" dirty="0"/>
          </a:p>
        </p:txBody>
      </p:sp>
      <p:sp>
        <p:nvSpPr>
          <p:cNvPr id="12" name="Text 9"/>
          <p:cNvSpPr/>
          <p:nvPr/>
        </p:nvSpPr>
        <p:spPr>
          <a:xfrm>
            <a:off x="7955280" y="3200400"/>
            <a:ext cx="3749040" cy="822960"/>
          </a:xfrm>
          <a:prstGeom prst="rect">
            <a:avLst/>
          </a:prstGeom>
          <a:noFill/>
          <a:ln/>
        </p:spPr>
        <p:txBody>
          <a:bodyPr wrap="square" rtlCol="0" anchor="t">
            <a:normAutofit/>
          </a:bodyPr>
          <a:lstStyle/>
          <a:p>
            <a:pPr indent="0" marL="0">
              <a:buNone/>
            </a:pPr>
            <a:r>
              <a:rPr lang="en-US" sz="1100" dirty="0">
                <a:solidFill>
                  <a:srgbClr val="000000"/>
                </a:solidFill>
                <a:latin typeface="Segoe UI" pitchFamily="34" charset="0"/>
                <a:ea typeface="Segoe UI" pitchFamily="34" charset="-122"/>
                <a:cs typeface="Segoe UI" pitchFamily="34" charset="-120"/>
              </a:rPr>
              <a:t>Transport: 29%</a:t>
            </a:r>
            <a:endParaRPr lang="en-US" sz="1100" dirty="0"/>
          </a:p>
        </p:txBody>
      </p:sp>
      <p:sp>
        <p:nvSpPr>
          <p:cNvPr id="13" name="Shape 10"/>
          <p:cNvSpPr/>
          <p:nvPr/>
        </p:nvSpPr>
        <p:spPr>
          <a:xfrm>
            <a:off x="7772400" y="4297680"/>
            <a:ext cx="73152" cy="1280160"/>
          </a:xfrm>
          <a:prstGeom prst="rect">
            <a:avLst/>
          </a:prstGeom>
          <a:solidFill>
            <a:srgbClr val="1F497D"/>
          </a:solidFill>
          <a:ln/>
        </p:spPr>
      </p:sp>
      <p:sp>
        <p:nvSpPr>
          <p:cNvPr id="14" name="Shape 11"/>
          <p:cNvSpPr/>
          <p:nvPr/>
        </p:nvSpPr>
        <p:spPr>
          <a:xfrm>
            <a:off x="7882128" y="4297680"/>
            <a:ext cx="3913632" cy="1280160"/>
          </a:xfrm>
          <a:prstGeom prst="rect">
            <a:avLst/>
          </a:prstGeom>
          <a:solidFill>
            <a:srgbClr val="FFFFFF"/>
          </a:solidFill>
          <a:ln w="12700">
            <a:solidFill>
              <a:srgbClr val="BFBFBF"/>
            </a:solidFill>
            <a:prstDash val="solid"/>
          </a:ln>
        </p:spPr>
      </p:sp>
      <p:sp>
        <p:nvSpPr>
          <p:cNvPr id="15" name="Text 12"/>
          <p:cNvSpPr/>
          <p:nvPr/>
        </p:nvSpPr>
        <p:spPr>
          <a:xfrm>
            <a:off x="7955280" y="4343400"/>
            <a:ext cx="3749040" cy="320040"/>
          </a:xfrm>
          <a:prstGeom prst="rect">
            <a:avLst/>
          </a:prstGeom>
          <a:noFill/>
          <a:ln/>
        </p:spPr>
        <p:txBody>
          <a:bodyPr wrap="square" rtlCol="0" anchor="ctr"/>
          <a:lstStyle/>
          <a:p>
            <a:pPr indent="0" marL="0">
              <a:buNone/>
            </a:pPr>
            <a:r>
              <a:rPr lang="en-US" sz="1400" b="1" dirty="0">
                <a:solidFill>
                  <a:srgbClr val="1F497D"/>
                </a:solidFill>
                <a:latin typeface="Segoe UI" pitchFamily="34" charset="0"/>
                <a:ea typeface="Segoe UI" pitchFamily="34" charset="-122"/>
                <a:cs typeface="Segoe UI" pitchFamily="34" charset="-120"/>
              </a:rPr>
              <a:t>Opportunity</a:t>
            </a:r>
            <a:endParaRPr lang="en-US" sz="1400" dirty="0"/>
          </a:p>
        </p:txBody>
      </p:sp>
      <p:sp>
        <p:nvSpPr>
          <p:cNvPr id="16" name="Text 13"/>
          <p:cNvSpPr/>
          <p:nvPr/>
        </p:nvSpPr>
        <p:spPr>
          <a:xfrm>
            <a:off x="7955280" y="4663440"/>
            <a:ext cx="3749040" cy="822960"/>
          </a:xfrm>
          <a:prstGeom prst="rect">
            <a:avLst/>
          </a:prstGeom>
          <a:noFill/>
          <a:ln/>
        </p:spPr>
        <p:txBody>
          <a:bodyPr wrap="square" rtlCol="0" anchor="t">
            <a:normAutofit/>
          </a:bodyPr>
          <a:lstStyle/>
          <a:p>
            <a:pPr indent="0" marL="0">
              <a:buNone/>
            </a:pPr>
            <a:r>
              <a:rPr lang="en-US" sz="1100" dirty="0">
                <a:solidFill>
                  <a:srgbClr val="000000"/>
                </a:solidFill>
                <a:latin typeface="Segoe UI" pitchFamily="34" charset="0"/>
                <a:ea typeface="Segoe UI" pitchFamily="34" charset="-122"/>
                <a:cs typeface="Segoe UI" pitchFamily="34" charset="-120"/>
              </a:rPr>
              <a:t>Manufacturing sector expansion driving industrial demand</a:t>
            </a:r>
            <a:endParaRPr lang="en-US" sz="1100" dirty="0"/>
          </a:p>
        </p:txBody>
      </p:sp>
      <p:sp>
        <p:nvSpPr>
          <p:cNvPr id="17" name="Shape 14"/>
          <p:cNvSpPr/>
          <p:nvPr/>
        </p:nvSpPr>
        <p:spPr>
          <a:xfrm>
            <a:off x="1005840" y="2029968"/>
            <a:ext cx="4123944" cy="950976"/>
          </a:xfrm>
          <a:prstGeom prst="rect">
            <a:avLst/>
          </a:prstGeom>
          <a:solidFill>
            <a:srgbClr val="D9D9D9"/>
          </a:solidFill>
          <a:ln w="9525">
            <a:solidFill>
              <a:srgbClr val="BFBFBF"/>
            </a:solidFill>
            <a:prstDash val="solid"/>
          </a:ln>
        </p:spPr>
      </p:sp>
      <p:sp>
        <p:nvSpPr>
          <p:cNvPr id="18" name="Text 15"/>
          <p:cNvSpPr/>
          <p:nvPr/>
        </p:nvSpPr>
        <p:spPr>
          <a:xfrm>
            <a:off x="1097280" y="2121408"/>
            <a:ext cx="3941064" cy="768096"/>
          </a:xfrm>
          <a:prstGeom prst="rect">
            <a:avLst/>
          </a:prstGeom>
          <a:noFill/>
          <a:ln/>
        </p:spPr>
        <p:txBody>
          <a:bodyPr wrap="square" rtlCol="0" anchor="ctr">
            <a:normAutofit/>
          </a:bodyPr>
          <a:lstStyle/>
          <a:p>
            <a:pPr indent="0" marL="0">
              <a:buNone/>
            </a:pPr>
            <a:r>
              <a:rPr lang="en-US" sz="900" dirty="0">
                <a:solidFill>
                  <a:srgbClr val="000000"/>
                </a:solidFill>
                <a:latin typeface="Segoe UI" pitchFamily="34" charset="0"/>
                <a:ea typeface="Segoe UI" pitchFamily="34" charset="-122"/>
                <a:cs typeface="Segoe UI" pitchFamily="34" charset="-120"/>
              </a:rPr>
              <a:t>Industry accounts for 37% of final demand, presenting largest ESCO opportunity</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343632" y="44623"/>
            <a:ext cx="11508821" cy="831830"/>
          </a:xfrm>
          <a:prstGeom prst="rect">
            <a:avLst/>
          </a:prstGeom>
          <a:noFill/>
          <a:ln/>
        </p:spPr>
        <p:txBody>
          <a:bodyPr wrap="square" rtlCol="0" anchor="t">
            <a:normAutofit/>
          </a:bodyPr>
          <a:lstStyle/>
          <a:p>
            <a:pPr indent="0" marL="0">
              <a:buNone/>
            </a:pPr>
            <a:r>
              <a:rPr lang="en-US" sz="2000" dirty="0">
                <a:solidFill>
                  <a:srgbClr val="1F497D"/>
                </a:solidFill>
                <a:latin typeface="Segoe UI" pitchFamily="34" charset="0"/>
                <a:ea typeface="Segoe UI" pitchFamily="34" charset="-122"/>
                <a:cs typeface="Segoe UI" pitchFamily="34" charset="-120"/>
              </a:rPr>
              <a:t>Thailand - Electricity &amp; Power</a:t>
            </a:r>
            <a:endParaRPr lang="en-US" sz="2000" dirty="0"/>
          </a:p>
        </p:txBody>
      </p:sp>
      <p:sp>
        <p:nvSpPr>
          <p:cNvPr id="3" name="Text 1"/>
          <p:cNvSpPr/>
          <p:nvPr/>
        </p:nvSpPr>
        <p:spPr>
          <a:xfrm>
            <a:off x="348112" y="6095390"/>
            <a:ext cx="11516777" cy="246248"/>
          </a:xfrm>
          <a:prstGeom prst="rect">
            <a:avLst/>
          </a:prstGeom>
          <a:noFill/>
          <a:ln/>
        </p:spPr>
        <p:txBody>
          <a:bodyPr wrap="square" rtlCol="0" anchor="t"/>
          <a:lstStyle/>
          <a:p>
            <a:pPr indent="0" marL="0">
              <a:buNone/>
            </a:pPr>
            <a:r>
              <a:rPr lang="en-US" sz="1000" dirty="0">
                <a:solidFill>
                  <a:srgbClr val="999999"/>
                </a:solidFill>
                <a:latin typeface="Segoe UI" pitchFamily="34" charset="0"/>
                <a:ea typeface="Segoe UI" pitchFamily="34" charset="-122"/>
                <a:cs typeface="Segoe UI" pitchFamily="34" charset="-120"/>
              </a:rPr>
              <a:t>Source: YCP Analysis</a:t>
            </a:r>
            <a:endParaRPr lang="en-US" sz="1000" dirty="0"/>
          </a:p>
        </p:txBody>
      </p:sp>
      <p:graphicFrame>
        <p:nvGraphicFramePr>
          <p:cNvPr id="4" name="Chart 0" descr=""/>
          <p:cNvGraphicFramePr/>
          <p:nvPr/>
        </p:nvGraphicFramePr>
        <p:xfrm>
          <a:off x="338328" y="1695298"/>
          <a:ext cx="5582046" cy="34760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772400" y="1371600"/>
            <a:ext cx="73152" cy="1280160"/>
          </a:xfrm>
          <a:prstGeom prst="rect">
            <a:avLst/>
          </a:prstGeom>
          <a:solidFill>
            <a:srgbClr val="1F497D"/>
          </a:solidFill>
          <a:ln/>
        </p:spPr>
      </p:sp>
      <p:sp>
        <p:nvSpPr>
          <p:cNvPr id="6" name="Shape 3"/>
          <p:cNvSpPr/>
          <p:nvPr/>
        </p:nvSpPr>
        <p:spPr>
          <a:xfrm>
            <a:off x="7882128" y="1371600"/>
            <a:ext cx="3913632" cy="1280160"/>
          </a:xfrm>
          <a:prstGeom prst="rect">
            <a:avLst/>
          </a:prstGeom>
          <a:solidFill>
            <a:srgbClr val="FFFFFF"/>
          </a:solidFill>
          <a:ln w="12700">
            <a:solidFill>
              <a:srgbClr val="BFBFBF"/>
            </a:solidFill>
            <a:prstDash val="solid"/>
          </a:ln>
        </p:spPr>
      </p:sp>
      <p:sp>
        <p:nvSpPr>
          <p:cNvPr id="7" name="Text 4"/>
          <p:cNvSpPr/>
          <p:nvPr/>
        </p:nvSpPr>
        <p:spPr>
          <a:xfrm>
            <a:off x="7955280" y="1417320"/>
            <a:ext cx="3749040" cy="320040"/>
          </a:xfrm>
          <a:prstGeom prst="rect">
            <a:avLst/>
          </a:prstGeom>
          <a:noFill/>
          <a:ln/>
        </p:spPr>
        <p:txBody>
          <a:bodyPr wrap="square" rtlCol="0" anchor="ctr"/>
          <a:lstStyle/>
          <a:p>
            <a:pPr indent="0" marL="0">
              <a:buNone/>
            </a:pPr>
            <a:r>
              <a:rPr lang="en-US" sz="1400" b="1" dirty="0">
                <a:solidFill>
                  <a:srgbClr val="1F497D"/>
                </a:solidFill>
                <a:latin typeface="Segoe UI" pitchFamily="34" charset="0"/>
                <a:ea typeface="Segoe UI" pitchFamily="34" charset="-122"/>
                <a:cs typeface="Segoe UI" pitchFamily="34" charset="-120"/>
              </a:rPr>
              <a:t>Key Insight</a:t>
            </a:r>
            <a:endParaRPr lang="en-US" sz="1400" dirty="0"/>
          </a:p>
        </p:txBody>
      </p:sp>
      <p:sp>
        <p:nvSpPr>
          <p:cNvPr id="8" name="Text 5"/>
          <p:cNvSpPr/>
          <p:nvPr/>
        </p:nvSpPr>
        <p:spPr>
          <a:xfrm>
            <a:off x="7955280" y="1737360"/>
            <a:ext cx="3749040" cy="822960"/>
          </a:xfrm>
          <a:prstGeom prst="rect">
            <a:avLst/>
          </a:prstGeom>
          <a:noFill/>
          <a:ln/>
        </p:spPr>
        <p:txBody>
          <a:bodyPr wrap="square" rtlCol="0" anchor="t">
            <a:normAutofit/>
          </a:bodyPr>
          <a:lstStyle/>
          <a:p>
            <a:pPr indent="0" marL="0">
              <a:buNone/>
            </a:pPr>
            <a:r>
              <a:rPr lang="en-US" sz="1100" dirty="0">
                <a:solidFill>
                  <a:srgbClr val="000000"/>
                </a:solidFill>
                <a:latin typeface="Segoe UI" pitchFamily="34" charset="0"/>
                <a:ea typeface="Segoe UI" pitchFamily="34" charset="-122"/>
                <a:cs typeface="Segoe UI" pitchFamily="34" charset="-120"/>
              </a:rPr>
              <a:t>Demand Growth: 3.2% CAGR 2020-2023</a:t>
            </a:r>
            <a:endParaRPr lang="en-US" sz="1100" dirty="0"/>
          </a:p>
        </p:txBody>
      </p:sp>
      <p:sp>
        <p:nvSpPr>
          <p:cNvPr id="9" name="Shape 6"/>
          <p:cNvSpPr/>
          <p:nvPr/>
        </p:nvSpPr>
        <p:spPr>
          <a:xfrm>
            <a:off x="7772400" y="2834640"/>
            <a:ext cx="73152" cy="1280160"/>
          </a:xfrm>
          <a:prstGeom prst="rect">
            <a:avLst/>
          </a:prstGeom>
          <a:solidFill>
            <a:srgbClr val="1F497D"/>
          </a:solidFill>
          <a:ln/>
        </p:spPr>
      </p:sp>
      <p:sp>
        <p:nvSpPr>
          <p:cNvPr id="10" name="Shape 7"/>
          <p:cNvSpPr/>
          <p:nvPr/>
        </p:nvSpPr>
        <p:spPr>
          <a:xfrm>
            <a:off x="7882128" y="2834640"/>
            <a:ext cx="3913632" cy="1280160"/>
          </a:xfrm>
          <a:prstGeom prst="rect">
            <a:avLst/>
          </a:prstGeom>
          <a:solidFill>
            <a:srgbClr val="FFFFFF"/>
          </a:solidFill>
          <a:ln w="12700">
            <a:solidFill>
              <a:srgbClr val="BFBFBF"/>
            </a:solidFill>
            <a:prstDash val="solid"/>
          </a:ln>
        </p:spPr>
      </p:sp>
      <p:sp>
        <p:nvSpPr>
          <p:cNvPr id="11" name="Text 8"/>
          <p:cNvSpPr/>
          <p:nvPr/>
        </p:nvSpPr>
        <p:spPr>
          <a:xfrm>
            <a:off x="7955280" y="2880360"/>
            <a:ext cx="3749040" cy="320040"/>
          </a:xfrm>
          <a:prstGeom prst="rect">
            <a:avLst/>
          </a:prstGeom>
          <a:noFill/>
          <a:ln/>
        </p:spPr>
        <p:txBody>
          <a:bodyPr wrap="square" rtlCol="0" anchor="ctr"/>
          <a:lstStyle/>
          <a:p>
            <a:pPr indent="0" marL="0">
              <a:buNone/>
            </a:pPr>
            <a:r>
              <a:rPr lang="en-US" sz="1400" b="1" dirty="0">
                <a:solidFill>
                  <a:srgbClr val="1F497D"/>
                </a:solidFill>
                <a:latin typeface="Segoe UI" pitchFamily="34" charset="0"/>
                <a:ea typeface="Segoe UI" pitchFamily="34" charset="-122"/>
                <a:cs typeface="Segoe UI" pitchFamily="34" charset="-120"/>
              </a:rPr>
              <a:t>Market Data</a:t>
            </a:r>
            <a:endParaRPr lang="en-US" sz="1400" dirty="0"/>
          </a:p>
        </p:txBody>
      </p:sp>
      <p:sp>
        <p:nvSpPr>
          <p:cNvPr id="12" name="Text 9"/>
          <p:cNvSpPr/>
          <p:nvPr/>
        </p:nvSpPr>
        <p:spPr>
          <a:xfrm>
            <a:off x="7955280" y="3200400"/>
            <a:ext cx="3749040" cy="822960"/>
          </a:xfrm>
          <a:prstGeom prst="rect">
            <a:avLst/>
          </a:prstGeom>
          <a:noFill/>
          <a:ln/>
        </p:spPr>
        <p:txBody>
          <a:bodyPr wrap="square" rtlCol="0" anchor="t">
            <a:normAutofit/>
          </a:bodyPr>
          <a:lstStyle/>
          <a:p>
            <a:pPr indent="0" marL="0">
              <a:buNone/>
            </a:pPr>
            <a:r>
              <a:rPr lang="en-US" sz="1100" dirty="0">
                <a:solidFill>
                  <a:srgbClr val="000000"/>
                </a:solidFill>
                <a:latin typeface="Segoe UI" pitchFamily="34" charset="0"/>
                <a:ea typeface="Segoe UI" pitchFamily="34" charset="-122"/>
                <a:cs typeface="Segoe UI" pitchFamily="34" charset="-120"/>
              </a:rPr>
              <a:t>Capacity: 53.7 GW installed (2023)</a:t>
            </a:r>
            <a:endParaRPr lang="en-US" sz="1100" dirty="0"/>
          </a:p>
        </p:txBody>
      </p:sp>
      <p:sp>
        <p:nvSpPr>
          <p:cNvPr id="13" name="Shape 10"/>
          <p:cNvSpPr/>
          <p:nvPr/>
        </p:nvSpPr>
        <p:spPr>
          <a:xfrm>
            <a:off x="7772400" y="4297680"/>
            <a:ext cx="73152" cy="1280160"/>
          </a:xfrm>
          <a:prstGeom prst="rect">
            <a:avLst/>
          </a:prstGeom>
          <a:solidFill>
            <a:srgbClr val="1F497D"/>
          </a:solidFill>
          <a:ln/>
        </p:spPr>
      </p:sp>
      <p:sp>
        <p:nvSpPr>
          <p:cNvPr id="14" name="Shape 11"/>
          <p:cNvSpPr/>
          <p:nvPr/>
        </p:nvSpPr>
        <p:spPr>
          <a:xfrm>
            <a:off x="7882128" y="4297680"/>
            <a:ext cx="3913632" cy="1280160"/>
          </a:xfrm>
          <a:prstGeom prst="rect">
            <a:avLst/>
          </a:prstGeom>
          <a:solidFill>
            <a:srgbClr val="FFFFFF"/>
          </a:solidFill>
          <a:ln w="12700">
            <a:solidFill>
              <a:srgbClr val="BFBFBF"/>
            </a:solidFill>
            <a:prstDash val="solid"/>
          </a:ln>
        </p:spPr>
      </p:sp>
      <p:sp>
        <p:nvSpPr>
          <p:cNvPr id="15" name="Text 12"/>
          <p:cNvSpPr/>
          <p:nvPr/>
        </p:nvSpPr>
        <p:spPr>
          <a:xfrm>
            <a:off x="7955280" y="4343400"/>
            <a:ext cx="3749040" cy="320040"/>
          </a:xfrm>
          <a:prstGeom prst="rect">
            <a:avLst/>
          </a:prstGeom>
          <a:noFill/>
          <a:ln/>
        </p:spPr>
        <p:txBody>
          <a:bodyPr wrap="square" rtlCol="0" anchor="ctr"/>
          <a:lstStyle/>
          <a:p>
            <a:pPr indent="0" marL="0">
              <a:buNone/>
            </a:pPr>
            <a:r>
              <a:rPr lang="en-US" sz="1400" b="1" dirty="0">
                <a:solidFill>
                  <a:srgbClr val="1F497D"/>
                </a:solidFill>
                <a:latin typeface="Segoe UI" pitchFamily="34" charset="0"/>
                <a:ea typeface="Segoe UI" pitchFamily="34" charset="-122"/>
                <a:cs typeface="Segoe UI" pitchFamily="34" charset="-120"/>
              </a:rPr>
              <a:t>Opportunity</a:t>
            </a:r>
            <a:endParaRPr lang="en-US" sz="1400" dirty="0"/>
          </a:p>
        </p:txBody>
      </p:sp>
      <p:sp>
        <p:nvSpPr>
          <p:cNvPr id="16" name="Text 13"/>
          <p:cNvSpPr/>
          <p:nvPr/>
        </p:nvSpPr>
        <p:spPr>
          <a:xfrm>
            <a:off x="7955280" y="4663440"/>
            <a:ext cx="3749040" cy="822960"/>
          </a:xfrm>
          <a:prstGeom prst="rect">
            <a:avLst/>
          </a:prstGeom>
          <a:noFill/>
          <a:ln/>
        </p:spPr>
        <p:txBody>
          <a:bodyPr wrap="square" rtlCol="0" anchor="t">
            <a:normAutofit/>
          </a:bodyPr>
          <a:lstStyle/>
          <a:p>
            <a:pPr indent="0" marL="0">
              <a:buNone/>
            </a:pPr>
            <a:r>
              <a:rPr lang="en-US" sz="1100" dirty="0">
                <a:solidFill>
                  <a:srgbClr val="000000"/>
                </a:solidFill>
                <a:latin typeface="Segoe UI" pitchFamily="34" charset="0"/>
                <a:ea typeface="Segoe UI" pitchFamily="34" charset="-122"/>
                <a:cs typeface="Segoe UI" pitchFamily="34" charset="-120"/>
              </a:rPr>
              <a:t>Rapid solar PV deployment with 4.2 GW added in 2022-2023</a:t>
            </a:r>
            <a:endParaRPr lang="en-US" sz="1100" dirty="0"/>
          </a:p>
        </p:txBody>
      </p:sp>
      <p:sp>
        <p:nvSpPr>
          <p:cNvPr id="17" name="Shape 14"/>
          <p:cNvSpPr/>
          <p:nvPr/>
        </p:nvSpPr>
        <p:spPr>
          <a:xfrm>
            <a:off x="1005840" y="2029968"/>
            <a:ext cx="4123944" cy="950976"/>
          </a:xfrm>
          <a:prstGeom prst="rect">
            <a:avLst/>
          </a:prstGeom>
          <a:solidFill>
            <a:srgbClr val="D9D9D9"/>
          </a:solidFill>
          <a:ln w="9525">
            <a:solidFill>
              <a:srgbClr val="BFBFBF"/>
            </a:solidFill>
            <a:prstDash val="solid"/>
          </a:ln>
        </p:spPr>
      </p:sp>
      <p:sp>
        <p:nvSpPr>
          <p:cNvPr id="18" name="Text 15"/>
          <p:cNvSpPr/>
          <p:nvPr/>
        </p:nvSpPr>
        <p:spPr>
          <a:xfrm>
            <a:off x="1097280" y="2121408"/>
            <a:ext cx="3941064" cy="768096"/>
          </a:xfrm>
          <a:prstGeom prst="rect">
            <a:avLst/>
          </a:prstGeom>
          <a:noFill/>
          <a:ln/>
        </p:spPr>
        <p:txBody>
          <a:bodyPr wrap="square" rtlCol="0" anchor="ctr">
            <a:normAutofit/>
          </a:bodyPr>
          <a:lstStyle/>
          <a:p>
            <a:pPr indent="0" marL="0">
              <a:buNone/>
            </a:pPr>
            <a:r>
              <a:rPr lang="en-US" sz="900" dirty="0">
                <a:solidFill>
                  <a:srgbClr val="000000"/>
                </a:solidFill>
                <a:latin typeface="Segoe UI" pitchFamily="34" charset="0"/>
                <a:ea typeface="Segoe UI" pitchFamily="34" charset="-122"/>
                <a:cs typeface="Segoe UI" pitchFamily="34" charset="-120"/>
              </a:rPr>
              <a:t>Peak demand growing 3.2% annually; renewable capacity additions outpacing thermal since 2022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343632" y="44623"/>
            <a:ext cx="11508821" cy="831830"/>
          </a:xfrm>
          <a:prstGeom prst="rect">
            <a:avLst/>
          </a:prstGeom>
          <a:noFill/>
          <a:ln/>
        </p:spPr>
        <p:txBody>
          <a:bodyPr wrap="square" rtlCol="0" anchor="t">
            <a:normAutofit/>
          </a:bodyPr>
          <a:lstStyle/>
          <a:p>
            <a:pPr indent="0" marL="0">
              <a:buNone/>
            </a:pPr>
            <a:r>
              <a:rPr lang="en-US" sz="2000" dirty="0">
                <a:solidFill>
                  <a:srgbClr val="1F497D"/>
                </a:solidFill>
                <a:latin typeface="Segoe UI" pitchFamily="34" charset="0"/>
                <a:ea typeface="Segoe UI" pitchFamily="34" charset="-122"/>
                <a:cs typeface="Segoe UI" pitchFamily="34" charset="-120"/>
              </a:rPr>
              <a:t>Thailand - Gas &amp; LNG Market</a:t>
            </a:r>
            <a:endParaRPr lang="en-US" sz="2000" dirty="0"/>
          </a:p>
        </p:txBody>
      </p:sp>
      <p:sp>
        <p:nvSpPr>
          <p:cNvPr id="3" name="Text 1"/>
          <p:cNvSpPr/>
          <p:nvPr/>
        </p:nvSpPr>
        <p:spPr>
          <a:xfrm>
            <a:off x="299557" y="6092830"/>
            <a:ext cx="11516777" cy="400141"/>
          </a:xfrm>
          <a:prstGeom prst="rect">
            <a:avLst/>
          </a:prstGeom>
          <a:noFill/>
          <a:ln/>
        </p:spPr>
        <p:txBody>
          <a:bodyPr wrap="square" rtlCol="0" anchor="t"/>
          <a:lstStyle/>
          <a:p>
            <a:pPr indent="0" marL="0">
              <a:buNone/>
            </a:pPr>
            <a:r>
              <a:rPr lang="en-US" sz="1000" dirty="0">
                <a:solidFill>
                  <a:srgbClr val="999999"/>
                </a:solidFill>
                <a:latin typeface="Segoe UI" pitchFamily="34" charset="0"/>
                <a:ea typeface="Segoe UI" pitchFamily="34" charset="-122"/>
                <a:cs typeface="Segoe UI" pitchFamily="34" charset="-120"/>
              </a:rPr>
              <a:t>Source: YCP Analysis</a:t>
            </a:r>
            <a:endParaRPr lang="en-US" sz="1000" dirty="0"/>
          </a:p>
        </p:txBody>
      </p:sp>
      <p:graphicFrame>
        <p:nvGraphicFramePr>
          <p:cNvPr id="4" name="Chart 0" descr=""/>
          <p:cNvGraphicFramePr/>
          <p:nvPr/>
        </p:nvGraphicFramePr>
        <p:xfrm>
          <a:off x="348204" y="1712763"/>
          <a:ext cx="11508821" cy="4380067"/>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772400" y="1371600"/>
            <a:ext cx="73152" cy="1280160"/>
          </a:xfrm>
          <a:prstGeom prst="rect">
            <a:avLst/>
          </a:prstGeom>
          <a:solidFill>
            <a:srgbClr val="1F497D"/>
          </a:solidFill>
          <a:ln/>
        </p:spPr>
      </p:sp>
      <p:sp>
        <p:nvSpPr>
          <p:cNvPr id="6" name="Shape 3"/>
          <p:cNvSpPr/>
          <p:nvPr/>
        </p:nvSpPr>
        <p:spPr>
          <a:xfrm>
            <a:off x="7882128" y="1371600"/>
            <a:ext cx="3913632" cy="1280160"/>
          </a:xfrm>
          <a:prstGeom prst="rect">
            <a:avLst/>
          </a:prstGeom>
          <a:solidFill>
            <a:srgbClr val="FFFFFF"/>
          </a:solidFill>
          <a:ln w="12700">
            <a:solidFill>
              <a:srgbClr val="BFBFBF"/>
            </a:solidFill>
            <a:prstDash val="solid"/>
          </a:ln>
        </p:spPr>
      </p:sp>
      <p:sp>
        <p:nvSpPr>
          <p:cNvPr id="7" name="Text 4"/>
          <p:cNvSpPr/>
          <p:nvPr/>
        </p:nvSpPr>
        <p:spPr>
          <a:xfrm>
            <a:off x="7955280" y="1417320"/>
            <a:ext cx="3749040" cy="320040"/>
          </a:xfrm>
          <a:prstGeom prst="rect">
            <a:avLst/>
          </a:prstGeom>
          <a:noFill/>
          <a:ln/>
        </p:spPr>
        <p:txBody>
          <a:bodyPr wrap="square" rtlCol="0" anchor="ctr"/>
          <a:lstStyle/>
          <a:p>
            <a:pPr indent="0" marL="0">
              <a:buNone/>
            </a:pPr>
            <a:r>
              <a:rPr lang="en-US" sz="1400" b="1" dirty="0">
                <a:solidFill>
                  <a:srgbClr val="1F497D"/>
                </a:solidFill>
                <a:latin typeface="Segoe UI" pitchFamily="34" charset="0"/>
                <a:ea typeface="Segoe UI" pitchFamily="34" charset="-122"/>
                <a:cs typeface="Segoe UI" pitchFamily="34" charset="-120"/>
              </a:rPr>
              <a:t>Key Insight</a:t>
            </a:r>
            <a:endParaRPr lang="en-US" sz="1400" dirty="0"/>
          </a:p>
        </p:txBody>
      </p:sp>
      <p:sp>
        <p:nvSpPr>
          <p:cNvPr id="8" name="Text 5"/>
          <p:cNvSpPr/>
          <p:nvPr/>
        </p:nvSpPr>
        <p:spPr>
          <a:xfrm>
            <a:off x="7955280" y="1737360"/>
            <a:ext cx="3749040" cy="822960"/>
          </a:xfrm>
          <a:prstGeom prst="rect">
            <a:avLst/>
          </a:prstGeom>
          <a:noFill/>
          <a:ln/>
        </p:spPr>
        <p:txBody>
          <a:bodyPr wrap="square" rtlCol="0" anchor="t">
            <a:normAutofit/>
          </a:bodyPr>
          <a:lstStyle/>
          <a:p>
            <a:pPr indent="0" marL="0">
              <a:buNone/>
            </a:pPr>
            <a:r>
              <a:rPr lang="en-US" sz="1100" dirty="0">
                <a:solidFill>
                  <a:srgbClr val="000000"/>
                </a:solidFill>
                <a:latin typeface="Segoe UI" pitchFamily="34" charset="0"/>
                <a:ea typeface="Segoe UI" pitchFamily="34" charset="-122"/>
                <a:cs typeface="Segoe UI" pitchFamily="34" charset="-120"/>
              </a:rPr>
              <a:t>LNG Import: 19 MTPA</a:t>
            </a:r>
            <a:endParaRPr lang="en-US" sz="1100" dirty="0"/>
          </a:p>
        </p:txBody>
      </p:sp>
      <p:sp>
        <p:nvSpPr>
          <p:cNvPr id="9" name="Shape 6"/>
          <p:cNvSpPr/>
          <p:nvPr/>
        </p:nvSpPr>
        <p:spPr>
          <a:xfrm>
            <a:off x="7772400" y="2834640"/>
            <a:ext cx="73152" cy="1280160"/>
          </a:xfrm>
          <a:prstGeom prst="rect">
            <a:avLst/>
          </a:prstGeom>
          <a:solidFill>
            <a:srgbClr val="1F497D"/>
          </a:solidFill>
          <a:ln/>
        </p:spPr>
      </p:sp>
      <p:sp>
        <p:nvSpPr>
          <p:cNvPr id="10" name="Shape 7"/>
          <p:cNvSpPr/>
          <p:nvPr/>
        </p:nvSpPr>
        <p:spPr>
          <a:xfrm>
            <a:off x="7882128" y="2834640"/>
            <a:ext cx="3913632" cy="1280160"/>
          </a:xfrm>
          <a:prstGeom prst="rect">
            <a:avLst/>
          </a:prstGeom>
          <a:solidFill>
            <a:srgbClr val="FFFFFF"/>
          </a:solidFill>
          <a:ln w="12700">
            <a:solidFill>
              <a:srgbClr val="BFBFBF"/>
            </a:solidFill>
            <a:prstDash val="solid"/>
          </a:ln>
        </p:spPr>
      </p:sp>
      <p:sp>
        <p:nvSpPr>
          <p:cNvPr id="11" name="Text 8"/>
          <p:cNvSpPr/>
          <p:nvPr/>
        </p:nvSpPr>
        <p:spPr>
          <a:xfrm>
            <a:off x="7955280" y="2880360"/>
            <a:ext cx="3749040" cy="320040"/>
          </a:xfrm>
          <a:prstGeom prst="rect">
            <a:avLst/>
          </a:prstGeom>
          <a:noFill/>
          <a:ln/>
        </p:spPr>
        <p:txBody>
          <a:bodyPr wrap="square" rtlCol="0" anchor="ctr"/>
          <a:lstStyle/>
          <a:p>
            <a:pPr indent="0" marL="0">
              <a:buNone/>
            </a:pPr>
            <a:r>
              <a:rPr lang="en-US" sz="1400" b="1" dirty="0">
                <a:solidFill>
                  <a:srgbClr val="1F497D"/>
                </a:solidFill>
                <a:latin typeface="Segoe UI" pitchFamily="34" charset="0"/>
                <a:ea typeface="Segoe UI" pitchFamily="34" charset="-122"/>
                <a:cs typeface="Segoe UI" pitchFamily="34" charset="-120"/>
              </a:rPr>
              <a:t>Market Data</a:t>
            </a:r>
            <a:endParaRPr lang="en-US" sz="1400" dirty="0"/>
          </a:p>
        </p:txBody>
      </p:sp>
      <p:sp>
        <p:nvSpPr>
          <p:cNvPr id="12" name="Text 9"/>
          <p:cNvSpPr/>
          <p:nvPr/>
        </p:nvSpPr>
        <p:spPr>
          <a:xfrm>
            <a:off x="7955280" y="3200400"/>
            <a:ext cx="3749040" cy="822960"/>
          </a:xfrm>
          <a:prstGeom prst="rect">
            <a:avLst/>
          </a:prstGeom>
          <a:noFill/>
          <a:ln/>
        </p:spPr>
        <p:txBody>
          <a:bodyPr wrap="square" rtlCol="0" anchor="t">
            <a:normAutofit/>
          </a:bodyPr>
          <a:lstStyle/>
          <a:p>
            <a:pPr indent="0" marL="0">
              <a:buNone/>
            </a:pPr>
            <a:r>
              <a:rPr lang="en-US" sz="1100" dirty="0">
                <a:solidFill>
                  <a:srgbClr val="000000"/>
                </a:solidFill>
                <a:latin typeface="Segoe UI" pitchFamily="34" charset="0"/>
                <a:ea typeface="Segoe UI" pitchFamily="34" charset="-122"/>
                <a:cs typeface="Segoe UI" pitchFamily="34" charset="-120"/>
              </a:rPr>
              <a:t>Planned: 24 MTPA by 2027</a:t>
            </a:r>
            <a:endParaRPr lang="en-US" sz="1100" dirty="0"/>
          </a:p>
        </p:txBody>
      </p:sp>
      <p:sp>
        <p:nvSpPr>
          <p:cNvPr id="13" name="Shape 10"/>
          <p:cNvSpPr/>
          <p:nvPr/>
        </p:nvSpPr>
        <p:spPr>
          <a:xfrm>
            <a:off x="7772400" y="4297680"/>
            <a:ext cx="73152" cy="1280160"/>
          </a:xfrm>
          <a:prstGeom prst="rect">
            <a:avLst/>
          </a:prstGeom>
          <a:solidFill>
            <a:srgbClr val="1F497D"/>
          </a:solidFill>
          <a:ln/>
        </p:spPr>
      </p:sp>
      <p:sp>
        <p:nvSpPr>
          <p:cNvPr id="14" name="Shape 11"/>
          <p:cNvSpPr/>
          <p:nvPr/>
        </p:nvSpPr>
        <p:spPr>
          <a:xfrm>
            <a:off x="7882128" y="4297680"/>
            <a:ext cx="3913632" cy="1280160"/>
          </a:xfrm>
          <a:prstGeom prst="rect">
            <a:avLst/>
          </a:prstGeom>
          <a:solidFill>
            <a:srgbClr val="FFFFFF"/>
          </a:solidFill>
          <a:ln w="12700">
            <a:solidFill>
              <a:srgbClr val="BFBFBF"/>
            </a:solidFill>
            <a:prstDash val="solid"/>
          </a:ln>
        </p:spPr>
      </p:sp>
      <p:sp>
        <p:nvSpPr>
          <p:cNvPr id="15" name="Text 12"/>
          <p:cNvSpPr/>
          <p:nvPr/>
        </p:nvSpPr>
        <p:spPr>
          <a:xfrm>
            <a:off x="7955280" y="4343400"/>
            <a:ext cx="3749040" cy="320040"/>
          </a:xfrm>
          <a:prstGeom prst="rect">
            <a:avLst/>
          </a:prstGeom>
          <a:noFill/>
          <a:ln/>
        </p:spPr>
        <p:txBody>
          <a:bodyPr wrap="square" rtlCol="0" anchor="ctr"/>
          <a:lstStyle/>
          <a:p>
            <a:pPr indent="0" marL="0">
              <a:buNone/>
            </a:pPr>
            <a:r>
              <a:rPr lang="en-US" sz="1400" b="1" dirty="0">
                <a:solidFill>
                  <a:srgbClr val="1F497D"/>
                </a:solidFill>
                <a:latin typeface="Segoe UI" pitchFamily="34" charset="0"/>
                <a:ea typeface="Segoe UI" pitchFamily="34" charset="-122"/>
                <a:cs typeface="Segoe UI" pitchFamily="34" charset="-120"/>
              </a:rPr>
              <a:t>Opportunity</a:t>
            </a:r>
            <a:endParaRPr lang="en-US" sz="1400" dirty="0"/>
          </a:p>
        </p:txBody>
      </p:sp>
      <p:sp>
        <p:nvSpPr>
          <p:cNvPr id="16" name="Text 13"/>
          <p:cNvSpPr/>
          <p:nvPr/>
        </p:nvSpPr>
        <p:spPr>
          <a:xfrm>
            <a:off x="7955280" y="4663440"/>
            <a:ext cx="3749040" cy="822960"/>
          </a:xfrm>
          <a:prstGeom prst="rect">
            <a:avLst/>
          </a:prstGeom>
          <a:noFill/>
          <a:ln/>
        </p:spPr>
        <p:txBody>
          <a:bodyPr wrap="square" rtlCol="0" anchor="t">
            <a:normAutofit/>
          </a:bodyPr>
          <a:lstStyle/>
          <a:p>
            <a:pPr indent="0" marL="0">
              <a:buNone/>
            </a:pPr>
            <a:r>
              <a:rPr lang="en-US" sz="1100" dirty="0">
                <a:solidFill>
                  <a:srgbClr val="000000"/>
                </a:solidFill>
                <a:latin typeface="Segoe UI" pitchFamily="34" charset="0"/>
                <a:ea typeface="Segoe UI" pitchFamily="34" charset="-122"/>
                <a:cs typeface="Segoe UI" pitchFamily="34" charset="-120"/>
              </a:rPr>
              <a:t>Pipeline: 4,500 MMscfd</a:t>
            </a:r>
            <a:endParaRPr lang="en-US" sz="1100" dirty="0"/>
          </a:p>
        </p:txBody>
      </p:sp>
      <p:sp>
        <p:nvSpPr>
          <p:cNvPr id="17" name="Shape 14"/>
          <p:cNvSpPr/>
          <p:nvPr/>
        </p:nvSpPr>
        <p:spPr>
          <a:xfrm>
            <a:off x="1005840" y="2029968"/>
            <a:ext cx="4123944" cy="950976"/>
          </a:xfrm>
          <a:prstGeom prst="rect">
            <a:avLst/>
          </a:prstGeom>
          <a:solidFill>
            <a:srgbClr val="D9D9D9"/>
          </a:solidFill>
          <a:ln w="9525">
            <a:solidFill>
              <a:srgbClr val="BFBFBF"/>
            </a:solidFill>
            <a:prstDash val="solid"/>
          </a:ln>
        </p:spPr>
      </p:sp>
      <p:sp>
        <p:nvSpPr>
          <p:cNvPr id="18" name="Text 15"/>
          <p:cNvSpPr/>
          <p:nvPr/>
        </p:nvSpPr>
        <p:spPr>
          <a:xfrm>
            <a:off x="1097280" y="2121408"/>
            <a:ext cx="3941064" cy="768096"/>
          </a:xfrm>
          <a:prstGeom prst="rect">
            <a:avLst/>
          </a:prstGeom>
          <a:noFill/>
          <a:ln/>
        </p:spPr>
        <p:txBody>
          <a:bodyPr wrap="square" rtlCol="0" anchor="ctr">
            <a:normAutofit/>
          </a:bodyPr>
          <a:lstStyle/>
          <a:p>
            <a:pPr indent="0" marL="0">
              <a:buNone/>
            </a:pPr>
            <a:r>
              <a:rPr lang="en-US" sz="900" dirty="0">
                <a:solidFill>
                  <a:srgbClr val="000000"/>
                </a:solidFill>
                <a:latin typeface="Segoe UI" pitchFamily="34" charset="0"/>
                <a:ea typeface="Segoe UI" pitchFamily="34" charset="-122"/>
                <a:cs typeface="Segoe UI" pitchFamily="34" charset="-120"/>
              </a:rPr>
              <a:t>Domestic gas production declining 5% annually; LNG imports surging to fill 35% of demand by 2025</a:t>
            </a:r>
            <a:endParaRPr lang="en-US" sz="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43632" y="5166360"/>
          <a:ext cx="11508821" cy="731520"/>
        </p:xfrm>
        <a:graphic>
          <a:graphicData uri="http://schemas.openxmlformats.org/drawingml/2006/table">
            <a:tbl>
              <a:tblPr/>
              <a:tblGrid>
                <a:gridCol w="5167226"/>
                <a:gridCol w="2113865"/>
                <a:gridCol w="4227730"/>
              </a:tblGrid>
              <a:tr h="18288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Terminal</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Capacity</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Utilization</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18288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Map Ta Phut LNG</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11.5 MTPA</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78%</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18288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Nong Fab LNG (Phase 2)</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7.5 MTPA</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42%</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18288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Floating LNG (planned)</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5.0 MTPA</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Under construction</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343632" y="44623"/>
            <a:ext cx="11508821" cy="831830"/>
          </a:xfrm>
          <a:prstGeom prst="rect">
            <a:avLst/>
          </a:prstGeom>
          <a:noFill/>
          <a:ln/>
        </p:spPr>
        <p:txBody>
          <a:bodyPr wrap="square" rtlCol="0" anchor="t">
            <a:normAutofit/>
          </a:bodyPr>
          <a:lstStyle/>
          <a:p>
            <a:pPr indent="0" marL="0">
              <a:buNone/>
            </a:pPr>
            <a:r>
              <a:rPr lang="en-US" sz="2000" dirty="0">
                <a:solidFill>
                  <a:srgbClr val="1F497D"/>
                </a:solidFill>
                <a:latin typeface="Segoe UI" pitchFamily="34" charset="0"/>
                <a:ea typeface="Segoe UI" pitchFamily="34" charset="-122"/>
                <a:cs typeface="Segoe UI" pitchFamily="34" charset="-120"/>
              </a:rPr>
              <a:t>Thailand - Energy Pricing</a:t>
            </a:r>
            <a:endParaRPr lang="en-US" sz="2000" dirty="0"/>
          </a:p>
        </p:txBody>
      </p:sp>
      <p:sp>
        <p:nvSpPr>
          <p:cNvPr id="3" name="Text 1"/>
          <p:cNvSpPr/>
          <p:nvPr/>
        </p:nvSpPr>
        <p:spPr>
          <a:xfrm>
            <a:off x="299557" y="6092830"/>
            <a:ext cx="11516777" cy="246248"/>
          </a:xfrm>
          <a:prstGeom prst="rect">
            <a:avLst/>
          </a:prstGeom>
          <a:noFill/>
          <a:ln/>
        </p:spPr>
        <p:txBody>
          <a:bodyPr wrap="square" rtlCol="0" anchor="t"/>
          <a:lstStyle/>
          <a:p>
            <a:pPr indent="0" marL="0">
              <a:buNone/>
            </a:pPr>
            <a:r>
              <a:rPr lang="en-US" sz="1000" dirty="0">
                <a:solidFill>
                  <a:srgbClr val="999999"/>
                </a:solidFill>
                <a:latin typeface="Segoe UI" pitchFamily="34" charset="0"/>
                <a:ea typeface="Segoe UI" pitchFamily="34" charset="-122"/>
                <a:cs typeface="Segoe UI" pitchFamily="34" charset="-120"/>
              </a:rPr>
              <a:t>Source: YCP Analysis</a:t>
            </a:r>
            <a:endParaRPr lang="en-US" sz="1000" dirty="0"/>
          </a:p>
        </p:txBody>
      </p:sp>
      <p:graphicFrame>
        <p:nvGraphicFramePr>
          <p:cNvPr id="4" name="Chart 0" descr=""/>
          <p:cNvGraphicFramePr/>
          <p:nvPr/>
        </p:nvGraphicFramePr>
        <p:xfrm>
          <a:off x="334945" y="1610807"/>
          <a:ext cx="11517508" cy="4487967"/>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772400" y="1371600"/>
            <a:ext cx="73152" cy="1280160"/>
          </a:xfrm>
          <a:prstGeom prst="rect">
            <a:avLst/>
          </a:prstGeom>
          <a:solidFill>
            <a:srgbClr val="1F497D"/>
          </a:solidFill>
          <a:ln/>
        </p:spPr>
      </p:sp>
      <p:sp>
        <p:nvSpPr>
          <p:cNvPr id="6" name="Shape 3"/>
          <p:cNvSpPr/>
          <p:nvPr/>
        </p:nvSpPr>
        <p:spPr>
          <a:xfrm>
            <a:off x="7882128" y="1371600"/>
            <a:ext cx="3913632" cy="1280160"/>
          </a:xfrm>
          <a:prstGeom prst="rect">
            <a:avLst/>
          </a:prstGeom>
          <a:solidFill>
            <a:srgbClr val="FFFFFF"/>
          </a:solidFill>
          <a:ln w="12700">
            <a:solidFill>
              <a:srgbClr val="BFBFBF"/>
            </a:solidFill>
            <a:prstDash val="solid"/>
          </a:ln>
        </p:spPr>
      </p:sp>
      <p:sp>
        <p:nvSpPr>
          <p:cNvPr id="7" name="Text 4"/>
          <p:cNvSpPr/>
          <p:nvPr/>
        </p:nvSpPr>
        <p:spPr>
          <a:xfrm>
            <a:off x="7955280" y="1417320"/>
            <a:ext cx="3749040" cy="320040"/>
          </a:xfrm>
          <a:prstGeom prst="rect">
            <a:avLst/>
          </a:prstGeom>
          <a:noFill/>
          <a:ln/>
        </p:spPr>
        <p:txBody>
          <a:bodyPr wrap="square" rtlCol="0" anchor="ctr"/>
          <a:lstStyle/>
          <a:p>
            <a:pPr indent="0" marL="0">
              <a:buNone/>
            </a:pPr>
            <a:r>
              <a:rPr lang="en-US" sz="1400" b="1" dirty="0">
                <a:solidFill>
                  <a:srgbClr val="1F497D"/>
                </a:solidFill>
                <a:latin typeface="Segoe UI" pitchFamily="34" charset="0"/>
                <a:ea typeface="Segoe UI" pitchFamily="34" charset="-122"/>
                <a:cs typeface="Segoe UI" pitchFamily="34" charset="-120"/>
              </a:rPr>
              <a:t>Key Insight</a:t>
            </a:r>
            <a:endParaRPr lang="en-US" sz="1400" dirty="0"/>
          </a:p>
        </p:txBody>
      </p:sp>
      <p:sp>
        <p:nvSpPr>
          <p:cNvPr id="8" name="Text 5"/>
          <p:cNvSpPr/>
          <p:nvPr/>
        </p:nvSpPr>
        <p:spPr>
          <a:xfrm>
            <a:off x="7955280" y="1737360"/>
            <a:ext cx="3749040" cy="822960"/>
          </a:xfrm>
          <a:prstGeom prst="rect">
            <a:avLst/>
          </a:prstGeom>
          <a:noFill/>
          <a:ln/>
        </p:spPr>
        <p:txBody>
          <a:bodyPr wrap="square" rtlCol="0" anchor="t">
            <a:normAutofit/>
          </a:bodyPr>
          <a:lstStyle/>
          <a:p>
            <a:pPr indent="0" marL="0">
              <a:buNone/>
            </a:pPr>
            <a:r>
              <a:rPr lang="en-US" sz="1100" dirty="0">
                <a:solidFill>
                  <a:srgbClr val="000000"/>
                </a:solidFill>
                <a:latin typeface="Segoe UI" pitchFamily="34" charset="0"/>
                <a:ea typeface="Segoe UI" pitchFamily="34" charset="-122"/>
                <a:cs typeface="Segoe UI" pitchFamily="34" charset="-120"/>
              </a:rPr>
              <a:t>Generation: THB 2.85/kWh</a:t>
            </a:r>
            <a:endParaRPr lang="en-US" sz="1100" dirty="0"/>
          </a:p>
        </p:txBody>
      </p:sp>
      <p:sp>
        <p:nvSpPr>
          <p:cNvPr id="9" name="Shape 6"/>
          <p:cNvSpPr/>
          <p:nvPr/>
        </p:nvSpPr>
        <p:spPr>
          <a:xfrm>
            <a:off x="7772400" y="2834640"/>
            <a:ext cx="73152" cy="1280160"/>
          </a:xfrm>
          <a:prstGeom prst="rect">
            <a:avLst/>
          </a:prstGeom>
          <a:solidFill>
            <a:srgbClr val="1F497D"/>
          </a:solidFill>
          <a:ln/>
        </p:spPr>
      </p:sp>
      <p:sp>
        <p:nvSpPr>
          <p:cNvPr id="10" name="Shape 7"/>
          <p:cNvSpPr/>
          <p:nvPr/>
        </p:nvSpPr>
        <p:spPr>
          <a:xfrm>
            <a:off x="7882128" y="2834640"/>
            <a:ext cx="3913632" cy="1280160"/>
          </a:xfrm>
          <a:prstGeom prst="rect">
            <a:avLst/>
          </a:prstGeom>
          <a:solidFill>
            <a:srgbClr val="FFFFFF"/>
          </a:solidFill>
          <a:ln w="12700">
            <a:solidFill>
              <a:srgbClr val="BFBFBF"/>
            </a:solidFill>
            <a:prstDash val="solid"/>
          </a:ln>
        </p:spPr>
      </p:sp>
      <p:sp>
        <p:nvSpPr>
          <p:cNvPr id="11" name="Text 8"/>
          <p:cNvSpPr/>
          <p:nvPr/>
        </p:nvSpPr>
        <p:spPr>
          <a:xfrm>
            <a:off x="7955280" y="2880360"/>
            <a:ext cx="3749040" cy="320040"/>
          </a:xfrm>
          <a:prstGeom prst="rect">
            <a:avLst/>
          </a:prstGeom>
          <a:noFill/>
          <a:ln/>
        </p:spPr>
        <p:txBody>
          <a:bodyPr wrap="square" rtlCol="0" anchor="ctr"/>
          <a:lstStyle/>
          <a:p>
            <a:pPr indent="0" marL="0">
              <a:buNone/>
            </a:pPr>
            <a:r>
              <a:rPr lang="en-US" sz="1400" b="1" dirty="0">
                <a:solidFill>
                  <a:srgbClr val="1F497D"/>
                </a:solidFill>
                <a:latin typeface="Segoe UI" pitchFamily="34" charset="0"/>
                <a:ea typeface="Segoe UI" pitchFamily="34" charset="-122"/>
                <a:cs typeface="Segoe UI" pitchFamily="34" charset="-120"/>
              </a:rPr>
              <a:t>Market Data</a:t>
            </a:r>
            <a:endParaRPr lang="en-US" sz="1400" dirty="0"/>
          </a:p>
        </p:txBody>
      </p:sp>
      <p:sp>
        <p:nvSpPr>
          <p:cNvPr id="12" name="Text 9"/>
          <p:cNvSpPr/>
          <p:nvPr/>
        </p:nvSpPr>
        <p:spPr>
          <a:xfrm>
            <a:off x="7955280" y="3200400"/>
            <a:ext cx="3749040" cy="822960"/>
          </a:xfrm>
          <a:prstGeom prst="rect">
            <a:avLst/>
          </a:prstGeom>
          <a:noFill/>
          <a:ln/>
        </p:spPr>
        <p:txBody>
          <a:bodyPr wrap="square" rtlCol="0" anchor="t">
            <a:normAutofit/>
          </a:bodyPr>
          <a:lstStyle/>
          <a:p>
            <a:pPr indent="0" marL="0">
              <a:buNone/>
            </a:pPr>
            <a:r>
              <a:rPr lang="en-US" sz="1100" dirty="0">
                <a:solidFill>
                  <a:srgbClr val="000000"/>
                </a:solidFill>
                <a:latin typeface="Segoe UI" pitchFamily="34" charset="0"/>
                <a:ea typeface="Segoe UI" pitchFamily="34" charset="-122"/>
                <a:cs typeface="Segoe UI" pitchFamily="34" charset="-120"/>
              </a:rPr>
              <a:t>Retail: THB 4.01/kWh (industrial)</a:t>
            </a:r>
            <a:endParaRPr lang="en-US" sz="1100" dirty="0"/>
          </a:p>
        </p:txBody>
      </p:sp>
      <p:sp>
        <p:nvSpPr>
          <p:cNvPr id="13" name="Shape 10"/>
          <p:cNvSpPr/>
          <p:nvPr/>
        </p:nvSpPr>
        <p:spPr>
          <a:xfrm>
            <a:off x="7772400" y="4297680"/>
            <a:ext cx="73152" cy="1280160"/>
          </a:xfrm>
          <a:prstGeom prst="rect">
            <a:avLst/>
          </a:prstGeom>
          <a:solidFill>
            <a:srgbClr val="1F497D"/>
          </a:solidFill>
          <a:ln/>
        </p:spPr>
      </p:sp>
      <p:sp>
        <p:nvSpPr>
          <p:cNvPr id="14" name="Shape 11"/>
          <p:cNvSpPr/>
          <p:nvPr/>
        </p:nvSpPr>
        <p:spPr>
          <a:xfrm>
            <a:off x="7882128" y="4297680"/>
            <a:ext cx="3913632" cy="1280160"/>
          </a:xfrm>
          <a:prstGeom prst="rect">
            <a:avLst/>
          </a:prstGeom>
          <a:solidFill>
            <a:srgbClr val="FFFFFF"/>
          </a:solidFill>
          <a:ln w="12700">
            <a:solidFill>
              <a:srgbClr val="BFBFBF"/>
            </a:solidFill>
            <a:prstDash val="solid"/>
          </a:ln>
        </p:spPr>
      </p:sp>
      <p:sp>
        <p:nvSpPr>
          <p:cNvPr id="15" name="Text 12"/>
          <p:cNvSpPr/>
          <p:nvPr/>
        </p:nvSpPr>
        <p:spPr>
          <a:xfrm>
            <a:off x="7955280" y="4343400"/>
            <a:ext cx="3749040" cy="320040"/>
          </a:xfrm>
          <a:prstGeom prst="rect">
            <a:avLst/>
          </a:prstGeom>
          <a:noFill/>
          <a:ln/>
        </p:spPr>
        <p:txBody>
          <a:bodyPr wrap="square" rtlCol="0" anchor="ctr"/>
          <a:lstStyle/>
          <a:p>
            <a:pPr indent="0" marL="0">
              <a:buNone/>
            </a:pPr>
            <a:r>
              <a:rPr lang="en-US" sz="1400" b="1" dirty="0">
                <a:solidFill>
                  <a:srgbClr val="1F497D"/>
                </a:solidFill>
                <a:latin typeface="Segoe UI" pitchFamily="34" charset="0"/>
                <a:ea typeface="Segoe UI" pitchFamily="34" charset="-122"/>
                <a:cs typeface="Segoe UI" pitchFamily="34" charset="-120"/>
              </a:rPr>
              <a:t>Opportunity</a:t>
            </a:r>
            <a:endParaRPr lang="en-US" sz="1400" dirty="0"/>
          </a:p>
        </p:txBody>
      </p:sp>
      <p:sp>
        <p:nvSpPr>
          <p:cNvPr id="16" name="Text 13"/>
          <p:cNvSpPr/>
          <p:nvPr/>
        </p:nvSpPr>
        <p:spPr>
          <a:xfrm>
            <a:off x="7955280" y="4663440"/>
            <a:ext cx="3749040" cy="822960"/>
          </a:xfrm>
          <a:prstGeom prst="rect">
            <a:avLst/>
          </a:prstGeom>
          <a:noFill/>
          <a:ln/>
        </p:spPr>
        <p:txBody>
          <a:bodyPr wrap="square" rtlCol="0" anchor="t">
            <a:normAutofit/>
          </a:bodyPr>
          <a:lstStyle/>
          <a:p>
            <a:pPr indent="0" marL="0">
              <a:buNone/>
            </a:pPr>
            <a:r>
              <a:rPr lang="en-US" sz="1100" dirty="0">
                <a:solidFill>
                  <a:srgbClr val="000000"/>
                </a:solidFill>
                <a:latin typeface="Segoe UI" pitchFamily="34" charset="0"/>
                <a:ea typeface="Segoe UI" pitchFamily="34" charset="-122"/>
                <a:cs typeface="Segoe UI" pitchFamily="34" charset="-120"/>
              </a:rPr>
              <a:t>Industrial: THB 4.01/kWh</a:t>
            </a:r>
            <a:endParaRPr lang="en-US" sz="1100" dirty="0"/>
          </a:p>
        </p:txBody>
      </p:sp>
      <p:sp>
        <p:nvSpPr>
          <p:cNvPr id="17" name="Shape 14"/>
          <p:cNvSpPr/>
          <p:nvPr/>
        </p:nvSpPr>
        <p:spPr>
          <a:xfrm>
            <a:off x="1005840" y="2029968"/>
            <a:ext cx="4123944" cy="950976"/>
          </a:xfrm>
          <a:prstGeom prst="rect">
            <a:avLst/>
          </a:prstGeom>
          <a:solidFill>
            <a:srgbClr val="D9D9D9"/>
          </a:solidFill>
          <a:ln w="9525">
            <a:solidFill>
              <a:srgbClr val="BFBFBF"/>
            </a:solidFill>
            <a:prstDash val="solid"/>
          </a:ln>
        </p:spPr>
      </p:sp>
      <p:sp>
        <p:nvSpPr>
          <p:cNvPr id="18" name="Text 15"/>
          <p:cNvSpPr/>
          <p:nvPr/>
        </p:nvSpPr>
        <p:spPr>
          <a:xfrm>
            <a:off x="1097280" y="2121408"/>
            <a:ext cx="3941064" cy="768096"/>
          </a:xfrm>
          <a:prstGeom prst="rect">
            <a:avLst/>
          </a:prstGeom>
          <a:noFill/>
          <a:ln/>
        </p:spPr>
        <p:txBody>
          <a:bodyPr wrap="square" rtlCol="0" anchor="ctr">
            <a:normAutofit/>
          </a:bodyPr>
          <a:lstStyle/>
          <a:p>
            <a:pPr indent="0" marL="0">
              <a:buNone/>
            </a:pPr>
            <a:r>
              <a:rPr lang="en-US" sz="900" dirty="0">
                <a:solidFill>
                  <a:srgbClr val="000000"/>
                </a:solidFill>
                <a:latin typeface="Segoe UI" pitchFamily="34" charset="0"/>
                <a:ea typeface="Segoe UI" pitchFamily="34" charset="-122"/>
                <a:cs typeface="Segoe UI" pitchFamily="34" charset="-120"/>
              </a:rPr>
              <a:t>Industrial electricity rates rising 12% in 2023; creates strong ROI case for efficiency investments</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343632" y="44623"/>
            <a:ext cx="11508821" cy="831830"/>
          </a:xfrm>
          <a:prstGeom prst="rect">
            <a:avLst/>
          </a:prstGeom>
          <a:noFill/>
          <a:ln/>
        </p:spPr>
        <p:txBody>
          <a:bodyPr wrap="square" rtlCol="0" anchor="t">
            <a:normAutofit/>
          </a:bodyPr>
          <a:lstStyle/>
          <a:p>
            <a:pPr indent="0" marL="0">
              <a:buNone/>
            </a:pPr>
            <a:r>
              <a:rPr lang="en-US" sz="2000" dirty="0">
                <a:solidFill>
                  <a:srgbClr val="1F497D"/>
                </a:solidFill>
                <a:latin typeface="Segoe UI" pitchFamily="34" charset="0"/>
                <a:ea typeface="Segoe UI" pitchFamily="34" charset="-122"/>
                <a:cs typeface="Segoe UI" pitchFamily="34" charset="-120"/>
              </a:rPr>
              <a:t>Thailand - ESCO Market</a:t>
            </a:r>
            <a:endParaRPr lang="en-US" sz="2000" dirty="0"/>
          </a:p>
        </p:txBody>
      </p:sp>
      <p:sp>
        <p:nvSpPr>
          <p:cNvPr id="3" name="Text 1"/>
          <p:cNvSpPr/>
          <p:nvPr/>
        </p:nvSpPr>
        <p:spPr>
          <a:xfrm>
            <a:off x="334945" y="6101700"/>
            <a:ext cx="11516777" cy="246248"/>
          </a:xfrm>
          <a:prstGeom prst="rect">
            <a:avLst/>
          </a:prstGeom>
          <a:noFill/>
          <a:ln/>
        </p:spPr>
        <p:txBody>
          <a:bodyPr wrap="square" rtlCol="0" anchor="t"/>
          <a:lstStyle/>
          <a:p>
            <a:pPr indent="0" marL="0">
              <a:buNone/>
            </a:pPr>
            <a:r>
              <a:rPr lang="en-US" sz="1000" dirty="0">
                <a:solidFill>
                  <a:srgbClr val="999999"/>
                </a:solidFill>
                <a:latin typeface="Segoe UI" pitchFamily="34" charset="0"/>
                <a:ea typeface="Segoe UI" pitchFamily="34" charset="-122"/>
                <a:cs typeface="Segoe UI" pitchFamily="34" charset="-120"/>
              </a:rPr>
              <a:t>Source: YCP Analysis</a:t>
            </a:r>
            <a:endParaRPr lang="en-US" sz="1000" dirty="0"/>
          </a:p>
        </p:txBody>
      </p:sp>
      <p:graphicFrame>
        <p:nvGraphicFramePr>
          <p:cNvPr id="4" name="Chart 0" descr=""/>
          <p:cNvGraphicFramePr/>
          <p:nvPr/>
        </p:nvGraphicFramePr>
        <p:xfrm>
          <a:off x="211135" y="1827246"/>
          <a:ext cx="11723705" cy="4310024"/>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772400" y="1371600"/>
            <a:ext cx="73152" cy="1280160"/>
          </a:xfrm>
          <a:prstGeom prst="rect">
            <a:avLst/>
          </a:prstGeom>
          <a:solidFill>
            <a:srgbClr val="1F497D"/>
          </a:solidFill>
          <a:ln/>
        </p:spPr>
      </p:sp>
      <p:sp>
        <p:nvSpPr>
          <p:cNvPr id="6" name="Shape 3"/>
          <p:cNvSpPr/>
          <p:nvPr/>
        </p:nvSpPr>
        <p:spPr>
          <a:xfrm>
            <a:off x="7882128" y="1371600"/>
            <a:ext cx="3913632" cy="1280160"/>
          </a:xfrm>
          <a:prstGeom prst="rect">
            <a:avLst/>
          </a:prstGeom>
          <a:solidFill>
            <a:srgbClr val="FFFFFF"/>
          </a:solidFill>
          <a:ln w="12700">
            <a:solidFill>
              <a:srgbClr val="BFBFBF"/>
            </a:solidFill>
            <a:prstDash val="solid"/>
          </a:ln>
        </p:spPr>
      </p:sp>
      <p:sp>
        <p:nvSpPr>
          <p:cNvPr id="7" name="Text 4"/>
          <p:cNvSpPr/>
          <p:nvPr/>
        </p:nvSpPr>
        <p:spPr>
          <a:xfrm>
            <a:off x="7955280" y="1417320"/>
            <a:ext cx="3749040" cy="320040"/>
          </a:xfrm>
          <a:prstGeom prst="rect">
            <a:avLst/>
          </a:prstGeom>
          <a:noFill/>
          <a:ln/>
        </p:spPr>
        <p:txBody>
          <a:bodyPr wrap="square" rtlCol="0" anchor="ctr"/>
          <a:lstStyle/>
          <a:p>
            <a:pPr indent="0" marL="0">
              <a:buNone/>
            </a:pPr>
            <a:r>
              <a:rPr lang="en-US" sz="1400" b="1" dirty="0">
                <a:solidFill>
                  <a:srgbClr val="1F497D"/>
                </a:solidFill>
                <a:latin typeface="Segoe UI" pitchFamily="34" charset="0"/>
                <a:ea typeface="Segoe UI" pitchFamily="34" charset="-122"/>
                <a:cs typeface="Segoe UI" pitchFamily="34" charset="-120"/>
              </a:rPr>
              <a:t>Key Insight</a:t>
            </a:r>
            <a:endParaRPr lang="en-US" sz="1400" dirty="0"/>
          </a:p>
        </p:txBody>
      </p:sp>
      <p:sp>
        <p:nvSpPr>
          <p:cNvPr id="8" name="Text 5"/>
          <p:cNvSpPr/>
          <p:nvPr/>
        </p:nvSpPr>
        <p:spPr>
          <a:xfrm>
            <a:off x="7955280" y="1737360"/>
            <a:ext cx="3749040" cy="822960"/>
          </a:xfrm>
          <a:prstGeom prst="rect">
            <a:avLst/>
          </a:prstGeom>
          <a:noFill/>
          <a:ln/>
        </p:spPr>
        <p:txBody>
          <a:bodyPr wrap="square" rtlCol="0" anchor="t">
            <a:normAutofit/>
          </a:bodyPr>
          <a:lstStyle/>
          <a:p>
            <a:pPr indent="0" marL="0">
              <a:buNone/>
            </a:pPr>
            <a:r>
              <a:rPr lang="en-US" sz="1100" dirty="0">
                <a:solidFill>
                  <a:srgbClr val="000000"/>
                </a:solidFill>
                <a:latin typeface="Segoe UI" pitchFamily="34" charset="0"/>
                <a:ea typeface="Segoe UI" pitchFamily="34" charset="-122"/>
                <a:cs typeface="Segoe UI" pitchFamily="34" charset="-120"/>
              </a:rPr>
              <a:t>Market Size: THB 8.5 billion (2023)</a:t>
            </a:r>
            <a:endParaRPr lang="en-US" sz="1100" dirty="0"/>
          </a:p>
        </p:txBody>
      </p:sp>
      <p:sp>
        <p:nvSpPr>
          <p:cNvPr id="9" name="Shape 6"/>
          <p:cNvSpPr/>
          <p:nvPr/>
        </p:nvSpPr>
        <p:spPr>
          <a:xfrm>
            <a:off x="7772400" y="2834640"/>
            <a:ext cx="73152" cy="1280160"/>
          </a:xfrm>
          <a:prstGeom prst="rect">
            <a:avLst/>
          </a:prstGeom>
          <a:solidFill>
            <a:srgbClr val="1F497D"/>
          </a:solidFill>
          <a:ln/>
        </p:spPr>
      </p:sp>
      <p:sp>
        <p:nvSpPr>
          <p:cNvPr id="10" name="Shape 7"/>
          <p:cNvSpPr/>
          <p:nvPr/>
        </p:nvSpPr>
        <p:spPr>
          <a:xfrm>
            <a:off x="7882128" y="2834640"/>
            <a:ext cx="3913632" cy="1280160"/>
          </a:xfrm>
          <a:prstGeom prst="rect">
            <a:avLst/>
          </a:prstGeom>
          <a:solidFill>
            <a:srgbClr val="FFFFFF"/>
          </a:solidFill>
          <a:ln w="12700">
            <a:solidFill>
              <a:srgbClr val="BFBFBF"/>
            </a:solidFill>
            <a:prstDash val="solid"/>
          </a:ln>
        </p:spPr>
      </p:sp>
      <p:sp>
        <p:nvSpPr>
          <p:cNvPr id="11" name="Text 8"/>
          <p:cNvSpPr/>
          <p:nvPr/>
        </p:nvSpPr>
        <p:spPr>
          <a:xfrm>
            <a:off x="7955280" y="2880360"/>
            <a:ext cx="3749040" cy="320040"/>
          </a:xfrm>
          <a:prstGeom prst="rect">
            <a:avLst/>
          </a:prstGeom>
          <a:noFill/>
          <a:ln/>
        </p:spPr>
        <p:txBody>
          <a:bodyPr wrap="square" rtlCol="0" anchor="ctr"/>
          <a:lstStyle/>
          <a:p>
            <a:pPr indent="0" marL="0">
              <a:buNone/>
            </a:pPr>
            <a:r>
              <a:rPr lang="en-US" sz="1400" b="1" dirty="0">
                <a:solidFill>
                  <a:srgbClr val="1F497D"/>
                </a:solidFill>
                <a:latin typeface="Segoe UI" pitchFamily="34" charset="0"/>
                <a:ea typeface="Segoe UI" pitchFamily="34" charset="-122"/>
                <a:cs typeface="Segoe UI" pitchFamily="34" charset="-120"/>
              </a:rPr>
              <a:t>Market Data</a:t>
            </a:r>
            <a:endParaRPr lang="en-US" sz="1400" dirty="0"/>
          </a:p>
        </p:txBody>
      </p:sp>
      <p:sp>
        <p:nvSpPr>
          <p:cNvPr id="12" name="Text 9"/>
          <p:cNvSpPr/>
          <p:nvPr/>
        </p:nvSpPr>
        <p:spPr>
          <a:xfrm>
            <a:off x="7955280" y="3200400"/>
            <a:ext cx="3749040" cy="822960"/>
          </a:xfrm>
          <a:prstGeom prst="rect">
            <a:avLst/>
          </a:prstGeom>
          <a:noFill/>
          <a:ln/>
        </p:spPr>
        <p:txBody>
          <a:bodyPr wrap="square" rtlCol="0" anchor="t">
            <a:normAutofit/>
          </a:bodyPr>
          <a:lstStyle/>
          <a:p>
            <a:pPr indent="0" marL="0">
              <a:buNone/>
            </a:pPr>
            <a:r>
              <a:rPr lang="en-US" sz="1100" dirty="0">
                <a:solidFill>
                  <a:srgbClr val="000000"/>
                </a:solidFill>
                <a:latin typeface="Segoe UI" pitchFamily="34" charset="0"/>
                <a:ea typeface="Segoe UI" pitchFamily="34" charset="-122"/>
                <a:cs typeface="Segoe UI" pitchFamily="34" charset="-120"/>
              </a:rPr>
              <a:t>Growth: 15% CAGR 2020-2023</a:t>
            </a:r>
            <a:endParaRPr lang="en-US" sz="1100" dirty="0"/>
          </a:p>
        </p:txBody>
      </p:sp>
      <p:sp>
        <p:nvSpPr>
          <p:cNvPr id="13" name="Shape 10"/>
          <p:cNvSpPr/>
          <p:nvPr/>
        </p:nvSpPr>
        <p:spPr>
          <a:xfrm>
            <a:off x="7772400" y="4297680"/>
            <a:ext cx="73152" cy="1280160"/>
          </a:xfrm>
          <a:prstGeom prst="rect">
            <a:avLst/>
          </a:prstGeom>
          <a:solidFill>
            <a:srgbClr val="1F497D"/>
          </a:solidFill>
          <a:ln/>
        </p:spPr>
      </p:sp>
      <p:sp>
        <p:nvSpPr>
          <p:cNvPr id="14" name="Shape 11"/>
          <p:cNvSpPr/>
          <p:nvPr/>
        </p:nvSpPr>
        <p:spPr>
          <a:xfrm>
            <a:off x="7882128" y="4297680"/>
            <a:ext cx="3913632" cy="1280160"/>
          </a:xfrm>
          <a:prstGeom prst="rect">
            <a:avLst/>
          </a:prstGeom>
          <a:solidFill>
            <a:srgbClr val="FFFFFF"/>
          </a:solidFill>
          <a:ln w="12700">
            <a:solidFill>
              <a:srgbClr val="BFBFBF"/>
            </a:solidFill>
            <a:prstDash val="solid"/>
          </a:ln>
        </p:spPr>
      </p:sp>
      <p:sp>
        <p:nvSpPr>
          <p:cNvPr id="15" name="Text 12"/>
          <p:cNvSpPr/>
          <p:nvPr/>
        </p:nvSpPr>
        <p:spPr>
          <a:xfrm>
            <a:off x="7955280" y="4343400"/>
            <a:ext cx="3749040" cy="320040"/>
          </a:xfrm>
          <a:prstGeom prst="rect">
            <a:avLst/>
          </a:prstGeom>
          <a:noFill/>
          <a:ln/>
        </p:spPr>
        <p:txBody>
          <a:bodyPr wrap="square" rtlCol="0" anchor="ctr"/>
          <a:lstStyle/>
          <a:p>
            <a:pPr indent="0" marL="0">
              <a:buNone/>
            </a:pPr>
            <a:r>
              <a:rPr lang="en-US" sz="1400" b="1" dirty="0">
                <a:solidFill>
                  <a:srgbClr val="1F497D"/>
                </a:solidFill>
                <a:latin typeface="Segoe UI" pitchFamily="34" charset="0"/>
                <a:ea typeface="Segoe UI" pitchFamily="34" charset="-122"/>
                <a:cs typeface="Segoe UI" pitchFamily="34" charset="-120"/>
              </a:rPr>
              <a:t>Opportunity</a:t>
            </a:r>
            <a:endParaRPr lang="en-US" sz="1400" dirty="0"/>
          </a:p>
        </p:txBody>
      </p:sp>
      <p:sp>
        <p:nvSpPr>
          <p:cNvPr id="16" name="Text 13"/>
          <p:cNvSpPr/>
          <p:nvPr/>
        </p:nvSpPr>
        <p:spPr>
          <a:xfrm>
            <a:off x="7955280" y="4663440"/>
            <a:ext cx="3749040" cy="822960"/>
          </a:xfrm>
          <a:prstGeom prst="rect">
            <a:avLst/>
          </a:prstGeom>
          <a:noFill/>
          <a:ln/>
        </p:spPr>
        <p:txBody>
          <a:bodyPr wrap="square" rtlCol="0" anchor="t">
            <a:normAutofit/>
          </a:bodyPr>
          <a:lstStyle/>
          <a:p>
            <a:pPr indent="0" marL="0">
              <a:buNone/>
            </a:pPr>
            <a:r>
              <a:rPr lang="en-US" sz="1100" dirty="0">
                <a:solidFill>
                  <a:srgbClr val="000000"/>
                </a:solidFill>
                <a:latin typeface="Segoe UI" pitchFamily="34" charset="0"/>
                <a:ea typeface="Segoe UI" pitchFamily="34" charset="-122"/>
                <a:cs typeface="Segoe UI" pitchFamily="34" charset="-120"/>
              </a:rPr>
              <a:t>Registered ESCOs: 45 registered providers</a:t>
            </a:r>
            <a:endParaRPr lang="en-US" sz="1100" dirty="0"/>
          </a:p>
        </p:txBody>
      </p:sp>
      <p:sp>
        <p:nvSpPr>
          <p:cNvPr id="17" name="Shape 14"/>
          <p:cNvSpPr/>
          <p:nvPr/>
        </p:nvSpPr>
        <p:spPr>
          <a:xfrm>
            <a:off x="1005840" y="2029968"/>
            <a:ext cx="4123944" cy="950976"/>
          </a:xfrm>
          <a:prstGeom prst="rect">
            <a:avLst/>
          </a:prstGeom>
          <a:solidFill>
            <a:srgbClr val="D9D9D9"/>
          </a:solidFill>
          <a:ln w="9525">
            <a:solidFill>
              <a:srgbClr val="BFBFBF"/>
            </a:solidFill>
            <a:prstDash val="solid"/>
          </a:ln>
        </p:spPr>
      </p:sp>
      <p:sp>
        <p:nvSpPr>
          <p:cNvPr id="18" name="Text 15"/>
          <p:cNvSpPr/>
          <p:nvPr/>
        </p:nvSpPr>
        <p:spPr>
          <a:xfrm>
            <a:off x="1097280" y="2121408"/>
            <a:ext cx="3941064" cy="768096"/>
          </a:xfrm>
          <a:prstGeom prst="rect">
            <a:avLst/>
          </a:prstGeom>
          <a:noFill/>
          <a:ln/>
        </p:spPr>
        <p:txBody>
          <a:bodyPr wrap="square" rtlCol="0" anchor="ctr">
            <a:normAutofit/>
          </a:bodyPr>
          <a:lstStyle/>
          <a:p>
            <a:pPr indent="0" marL="0">
              <a:buNone/>
            </a:pPr>
            <a:r>
              <a:rPr lang="en-US" sz="900" dirty="0">
                <a:solidFill>
                  <a:srgbClr val="000000"/>
                </a:solidFill>
                <a:latin typeface="Segoe UI" pitchFamily="34" charset="0"/>
                <a:ea typeface="Segoe UI" pitchFamily="34" charset="-122"/>
                <a:cs typeface="Segoe UI" pitchFamily="34" charset="-120"/>
              </a:rPr>
              <a:t>ESCO market growing 15% annually; government buildings mandate drives 40% of current projects</a:t>
            </a:r>
            <a:endParaRPr lang="en-US" sz="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43632" y="5577840"/>
          <a:ext cx="11508821" cy="543519"/>
        </p:xfrm>
        <a:graphic>
          <a:graphicData uri="http://schemas.openxmlformats.org/drawingml/2006/table">
            <a:tbl>
              <a:tblPr/>
              <a:tblGrid>
                <a:gridCol w="6978054"/>
                <a:gridCol w="2788165"/>
                <a:gridCol w="1742603"/>
              </a:tblGrid>
              <a:tr h="108704">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Segment</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Size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Share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108704">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Building HVAC Optimization</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THB 3.2B</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38%</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108704">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Industrial Process Efficiency</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THB 2.5B</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29%</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108704">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Lighting &amp; Electrical</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THB 1.8B</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21%</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108704">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Renewable Integration</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THB 1.0B</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12%</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77662" y="2730673"/>
            <a:ext cx="7491313" cy="1384127"/>
          </a:xfrm>
          <a:prstGeom prst="rect">
            <a:avLst/>
          </a:prstGeom>
          <a:noFill/>
          <a:ln/>
        </p:spPr>
        <p:txBody>
          <a:bodyPr wrap="square" rtlCol="0" anchor="ctr"/>
          <a:lstStyle/>
          <a:p>
            <a:pPr algn="ctr" indent="0" marL="0">
              <a:buNone/>
            </a:pPr>
            <a:r>
              <a:rPr lang="en-US" sz="4400" b="1" dirty="0">
                <a:solidFill>
                  <a:srgbClr val="FFFFFF"/>
                </a:solidFill>
                <a:latin typeface="Segoe UI" pitchFamily="34" charset="0"/>
                <a:ea typeface="Segoe UI" pitchFamily="34" charset="-122"/>
                <a:cs typeface="Segoe UI" pitchFamily="34" charset="-120"/>
              </a:rPr>
              <a:t>Competitive Landscape</a:t>
            </a:r>
            <a:endParaRPr lang="en-US" sz="4400" dirty="0"/>
          </a:p>
        </p:txBody>
      </p:sp>
      <p:sp>
        <p:nvSpPr>
          <p:cNvPr id="3" name="Shape 1"/>
          <p:cNvSpPr/>
          <p:nvPr/>
        </p:nvSpPr>
        <p:spPr>
          <a:xfrm>
            <a:off x="455646" y="4297680"/>
            <a:ext cx="4113246" cy="0"/>
          </a:xfrm>
          <a:prstGeom prst="line">
            <a:avLst/>
          </a:prstGeom>
          <a:noFill/>
          <a:ln w="22225">
            <a:solidFill>
              <a:srgbClr val="FFFFFF"/>
            </a:solidFill>
            <a:prstDash val="solid"/>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343632" y="44623"/>
            <a:ext cx="11508821" cy="1060430"/>
          </a:xfrm>
          <a:prstGeom prst="rect">
            <a:avLst/>
          </a:prstGeom>
          <a:noFill/>
          <a:ln/>
        </p:spPr>
        <p:txBody>
          <a:bodyPr wrap="square" rtlCol="0" anchor="t">
            <a:normAutofit/>
          </a:bodyPr>
          <a:lstStyle/>
          <a:p>
            <a:pPr indent="0" marL="0">
              <a:buNone/>
            </a:pPr>
            <a:r>
              <a:rPr lang="en-US" sz="2000" dirty="0">
                <a:solidFill>
                  <a:srgbClr val="1F497D"/>
                </a:solidFill>
                <a:latin typeface="Segoe UI" pitchFamily="34" charset="0"/>
                <a:ea typeface="Segoe UI" pitchFamily="34" charset="-122"/>
                <a:cs typeface="Segoe UI" pitchFamily="34" charset="-120"/>
              </a:rPr>
              <a:t>Thailand - Japanese Energy Services Companies</a:t>
            </a:r>
            <a:pPr indent="0" marL="0">
              <a:spcBef>
                <a:spcPts val="200"/>
              </a:spcBef>
              <a:buNone/>
            </a:pPr>
            <a:r>
              <a:rPr lang="en-US" sz="1600" dirty="0">
                <a:solidFill>
                  <a:srgbClr val="1F497D"/>
                </a:solidFill>
                <a:latin typeface="Segoe UI" pitchFamily="34" charset="0"/>
                <a:ea typeface="Segoe UI" pitchFamily="34" charset="-122"/>
                <a:cs typeface="Segoe UI" pitchFamily="34" charset="-120"/>
              </a:rPr>
              <a:t>Japanese firms hold 22% of industrial ESCO market through long-term relationships with Japanese manufacturers in Thailand</a:t>
            </a:r>
            <a:endParaRPr lang="en-US" sz="2000" dirty="0"/>
          </a:p>
        </p:txBody>
      </p:sp>
      <p:sp>
        <p:nvSpPr>
          <p:cNvPr id="3" name="Text 1"/>
          <p:cNvSpPr/>
          <p:nvPr/>
        </p:nvSpPr>
        <p:spPr>
          <a:xfrm>
            <a:off x="338054" y="6114410"/>
            <a:ext cx="11514399" cy="230795"/>
          </a:xfrm>
          <a:prstGeom prst="rect">
            <a:avLst/>
          </a:prstGeom>
          <a:noFill/>
          <a:ln/>
        </p:spPr>
        <p:txBody>
          <a:bodyPr wrap="square" rtlCol="0" anchor="t"/>
          <a:lstStyle/>
          <a:p>
            <a:pPr indent="0" marL="0">
              <a:buNone/>
            </a:pPr>
            <a:r>
              <a:rPr lang="en-US" sz="1000" dirty="0">
                <a:solidFill>
                  <a:srgbClr val="999999"/>
                </a:solidFill>
                <a:latin typeface="Segoe UI" pitchFamily="34" charset="0"/>
                <a:ea typeface="Segoe UI" pitchFamily="34" charset="-122"/>
                <a:cs typeface="Segoe UI" pitchFamily="34" charset="-120"/>
              </a:rPr>
              <a:t>Source: YCP Analysis</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35310" y="1341425"/>
          <a:ext cx="11521714" cy="4751405"/>
        </p:xfrm>
        <a:graphic>
          <a:graphicData uri="http://schemas.openxmlformats.org/drawingml/2006/table">
            <a:tbl>
              <a:tblPr/>
              <a:tblGrid>
                <a:gridCol w="1646020"/>
                <a:gridCol w="1038190"/>
                <a:gridCol w="1038190"/>
                <a:gridCol w="7786422"/>
              </a:tblGrid>
              <a:tr h="1187851">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Company</a:t>
                      </a:r>
                      <a:endParaRPr lang="en-US" sz="1400" dirty="0">
                        <a:latin typeface="Segoe UI" charset="0"/>
                        <a:ea typeface="Segoe UI" charset="0"/>
                        <a:cs typeface="Segoe UI" charset="0"/>
                      </a:endParaRPr>
                    </a:p>
                  </a:txBody>
                  <a:tcPr marL="36576" marR="36576" marT="0" marB="0" anchor="mid">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Entry Year</a:t>
                      </a:r>
                      <a:endParaRPr lang="en-US" sz="1400" dirty="0">
                        <a:latin typeface="Segoe UI" charset="0"/>
                        <a:ea typeface="Segoe UI" charset="0"/>
                        <a:cs typeface="Segoe UI" charset="0"/>
                      </a:endParaRPr>
                    </a:p>
                  </a:txBody>
                  <a:tcPr marL="36576" marR="36576" marT="0" marB="0" anchor="mid">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Mode</a:t>
                      </a:r>
                      <a:endParaRPr lang="en-US" sz="1400" dirty="0">
                        <a:latin typeface="Segoe UI" charset="0"/>
                        <a:ea typeface="Segoe UI" charset="0"/>
                        <a:cs typeface="Segoe UI" charset="0"/>
                      </a:endParaRPr>
                    </a:p>
                  </a:txBody>
                  <a:tcPr marL="36576" marR="36576" marT="0" marB="0" anchor="mid">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Description</a:t>
                      </a:r>
                      <a:endParaRPr lang="en-US" sz="1400" dirty="0">
                        <a:latin typeface="Segoe UI" charset="0"/>
                        <a:ea typeface="Segoe UI" charset="0"/>
                        <a:cs typeface="Segoe UI" charset="0"/>
                      </a:endParaRPr>
                    </a:p>
                  </a:txBody>
                  <a:tcPr marL="36576" marR="36576" marT="0" marB="0" anchor="mid">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r>
              <a:tr h="1187851">
                <a:tc>
                  <a:txBody>
                    <a:bodyPr/>
                    <a:lstStyle/>
                    <a:p>
                      <a:pPr indent="0" marL="0">
                        <a:buNone/>
                      </a:pPr>
                      <a:r>
                        <a:rPr lang="en-US" sz="1400" u="sng" dirty="0">
                          <a:solidFill>
                            <a:srgbClr val="0066CC"/>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Daikin Industries Thailand</a:t>
                      </a:r>
                      <a:endParaRPr lang="en-US" sz="1400" dirty="0">
                        <a:latin typeface="Segoe UI" charset="0"/>
                        <a:ea typeface="Segoe UI" charset="0"/>
                        <a:cs typeface="Segoe UI" charset="0"/>
                      </a:endParaRPr>
                    </a:p>
                  </a:txBody>
                  <a:tcPr marL="36576" marR="36576" marT="0" marB="0" anchor="mid">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1990</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c>
                  <a:txBody>
                    <a:bodyPr/>
                    <a:lstStyle/>
                    <a:p>
                      <a:pPr indent="0" marL="0">
                        <a:buNone/>
                      </a:pP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Leading HVAC and energy management provider with THB 12.5B revenue in Thailand. Controls 28% of commercial HVAC market through integrated building management solutions targeting Japanese auto and electronics...</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r>
              <a:tr h="1187851">
                <a:tc>
                  <a:txBody>
                    <a:bodyPr/>
                    <a:lstStyle/>
                    <a:p>
                      <a:pPr indent="0" marL="0">
                        <a:buNone/>
                      </a:pPr>
                      <a:r>
                        <a:rPr lang="en-US" sz="1400" u="sng" dirty="0">
                          <a:solidFill>
                            <a:srgbClr val="0066CC"/>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Hitachi Energy Thailand</a:t>
                      </a:r>
                      <a:endParaRPr lang="en-US" sz="1400" dirty="0">
                        <a:latin typeface="Segoe UI" charset="0"/>
                        <a:ea typeface="Segoe UI" charset="0"/>
                        <a:cs typeface="Segoe UI" charset="0"/>
                      </a:endParaRPr>
                    </a:p>
                  </a:txBody>
                  <a:tcPr marL="36576" marR="36576" marT="0" marB="0" anchor="mid">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2001</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c>
                  <a:txBody>
                    <a:bodyPr/>
                    <a:lstStyle/>
                    <a:p>
                      <a:pPr indent="0" marL="0">
                        <a:buNone/>
                      </a:pP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Grid modernization and industrial energy management specialist with THB 4.2B Thai revenue. Focuses on power quality and distribution solutions for heavy industry. Revenue grew 15% in 2023 driven by EV manufacturing...</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r>
              <a:tr h="1187851">
                <a:tc>
                  <a:txBody>
                    <a:bodyPr/>
                    <a:lstStyle/>
                    <a:p>
                      <a:pPr indent="0" marL="0">
                        <a:buNone/>
                      </a:pPr>
                      <a:r>
                        <a:rPr lang="en-US" sz="1400" u="sng" dirty="0">
                          <a:solidFill>
                            <a:srgbClr val="0066CC"/>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Panasonic Energy Solutions</a:t>
                      </a:r>
                      <a:endParaRPr lang="en-US" sz="1400" dirty="0">
                        <a:latin typeface="Segoe UI" charset="0"/>
                        <a:ea typeface="Segoe UI" charset="0"/>
                        <a:cs typeface="Segoe UI" charset="0"/>
                      </a:endParaRPr>
                    </a:p>
                  </a:txBody>
                  <a:tcPr marL="36576" marR="36576" marT="0" marB="0" anchor="mid">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1988</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c>
                  <a:txBody>
                    <a:bodyPr/>
                    <a:lstStyle/>
                    <a:p>
                      <a:pPr indent="0" marL="0">
                        <a:buNone/>
                      </a:pP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Diversified energy solutions including solar PV, battery storage, and building management systems with THB 3.8B revenue. Serves both commercial buildings and industrial facilities with integrated IoT-based energy...</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r>
            </a:tbl>
          </a:graphicData>
        </a:graphic>
      </p:graphicFrame>
      <p:sp>
        <p:nvSpPr>
          <p:cNvPr id="5" name="Text 2"/>
          <p:cNvSpPr/>
          <p:nvPr/>
        </p:nvSpPr>
        <p:spPr>
          <a:xfrm>
            <a:off x="343632" y="3520440"/>
            <a:ext cx="11508821" cy="594360"/>
          </a:xfrm>
          <a:prstGeom prst="rect">
            <a:avLst/>
          </a:prstGeom>
          <a:solidFill>
            <a:srgbClr val="D9D9D9"/>
          </a:solidFill>
          <a:ln>
            <a:solidFill>
              <a:srgbClr val="BFBFBF"/>
            </a:solidFill>
          </a:ln>
        </p:spPr>
        <p:txBody>
          <a:bodyPr wrap="square" lIns="63500" tIns="101600" rIns="101600" bIns="63500" rtlCol="0" anchor="t">
            <a:normAutofit/>
          </a:bodyPr>
          <a:lstStyle/>
          <a:p>
            <a:pPr indent="0" marL="0">
              <a:buNone/>
            </a:pPr>
            <a:r>
              <a:rPr lang="en-US" sz="1200" b="1" dirty="0">
                <a:solidFill>
                  <a:srgbClr val="1F497D"/>
                </a:solidFill>
                <a:latin typeface="Segoe UI" pitchFamily="34" charset="0"/>
                <a:ea typeface="Segoe UI" pitchFamily="34" charset="-122"/>
                <a:cs typeface="Segoe UI" pitchFamily="34" charset="-120"/>
              </a:rPr>
              <a:t>Competitive Insights
</a:t>
            </a:r>
            <a:pPr indent="0" marL="0">
              <a:buNone/>
            </a:pPr>
            <a:r>
              <a:rPr lang="en-US" sz="1100" dirty="0">
                <a:solidFill>
                  <a:srgbClr val="000000"/>
                </a:solidFill>
                <a:latin typeface="Segoe UI" pitchFamily="34" charset="0"/>
                <a:ea typeface="Segoe UI" pitchFamily="34" charset="-122"/>
                <a:cs typeface="Segoe UI" pitchFamily="34" charset="-120"/>
              </a:rPr>
              <a:t>Japanese firms hold 22% of industrial ESCO market through long-term relationships with Japanese manufacturers in Thailand | 3 players identified</a:t>
            </a:r>
            <a:endParaRPr lang="en-US" sz="1200" dirty="0"/>
          </a:p>
        </p:txBody>
      </p:sp>
      <p:sp>
        <p:nvSpPr>
          <p:cNvPr id="6" name="Text 3"/>
          <p:cNvSpPr/>
          <p:nvPr/>
        </p:nvSpPr>
        <p:spPr>
          <a:xfrm>
            <a:off x="343632" y="4206240"/>
            <a:ext cx="11508821" cy="822960"/>
          </a:xfrm>
          <a:prstGeom prst="rect">
            <a:avLst/>
          </a:prstGeom>
          <a:solidFill>
            <a:srgbClr val="FFFFFF"/>
          </a:solidFill>
          <a:ln>
            <a:solidFill>
              <a:srgbClr val="F2F2F2"/>
            </a:solidFill>
          </a:ln>
        </p:spPr>
        <p:txBody>
          <a:bodyPr wrap="square" lIns="50800" tIns="101600" rIns="101600" bIns="50800" rtlCol="0" anchor="t"/>
          <a:lstStyle/>
          <a:p>
            <a:pPr indent="0" marL="0">
              <a:buNone/>
            </a:pPr>
            <a:r>
              <a:rPr lang="en-US" sz="1100" b="1" dirty="0">
                <a:solidFill>
                  <a:srgbClr val="444444"/>
                </a:solidFill>
                <a:latin typeface="Segoe UI" pitchFamily="34" charset="0"/>
                <a:ea typeface="Segoe UI" pitchFamily="34" charset="-122"/>
                <a:cs typeface="Segoe UI" pitchFamily="34" charset="-120"/>
              </a:rPr>
              <a:t>Daikin Industries Thailand: </a:t>
            </a:r>
            <a:pPr indent="0" marL="0">
              <a:buNone/>
            </a:pPr>
            <a:r>
              <a:rPr lang="en-US" sz="1100" dirty="0">
                <a:solidFill>
                  <a:srgbClr val="444444"/>
                </a:solidFill>
                <a:latin typeface="Segoe UI" pitchFamily="34" charset="0"/>
                <a:ea typeface="Segoe UI" pitchFamily="34" charset="-122"/>
                <a:cs typeface="Segoe UI" pitchFamily="34" charset="-120"/>
              </a:rPr>
              <a:t>Strong position in Japanese OEM segment but limited penetration in Thai-owned industrial facilities; partnership opportunity for local market access</a:t>
            </a:r>
            <a:pPr indent="0" marL="0">
              <a:buNone/>
            </a:pPr>
            <a:r>
              <a:rPr lang="en-US" sz="1100" dirty="0">
                <a:solidFill>
                  <a:srgbClr val="444444"/>
                </a:solidFill>
                <a:latin typeface="Segoe UI" pitchFamily="34" charset="0"/>
                <a:ea typeface="Segoe UI" pitchFamily="34" charset="-122"/>
                <a:cs typeface="Segoe UI" pitchFamily="34" charset="-120"/>
              </a:rPr>
              <a:t>
</a:t>
            </a:r>
            <a:pPr indent="0" marL="0">
              <a:buNone/>
            </a:pPr>
            <a:r>
              <a:rPr lang="en-US" sz="1100" b="1" dirty="0">
                <a:solidFill>
                  <a:srgbClr val="444444"/>
                </a:solidFill>
                <a:latin typeface="Segoe UI" pitchFamily="34" charset="0"/>
                <a:ea typeface="Segoe UI" pitchFamily="34" charset="-122"/>
                <a:cs typeface="Segoe UI" pitchFamily="34" charset="-120"/>
              </a:rPr>
              <a:t>Hitachi Energy Thailand: </a:t>
            </a:r>
            <a:pPr indent="0" marL="0">
              <a:buNone/>
            </a:pPr>
            <a:r>
              <a:rPr lang="en-US" sz="1100" dirty="0">
                <a:solidFill>
                  <a:srgbClr val="444444"/>
                </a:solidFill>
                <a:latin typeface="Segoe UI" pitchFamily="34" charset="0"/>
                <a:ea typeface="Segoe UI" pitchFamily="34" charset="-122"/>
                <a:cs typeface="Segoe UI" pitchFamily="34" charset="-120"/>
              </a:rPr>
              <a:t>Technology leader in grid-scale solutions but premium pricing limits SME market access; acquisition target for broader market coverage</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343632" y="44623"/>
            <a:ext cx="11508821" cy="1060430"/>
          </a:xfrm>
          <a:prstGeom prst="rect">
            <a:avLst/>
          </a:prstGeom>
          <a:noFill/>
          <a:ln/>
        </p:spPr>
        <p:txBody>
          <a:bodyPr wrap="square" rtlCol="0" anchor="t">
            <a:normAutofit/>
          </a:bodyPr>
          <a:lstStyle/>
          <a:p>
            <a:pPr indent="0" marL="0">
              <a:buNone/>
            </a:pPr>
            <a:r>
              <a:rPr lang="en-US" sz="2000" dirty="0">
                <a:solidFill>
                  <a:srgbClr val="1F497D"/>
                </a:solidFill>
                <a:latin typeface="Segoe UI" pitchFamily="34" charset="0"/>
                <a:ea typeface="Segoe UI" pitchFamily="34" charset="-122"/>
                <a:cs typeface="Segoe UI" pitchFamily="34" charset="-120"/>
              </a:rPr>
              <a:t>Thailand - Major Local Players</a:t>
            </a:r>
            <a:pPr indent="0" marL="0">
              <a:spcBef>
                <a:spcPts val="200"/>
              </a:spcBef>
              <a:buNone/>
            </a:pPr>
            <a:r>
              <a:rPr lang="en-US" sz="1600" dirty="0">
                <a:solidFill>
                  <a:srgbClr val="1F497D"/>
                </a:solidFill>
                <a:latin typeface="Segoe UI" pitchFamily="34" charset="0"/>
                <a:ea typeface="Segoe UI" pitchFamily="34" charset="-122"/>
                <a:cs typeface="Segoe UI" pitchFamily="34" charset="-120"/>
              </a:rPr>
              <a:t>Top 5 local players hold 45% of domestic ESCO market</a:t>
            </a:r>
            <a:endParaRPr lang="en-US" sz="2000" dirty="0"/>
          </a:p>
        </p:txBody>
      </p:sp>
      <p:sp>
        <p:nvSpPr>
          <p:cNvPr id="3" name="Text 1"/>
          <p:cNvSpPr/>
          <p:nvPr/>
        </p:nvSpPr>
        <p:spPr>
          <a:xfrm>
            <a:off x="338054" y="6114410"/>
            <a:ext cx="11514399" cy="230795"/>
          </a:xfrm>
          <a:prstGeom prst="rect">
            <a:avLst/>
          </a:prstGeom>
          <a:noFill/>
          <a:ln/>
        </p:spPr>
        <p:txBody>
          <a:bodyPr wrap="square" rtlCol="0" anchor="t"/>
          <a:lstStyle/>
          <a:p>
            <a:pPr indent="0" marL="0">
              <a:buNone/>
            </a:pPr>
            <a:r>
              <a:rPr lang="en-US" sz="1000" dirty="0">
                <a:solidFill>
                  <a:srgbClr val="999999"/>
                </a:solidFill>
                <a:latin typeface="Segoe UI" pitchFamily="34" charset="0"/>
                <a:ea typeface="Segoe UI" pitchFamily="34" charset="-122"/>
                <a:cs typeface="Segoe UI" pitchFamily="34" charset="-120"/>
              </a:rPr>
              <a:t>Source: YCP Analysis</a:t>
            </a:r>
            <a:endParaRPr lang="en-US" sz="1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35310" y="1341425"/>
          <a:ext cx="11521714" cy="4751405"/>
        </p:xfrm>
        <a:graphic>
          <a:graphicData uri="http://schemas.openxmlformats.org/drawingml/2006/table">
            <a:tbl>
              <a:tblPr/>
              <a:tblGrid>
                <a:gridCol w="1556368"/>
                <a:gridCol w="1325795"/>
                <a:gridCol w="1014901"/>
                <a:gridCol w="7611757"/>
              </a:tblGrid>
              <a:tr h="1187851">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Company</a:t>
                      </a:r>
                      <a:endParaRPr lang="en-US" sz="1400" dirty="0">
                        <a:latin typeface="Segoe UI" charset="0"/>
                        <a:ea typeface="Segoe UI" charset="0"/>
                        <a:cs typeface="Segoe UI" charset="0"/>
                      </a:endParaRPr>
                    </a:p>
                  </a:txBody>
                  <a:tcPr marL="36576" marR="36576" marT="0" marB="0" anchor="mid">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Type</a:t>
                      </a:r>
                      <a:endParaRPr lang="en-US" sz="1400" dirty="0">
                        <a:latin typeface="Segoe UI" charset="0"/>
                        <a:ea typeface="Segoe UI" charset="0"/>
                        <a:cs typeface="Segoe UI" charset="0"/>
                      </a:endParaRPr>
                    </a:p>
                  </a:txBody>
                  <a:tcPr marL="36576" marR="36576" marT="0" marB="0" anchor="mid">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Revenue</a:t>
                      </a:r>
                      <a:endParaRPr lang="en-US" sz="1400" dirty="0">
                        <a:latin typeface="Segoe UI" charset="0"/>
                        <a:ea typeface="Segoe UI" charset="0"/>
                        <a:cs typeface="Segoe UI" charset="0"/>
                      </a:endParaRPr>
                    </a:p>
                  </a:txBody>
                  <a:tcPr marL="36576" marR="36576" marT="0" marB="0" anchor="mid">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Description</a:t>
                      </a:r>
                      <a:endParaRPr lang="en-US" sz="1400" dirty="0">
                        <a:latin typeface="Segoe UI" charset="0"/>
                        <a:ea typeface="Segoe UI" charset="0"/>
                        <a:cs typeface="Segoe UI" charset="0"/>
                      </a:endParaRPr>
                    </a:p>
                  </a:txBody>
                  <a:tcPr marL="36576" marR="36576" marT="0" marB="0" anchor="mid">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r>
              <a:tr h="1187851">
                <a:tc>
                  <a:txBody>
                    <a:bodyPr/>
                    <a:lstStyle/>
                    <a:p>
                      <a:pPr indent="0" marL="0">
                        <a:buNone/>
                      </a:pPr>
                      <a:r>
                        <a:rPr lang="en-US" sz="1400" u="sng" dirty="0">
                          <a:solidFill>
                            <a:srgbClr val="0066CC"/>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Absolute Clean Energy (ACE)</a:t>
                      </a:r>
                      <a:endParaRPr lang="en-US" sz="1400" dirty="0">
                        <a:latin typeface="Segoe UI" charset="0"/>
                        <a:ea typeface="Segoe UI" charset="0"/>
                        <a:cs typeface="Segoe UI" charset="0"/>
                      </a:endParaRPr>
                    </a:p>
                  </a:txBody>
                  <a:tcPr marL="36576" marR="36576" marT="0" marB="0" anchor="mid">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Listed energy company</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THB 8.2B</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Largest Thai ESCO by project count with 300+ completed energy savings contracts across government and industrial segments. Revenue grew 22% YoY driven by mandatory government building retrofits. Strong relationships...</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r>
              <a:tr h="1187851">
                <a:tc>
                  <a:txBody>
                    <a:bodyPr/>
                    <a:lstStyle/>
                    <a:p>
                      <a:pPr indent="0" marL="0">
                        <a:buNone/>
                      </a:pPr>
                      <a:r>
                        <a:rPr lang="en-US" sz="1400" u="sng" dirty="0">
                          <a:solidFill>
                            <a:srgbClr val="0066CC"/>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Energy Absolute PCL</a:t>
                      </a:r>
                      <a:endParaRPr lang="en-US" sz="1400" dirty="0">
                        <a:latin typeface="Segoe UI" charset="0"/>
                        <a:ea typeface="Segoe UI" charset="0"/>
                        <a:cs typeface="Segoe UI" charset="0"/>
                      </a:endParaRPr>
                    </a:p>
                  </a:txBody>
                  <a:tcPr marL="36576" marR="36576" marT="0" marB="0" anchor="mid">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Listed renewable energy</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THB 15.1B</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Diversified clean energy group expanding into ESCO services from renewable generation base. THB 15.1B total revenue with ESCO segment growing 35% to reach THB 1.2B in 2023. Leverages existing solar and wind farm...</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r>
              <a:tr h="1187851">
                <a:tc>
                  <a:txBody>
                    <a:bodyPr/>
                    <a:lstStyle/>
                    <a:p>
                      <a:pPr indent="0" marL="0">
                        <a:buNone/>
                      </a:pPr>
                      <a:r>
                        <a:rPr lang="en-US" sz="1400" u="sng" dirty="0">
                          <a:solidFill>
                            <a:srgbClr val="0066CC"/>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Gunkul Engineering</a:t>
                      </a:r>
                      <a:endParaRPr lang="en-US" sz="1400" dirty="0">
                        <a:latin typeface="Segoe UI" charset="0"/>
                        <a:ea typeface="Segoe UI" charset="0"/>
                        <a:cs typeface="Segoe UI" charset="0"/>
                      </a:endParaRPr>
                    </a:p>
                  </a:txBody>
                  <a:tcPr marL="36576" marR="36576" marT="0" marB="0" anchor="mid">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Engineering contractor</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THB 6.8B</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Engineering-led ESCO with deep technical capabilities in electrical systems and renewable integration. THB 6.8B revenue with 10% market share in industrial segment. Strong execution track record with 95% project...</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r>
            </a:tbl>
          </a:graphicData>
        </a:graphic>
      </p:graphicFrame>
      <p:sp>
        <p:nvSpPr>
          <p:cNvPr id="5" name="Text 2"/>
          <p:cNvSpPr/>
          <p:nvPr/>
        </p:nvSpPr>
        <p:spPr>
          <a:xfrm>
            <a:off x="343632" y="3520440"/>
            <a:ext cx="11508821" cy="594360"/>
          </a:xfrm>
          <a:prstGeom prst="rect">
            <a:avLst/>
          </a:prstGeom>
          <a:solidFill>
            <a:srgbClr val="D9D9D9"/>
          </a:solidFill>
          <a:ln>
            <a:solidFill>
              <a:srgbClr val="BFBFBF"/>
            </a:solidFill>
          </a:ln>
        </p:spPr>
        <p:txBody>
          <a:bodyPr wrap="square" lIns="63500" tIns="101600" rIns="101600" bIns="63500" rtlCol="0" anchor="t">
            <a:normAutofit/>
          </a:bodyPr>
          <a:lstStyle/>
          <a:p>
            <a:pPr indent="0" marL="0">
              <a:buNone/>
            </a:pPr>
            <a:r>
              <a:rPr lang="en-US" sz="1200" b="1" dirty="0">
                <a:solidFill>
                  <a:srgbClr val="1F497D"/>
                </a:solidFill>
                <a:latin typeface="Segoe UI" pitchFamily="34" charset="0"/>
                <a:ea typeface="Segoe UI" pitchFamily="34" charset="-122"/>
                <a:cs typeface="Segoe UI" pitchFamily="34" charset="-120"/>
              </a:rPr>
              <a:t>Competitive Insights
</a:t>
            </a:r>
            <a:pPr indent="0" marL="0">
              <a:buNone/>
            </a:pPr>
            <a:r>
              <a:rPr lang="en-US" sz="1100" dirty="0">
                <a:solidFill>
                  <a:srgbClr val="000000"/>
                </a:solidFill>
                <a:latin typeface="Segoe UI" pitchFamily="34" charset="0"/>
                <a:ea typeface="Segoe UI" pitchFamily="34" charset="-122"/>
                <a:cs typeface="Segoe UI" pitchFamily="34" charset="-120"/>
              </a:rPr>
              <a:t>Top 5 local players hold 45% of domestic ESCO market | 3 players identified | Leader: Absolute Clean Energy (ACE) (15%)</a:t>
            </a:r>
            <a:endParaRPr lang="en-US" sz="1200" dirty="0"/>
          </a:p>
        </p:txBody>
      </p:sp>
      <p:sp>
        <p:nvSpPr>
          <p:cNvPr id="6" name="Text 3"/>
          <p:cNvSpPr/>
          <p:nvPr/>
        </p:nvSpPr>
        <p:spPr>
          <a:xfrm>
            <a:off x="343632" y="4206240"/>
            <a:ext cx="11508821" cy="1097280"/>
          </a:xfrm>
          <a:prstGeom prst="rect">
            <a:avLst/>
          </a:prstGeom>
          <a:solidFill>
            <a:srgbClr val="FFFFFF"/>
          </a:solidFill>
          <a:ln>
            <a:solidFill>
              <a:srgbClr val="F2F2F2"/>
            </a:solidFill>
          </a:ln>
        </p:spPr>
        <p:txBody>
          <a:bodyPr wrap="square" lIns="50800" tIns="101600" rIns="101600" bIns="50800" rtlCol="0" anchor="t"/>
          <a:lstStyle/>
          <a:p>
            <a:pPr indent="0" marL="0">
              <a:buNone/>
            </a:pPr>
            <a:r>
              <a:rPr lang="en-US" sz="1100" b="1" dirty="0">
                <a:solidFill>
                  <a:srgbClr val="444444"/>
                </a:solidFill>
                <a:latin typeface="Segoe UI" pitchFamily="34" charset="0"/>
                <a:ea typeface="Segoe UI" pitchFamily="34" charset="-122"/>
                <a:cs typeface="Segoe UI" pitchFamily="34" charset="-120"/>
              </a:rPr>
              <a:t>Absolute Clean Energy (ACE): </a:t>
            </a:r>
            <a:pPr indent="0" marL="0">
              <a:buNone/>
            </a:pPr>
            <a:r>
              <a:rPr lang="en-US" sz="1100" dirty="0">
                <a:solidFill>
                  <a:srgbClr val="444444"/>
                </a:solidFill>
                <a:latin typeface="Segoe UI" pitchFamily="34" charset="0"/>
                <a:ea typeface="Segoe UI" pitchFamily="34" charset="-122"/>
                <a:cs typeface="Segoe UI" pitchFamily="34" charset="-120"/>
              </a:rPr>
              <a:t>Market leader with government relationships but limited technical depth in complex industrial processes; JV partner candidate for technology transfer</a:t>
            </a:r>
            <a:pPr indent="0" marL="0">
              <a:buNone/>
            </a:pPr>
            <a:r>
              <a:rPr lang="en-US" sz="1100" dirty="0">
                <a:solidFill>
                  <a:srgbClr val="444444"/>
                </a:solidFill>
                <a:latin typeface="Segoe UI" pitchFamily="34" charset="0"/>
                <a:ea typeface="Segoe UI" pitchFamily="34" charset="-122"/>
                <a:cs typeface="Segoe UI" pitchFamily="34" charset="-120"/>
              </a:rPr>
              <a:t>
</a:t>
            </a:r>
            <a:pPr indent="0" marL="0">
              <a:buNone/>
            </a:pPr>
            <a:r>
              <a:rPr lang="en-US" sz="1100" b="1" dirty="0">
                <a:solidFill>
                  <a:srgbClr val="444444"/>
                </a:solidFill>
                <a:latin typeface="Segoe UI" pitchFamily="34" charset="0"/>
                <a:ea typeface="Segoe UI" pitchFamily="34" charset="-122"/>
                <a:cs typeface="Segoe UI" pitchFamily="34" charset="-120"/>
              </a:rPr>
              <a:t>Energy Absolute PCL: </a:t>
            </a:r>
            <a:pPr indent="0" marL="0">
              <a:buNone/>
            </a:pPr>
            <a:r>
              <a:rPr lang="en-US" sz="1100" dirty="0">
                <a:solidFill>
                  <a:srgbClr val="444444"/>
                </a:solidFill>
                <a:latin typeface="Segoe UI" pitchFamily="34" charset="0"/>
                <a:ea typeface="Segoe UI" pitchFamily="34" charset="-122"/>
                <a:cs typeface="Segoe UI" pitchFamily="34" charset="-120"/>
              </a:rPr>
              <a:t>Financial strength and existing energy customer base create cross-sell opportunities; ESCO division still nascent with limited technical team</a:t>
            </a:r>
            <a:pPr indent="0" marL="0">
              <a:buNone/>
            </a:pPr>
            <a:r>
              <a:rPr lang="en-US" sz="1100" dirty="0">
                <a:solidFill>
                  <a:srgbClr val="444444"/>
                </a:solidFill>
                <a:latin typeface="Segoe UI" pitchFamily="34" charset="0"/>
                <a:ea typeface="Segoe UI" pitchFamily="34" charset="-122"/>
                <a:cs typeface="Segoe UI" pitchFamily="34" charset="-120"/>
              </a:rPr>
              <a:t>
</a:t>
            </a:r>
            <a:pPr indent="0" marL="0">
              <a:buNone/>
            </a:pPr>
            <a:r>
              <a:rPr lang="en-US" sz="1100" b="1" dirty="0">
                <a:solidFill>
                  <a:srgbClr val="444444"/>
                </a:solidFill>
                <a:latin typeface="Segoe UI" pitchFamily="34" charset="0"/>
                <a:ea typeface="Segoe UI" pitchFamily="34" charset="-122"/>
                <a:cs typeface="Segoe UI" pitchFamily="34" charset="-120"/>
              </a:rPr>
              <a:t>Gunkul Engineering: </a:t>
            </a:r>
            <a:pPr indent="0" marL="0">
              <a:buNone/>
            </a:pPr>
            <a:r>
              <a:rPr lang="en-US" sz="1100" dirty="0">
                <a:solidFill>
                  <a:srgbClr val="444444"/>
                </a:solidFill>
                <a:latin typeface="Segoe UI" pitchFamily="34" charset="0"/>
                <a:ea typeface="Segoe UI" pitchFamily="34" charset="-122"/>
                <a:cs typeface="Segoe UI" pitchFamily="34" charset="-120"/>
              </a:rPr>
              <a:t>Best technical execution among local players; potential acquisition target valued at 8-10x EBITDA based on comparable transactions</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343632" y="44623"/>
            <a:ext cx="11508821" cy="1060430"/>
          </a:xfrm>
          <a:prstGeom prst="rect">
            <a:avLst/>
          </a:prstGeom>
          <a:noFill/>
          <a:ln/>
        </p:spPr>
        <p:txBody>
          <a:bodyPr wrap="square" rtlCol="0" anchor="t">
            <a:normAutofit/>
          </a:bodyPr>
          <a:lstStyle/>
          <a:p>
            <a:pPr indent="0" marL="0">
              <a:buNone/>
            </a:pPr>
            <a:r>
              <a:rPr lang="en-US" sz="2000" dirty="0">
                <a:solidFill>
                  <a:srgbClr val="1F497D"/>
                </a:solidFill>
                <a:latin typeface="Segoe UI" pitchFamily="34" charset="0"/>
                <a:ea typeface="Segoe UI" pitchFamily="34" charset="-122"/>
                <a:cs typeface="Segoe UI" pitchFamily="34" charset="-120"/>
              </a:rPr>
              <a:t>Thailand - Foreign Energy Services Companies</a:t>
            </a:r>
            <a:pPr indent="0" marL="0">
              <a:spcBef>
                <a:spcPts val="200"/>
              </a:spcBef>
              <a:buNone/>
            </a:pPr>
            <a:r>
              <a:rPr lang="en-US" sz="1600" dirty="0">
                <a:solidFill>
                  <a:srgbClr val="1F497D"/>
                </a:solidFill>
                <a:latin typeface="Segoe UI" pitchFamily="34" charset="0"/>
                <a:ea typeface="Segoe UI" pitchFamily="34" charset="-122"/>
                <a:cs typeface="Segoe UI" pitchFamily="34" charset="-120"/>
              </a:rPr>
              <a:t>European players dominate technical consulting while Korean and Chinese firms compete on price in equipment-led projects</a:t>
            </a:r>
            <a:endParaRPr lang="en-US" sz="2000" dirty="0"/>
          </a:p>
        </p:txBody>
      </p:sp>
      <p:sp>
        <p:nvSpPr>
          <p:cNvPr id="3" name="Text 1"/>
          <p:cNvSpPr/>
          <p:nvPr/>
        </p:nvSpPr>
        <p:spPr>
          <a:xfrm>
            <a:off x="338054" y="6114410"/>
            <a:ext cx="11514399" cy="230795"/>
          </a:xfrm>
          <a:prstGeom prst="rect">
            <a:avLst/>
          </a:prstGeom>
          <a:noFill/>
          <a:ln/>
        </p:spPr>
        <p:txBody>
          <a:bodyPr wrap="square" rtlCol="0" anchor="t"/>
          <a:lstStyle/>
          <a:p>
            <a:pPr indent="0" marL="0">
              <a:buNone/>
            </a:pPr>
            <a:r>
              <a:rPr lang="en-US" sz="1000" dirty="0">
                <a:solidFill>
                  <a:srgbClr val="999999"/>
                </a:solidFill>
                <a:latin typeface="Segoe UI" pitchFamily="34" charset="0"/>
                <a:ea typeface="Segoe UI" pitchFamily="34" charset="-122"/>
                <a:cs typeface="Segoe UI" pitchFamily="34" charset="-120"/>
              </a:rPr>
              <a:t>Source: YCP Analysis</a:t>
            </a:r>
            <a:endParaRPr lang="en-US" sz="1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35310" y="1341425"/>
          <a:ext cx="11521714" cy="4751405"/>
        </p:xfrm>
        <a:graphic>
          <a:graphicData uri="http://schemas.openxmlformats.org/drawingml/2006/table">
            <a:tbl>
              <a:tblPr/>
              <a:tblGrid>
                <a:gridCol w="1398696"/>
                <a:gridCol w="994401"/>
                <a:gridCol w="1657713"/>
                <a:gridCol w="7458011"/>
              </a:tblGrid>
              <a:tr h="1187851">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Company</a:t>
                      </a:r>
                      <a:endParaRPr lang="en-US" sz="1400" dirty="0">
                        <a:latin typeface="Segoe UI" charset="0"/>
                        <a:ea typeface="Segoe UI" charset="0"/>
                        <a:cs typeface="Segoe UI" charset="0"/>
                      </a:endParaRPr>
                    </a:p>
                  </a:txBody>
                  <a:tcPr marL="36576" marR="36576" marT="0" marB="0" anchor="mid">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Origin</a:t>
                      </a:r>
                      <a:endParaRPr lang="en-US" sz="1400" dirty="0">
                        <a:latin typeface="Segoe UI" charset="0"/>
                        <a:ea typeface="Segoe UI" charset="0"/>
                        <a:cs typeface="Segoe UI" charset="0"/>
                      </a:endParaRPr>
                    </a:p>
                  </a:txBody>
                  <a:tcPr marL="36576" marR="36576" marT="0" marB="0" anchor="mid">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Mode</a:t>
                      </a:r>
                      <a:endParaRPr lang="en-US" sz="1400" dirty="0">
                        <a:latin typeface="Segoe UI" charset="0"/>
                        <a:ea typeface="Segoe UI" charset="0"/>
                        <a:cs typeface="Segoe UI" charset="0"/>
                      </a:endParaRPr>
                    </a:p>
                  </a:txBody>
                  <a:tcPr marL="36576" marR="36576" marT="0" marB="0" anchor="mid">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Description</a:t>
                      </a:r>
                      <a:endParaRPr lang="en-US" sz="1400" dirty="0">
                        <a:latin typeface="Segoe UI" charset="0"/>
                        <a:ea typeface="Segoe UI" charset="0"/>
                        <a:cs typeface="Segoe UI" charset="0"/>
                      </a:endParaRPr>
                    </a:p>
                  </a:txBody>
                  <a:tcPr marL="36576" marR="36576" marT="0" marB="0" anchor="mid">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r>
              <a:tr h="1187851">
                <a:tc>
                  <a:txBody>
                    <a:bodyPr/>
                    <a:lstStyle/>
                    <a:p>
                      <a:pPr indent="0" marL="0">
                        <a:buNone/>
                      </a:pPr>
                      <a:r>
                        <a:rPr lang="en-US" sz="1400" u="sng" dirty="0">
                          <a:solidFill>
                            <a:srgbClr val="0066CC"/>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Schneider Electric Thailand</a:t>
                      </a:r>
                      <a:endParaRPr lang="en-US" sz="1400" dirty="0">
                        <a:latin typeface="Segoe UI" charset="0"/>
                        <a:ea typeface="Segoe UI" charset="0"/>
                        <a:cs typeface="Segoe UI" charset="0"/>
                      </a:endParaRPr>
                    </a:p>
                  </a:txBody>
                  <a:tcPr marL="36576" marR="36576" marT="0" marB="0" anchor="mid">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France</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Wholly-owned subsidiary</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Entered: 1998. Market leader in building management and industrial automation with THB 9.8B Thailand revenue. EcoStruxure platform deployed in 500+ buildings. Recent focus on data center energy optimization as cloud demand surges...</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r>
              <a:tr h="1187851">
                <a:tc>
                  <a:txBody>
                    <a:bodyPr/>
                    <a:lstStyle/>
                    <a:p>
                      <a:pPr indent="0" marL="0">
                        <a:buNone/>
                      </a:pPr>
                      <a:r>
                        <a:rPr lang="en-US" sz="1400" u="sng" dirty="0">
                          <a:solidFill>
                            <a:srgbClr val="0066CC"/>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Siemens Energy Thailand</a:t>
                      </a:r>
                      <a:endParaRPr lang="en-US" sz="1400" dirty="0">
                        <a:latin typeface="Segoe UI" charset="0"/>
                        <a:ea typeface="Segoe UI" charset="0"/>
                        <a:cs typeface="Segoe UI" charset="0"/>
                      </a:endParaRPr>
                    </a:p>
                  </a:txBody>
                  <a:tcPr marL="36576" marR="36576" marT="0" marB="0" anchor="mid">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Germany</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Joint venture with local partner</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Entered: 2005. Gas turbine services and grid solutions specialist with growing ESCO division. THB 5.5B revenue with 18% growth in digital energy services. MindSphere IoT platform gaining traction in petrochemical sector with 12...</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r>
              <a:tr h="1187851">
                <a:tc>
                  <a:txBody>
                    <a:bodyPr/>
                    <a:lstStyle/>
                    <a:p>
                      <a:pPr indent="0" marL="0">
                        <a:buNone/>
                      </a:pPr>
                      <a:r>
                        <a:rPr lang="en-US" sz="1400" u="sng" dirty="0">
                          <a:solidFill>
                            <a:srgbClr val="0066CC"/>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Samsung C&amp;T Energy Division</a:t>
                      </a:r>
                      <a:endParaRPr lang="en-US" sz="1400" dirty="0">
                        <a:latin typeface="Segoe UI" charset="0"/>
                        <a:ea typeface="Segoe UI" charset="0"/>
                        <a:cs typeface="Segoe UI" charset="0"/>
                      </a:endParaRPr>
                    </a:p>
                  </a:txBody>
                  <a:tcPr marL="36576" marR="36576" marT="0" marB="0" anchor="mid">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South Korea</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Branch office</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Entered: 2015. Aggressive expansion in smart building and renewable energy project development. THB 2.1B Thailand revenue growing 28% annually. Leverages Samsung Electronics ecosystem for IoT and building automation integration....</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r>
            </a:tbl>
          </a:graphicData>
        </a:graphic>
      </p:graphicFrame>
      <p:sp>
        <p:nvSpPr>
          <p:cNvPr id="5" name="Text 2"/>
          <p:cNvSpPr/>
          <p:nvPr/>
        </p:nvSpPr>
        <p:spPr>
          <a:xfrm>
            <a:off x="343632" y="3520440"/>
            <a:ext cx="11508821" cy="594360"/>
          </a:xfrm>
          <a:prstGeom prst="rect">
            <a:avLst/>
          </a:prstGeom>
          <a:solidFill>
            <a:srgbClr val="D9D9D9"/>
          </a:solidFill>
          <a:ln>
            <a:solidFill>
              <a:srgbClr val="BFBFBF"/>
            </a:solidFill>
          </a:ln>
        </p:spPr>
        <p:txBody>
          <a:bodyPr wrap="square" lIns="63500" tIns="101600" rIns="101600" bIns="63500" rtlCol="0" anchor="t">
            <a:normAutofit/>
          </a:bodyPr>
          <a:lstStyle/>
          <a:p>
            <a:pPr indent="0" marL="0">
              <a:buNone/>
            </a:pPr>
            <a:r>
              <a:rPr lang="en-US" sz="1200" b="1" dirty="0">
                <a:solidFill>
                  <a:srgbClr val="1F497D"/>
                </a:solidFill>
                <a:latin typeface="Segoe UI" pitchFamily="34" charset="0"/>
                <a:ea typeface="Segoe UI" pitchFamily="34" charset="-122"/>
                <a:cs typeface="Segoe UI" pitchFamily="34" charset="-120"/>
              </a:rPr>
              <a:t>Competitive Insights
</a:t>
            </a:r>
            <a:pPr indent="0" marL="0">
              <a:buNone/>
            </a:pPr>
            <a:r>
              <a:rPr lang="en-US" sz="1100" dirty="0">
                <a:solidFill>
                  <a:srgbClr val="000000"/>
                </a:solidFill>
                <a:latin typeface="Segoe UI" pitchFamily="34" charset="0"/>
                <a:ea typeface="Segoe UI" pitchFamily="34" charset="-122"/>
                <a:cs typeface="Segoe UI" pitchFamily="34" charset="-120"/>
              </a:rPr>
              <a:t>European players dominate technical consulting while Korean and Chinese firms compete on price in equipment-led projects | 3 players identified</a:t>
            </a:r>
            <a:endParaRPr lang="en-US" sz="1200" dirty="0"/>
          </a:p>
        </p:txBody>
      </p:sp>
      <p:sp>
        <p:nvSpPr>
          <p:cNvPr id="6" name="Text 3"/>
          <p:cNvSpPr/>
          <p:nvPr/>
        </p:nvSpPr>
        <p:spPr>
          <a:xfrm>
            <a:off x="343632" y="4206240"/>
            <a:ext cx="11508821" cy="1097280"/>
          </a:xfrm>
          <a:prstGeom prst="rect">
            <a:avLst/>
          </a:prstGeom>
          <a:solidFill>
            <a:srgbClr val="FFFFFF"/>
          </a:solidFill>
          <a:ln>
            <a:solidFill>
              <a:srgbClr val="F2F2F2"/>
            </a:solidFill>
          </a:ln>
        </p:spPr>
        <p:txBody>
          <a:bodyPr wrap="square" lIns="50800" tIns="101600" rIns="101600" bIns="50800" rtlCol="0" anchor="t"/>
          <a:lstStyle/>
          <a:p>
            <a:pPr indent="0" marL="0">
              <a:buNone/>
            </a:pPr>
            <a:r>
              <a:rPr lang="en-US" sz="1100" b="1" dirty="0">
                <a:solidFill>
                  <a:srgbClr val="444444"/>
                </a:solidFill>
                <a:latin typeface="Segoe UI" pitchFamily="34" charset="0"/>
                <a:ea typeface="Segoe UI" pitchFamily="34" charset="-122"/>
                <a:cs typeface="Segoe UI" pitchFamily="34" charset="-120"/>
              </a:rPr>
              <a:t>Schneider Electric Thailand: </a:t>
            </a:r>
            <a:pPr indent="0" marL="0">
              <a:buNone/>
            </a:pPr>
            <a:r>
              <a:rPr lang="en-US" sz="1100" dirty="0">
                <a:solidFill>
                  <a:srgbClr val="444444"/>
                </a:solidFill>
                <a:latin typeface="Segoe UI" pitchFamily="34" charset="0"/>
                <a:ea typeface="Segoe UI" pitchFamily="34" charset="-122"/>
                <a:cs typeface="Segoe UI" pitchFamily="34" charset="-120"/>
              </a:rPr>
              <a:t>Dominant technology position but high-cost structure limits addressable market; partnership model preferred over direct competition</a:t>
            </a:r>
            <a:pPr indent="0" marL="0">
              <a:buNone/>
            </a:pPr>
            <a:r>
              <a:rPr lang="en-US" sz="1100" dirty="0">
                <a:solidFill>
                  <a:srgbClr val="444444"/>
                </a:solidFill>
                <a:latin typeface="Segoe UI" pitchFamily="34" charset="0"/>
                <a:ea typeface="Segoe UI" pitchFamily="34" charset="-122"/>
                <a:cs typeface="Segoe UI" pitchFamily="34" charset="-120"/>
              </a:rPr>
              <a:t>
</a:t>
            </a:r>
            <a:pPr indent="0" marL="0">
              <a:buNone/>
            </a:pPr>
            <a:r>
              <a:rPr lang="en-US" sz="1100" b="1" dirty="0">
                <a:solidFill>
                  <a:srgbClr val="444444"/>
                </a:solidFill>
                <a:latin typeface="Segoe UI" pitchFamily="34" charset="0"/>
                <a:ea typeface="Segoe UI" pitchFamily="34" charset="-122"/>
                <a:cs typeface="Segoe UI" pitchFamily="34" charset="-120"/>
              </a:rPr>
              <a:t>Siemens Energy Thailand: </a:t>
            </a:r>
            <a:pPr indent="0" marL="0">
              <a:buNone/>
            </a:pPr>
            <a:r>
              <a:rPr lang="en-US" sz="1100" dirty="0">
                <a:solidFill>
                  <a:srgbClr val="444444"/>
                </a:solidFill>
                <a:latin typeface="Segoe UI" pitchFamily="34" charset="0"/>
                <a:ea typeface="Segoe UI" pitchFamily="34" charset="-122"/>
                <a:cs typeface="Segoe UI" pitchFamily="34" charset="-120"/>
              </a:rPr>
              <a:t>Strong in heavy industry and petrochemicals; limited presence in commercial building segment creates complementary partnership potential</a:t>
            </a:r>
            <a:pPr indent="0" marL="0">
              <a:buNone/>
            </a:pPr>
            <a:r>
              <a:rPr lang="en-US" sz="1100" dirty="0">
                <a:solidFill>
                  <a:srgbClr val="444444"/>
                </a:solidFill>
                <a:latin typeface="Segoe UI" pitchFamily="34" charset="0"/>
                <a:ea typeface="Segoe UI" pitchFamily="34" charset="-122"/>
                <a:cs typeface="Segoe UI" pitchFamily="34" charset="-120"/>
              </a:rPr>
              <a:t>
</a:t>
            </a:r>
            <a:pPr indent="0" marL="0">
              <a:buNone/>
            </a:pPr>
            <a:r>
              <a:rPr lang="en-US" sz="1100" b="1" dirty="0">
                <a:solidFill>
                  <a:srgbClr val="444444"/>
                </a:solidFill>
                <a:latin typeface="Segoe UI" pitchFamily="34" charset="0"/>
                <a:ea typeface="Segoe UI" pitchFamily="34" charset="-122"/>
                <a:cs typeface="Segoe UI" pitchFamily="34" charset="-120"/>
              </a:rPr>
              <a:t>Samsung C&amp;T Energy Division: </a:t>
            </a:r>
            <a:pPr indent="0" marL="0">
              <a:buNone/>
            </a:pPr>
            <a:r>
              <a:rPr lang="en-US" sz="1100" dirty="0">
                <a:solidFill>
                  <a:srgbClr val="444444"/>
                </a:solidFill>
                <a:latin typeface="Segoe UI" pitchFamily="34" charset="0"/>
                <a:ea typeface="Segoe UI" pitchFamily="34" charset="-122"/>
                <a:cs typeface="Segoe UI" pitchFamily="34" charset="-120"/>
              </a:rPr>
              <a:t>Fast-growing with technology integration advantages; price-competitive but limited local engineering team constrains project delivery capacity</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343632" y="44623"/>
            <a:ext cx="11508821" cy="1060430"/>
          </a:xfrm>
          <a:prstGeom prst="rect">
            <a:avLst/>
          </a:prstGeom>
          <a:noFill/>
          <a:ln/>
        </p:spPr>
        <p:txBody>
          <a:bodyPr wrap="square" rtlCol="0" anchor="t">
            <a:normAutofit/>
          </a:bodyPr>
          <a:lstStyle/>
          <a:p>
            <a:pPr indent="0" marL="0">
              <a:buNone/>
            </a:pPr>
            <a:r>
              <a:rPr lang="en-US" sz="2000" dirty="0">
                <a:solidFill>
                  <a:srgbClr val="1F497D"/>
                </a:solidFill>
                <a:latin typeface="Segoe UI" pitchFamily="34" charset="0"/>
                <a:ea typeface="Segoe UI" pitchFamily="34" charset="-122"/>
                <a:cs typeface="Segoe UI" pitchFamily="34" charset="-120"/>
              </a:rPr>
              <a:t>Thailand - Market Entry Case Study: Veolia</a:t>
            </a:r>
            <a:pPr indent="0" marL="0">
              <a:spcBef>
                <a:spcPts val="200"/>
              </a:spcBef>
              <a:buNone/>
            </a:pPr>
            <a:r>
              <a:rPr lang="en-US" sz="1600" dirty="0">
                <a:solidFill>
                  <a:srgbClr val="1F497D"/>
                </a:solidFill>
                <a:latin typeface="Segoe UI" pitchFamily="34" charset="0"/>
                <a:ea typeface="Segoe UI" pitchFamily="34" charset="-122"/>
                <a:cs typeface="Segoe UI" pitchFamily="34" charset="-120"/>
              </a:rPr>
              <a:t>Demonstrates acquisition-led entry can accelerate market access; local talent retention critical for relationship-driven Thai market</a:t>
            </a:r>
            <a:endParaRPr lang="en-US" sz="2000" dirty="0"/>
          </a:p>
        </p:txBody>
      </p:sp>
      <p:sp>
        <p:nvSpPr>
          <p:cNvPr id="3" name="Text 1"/>
          <p:cNvSpPr/>
          <p:nvPr/>
        </p:nvSpPr>
        <p:spPr>
          <a:xfrm>
            <a:off x="340248" y="6095482"/>
            <a:ext cx="11516777" cy="554035"/>
          </a:xfrm>
          <a:prstGeom prst="rect">
            <a:avLst/>
          </a:prstGeom>
          <a:noFill/>
          <a:ln/>
        </p:spPr>
        <p:txBody>
          <a:bodyPr wrap="square" rtlCol="0" anchor="t"/>
          <a:lstStyle/>
          <a:p>
            <a:pPr indent="0" marL="0">
              <a:buNone/>
            </a:pPr>
            <a:r>
              <a:rPr lang="en-US" sz="1000" dirty="0">
                <a:solidFill>
                  <a:srgbClr val="999999"/>
                </a:solidFill>
                <a:latin typeface="Segoe UI" pitchFamily="34" charset="0"/>
                <a:ea typeface="Segoe UI" pitchFamily="34" charset="-122"/>
                <a:cs typeface="Segoe UI" pitchFamily="34" charset="-120"/>
              </a:rPr>
              <a:t>Source: YCP Analysis</a:t>
            </a:r>
            <a:endParaRPr lang="en-US" sz="1000" dirty="0"/>
          </a:p>
        </p:txBody>
      </p:sp>
      <p:sp>
        <p:nvSpPr>
          <p:cNvPr id="4" name="Shape 2"/>
          <p:cNvSpPr/>
          <p:nvPr/>
        </p:nvSpPr>
        <p:spPr>
          <a:xfrm>
            <a:off x="343632" y="1371600"/>
            <a:ext cx="1828800" cy="731520"/>
          </a:xfrm>
          <a:prstGeom prst="rect">
            <a:avLst/>
          </a:prstGeom>
          <a:solidFill>
            <a:srgbClr val="011AB7"/>
          </a:solidFill>
          <a:ln/>
        </p:spPr>
      </p:sp>
      <p:sp>
        <p:nvSpPr>
          <p:cNvPr id="5" name="Text 3"/>
          <p:cNvSpPr/>
          <p:nvPr/>
        </p:nvSpPr>
        <p:spPr>
          <a:xfrm>
            <a:off x="435072" y="1371600"/>
            <a:ext cx="1645920" cy="731520"/>
          </a:xfrm>
          <a:prstGeom prst="rect">
            <a:avLst/>
          </a:prstGeom>
          <a:noFill/>
          <a:ln/>
        </p:spPr>
        <p:txBody>
          <a:bodyPr wrap="square" rtlCol="0" anchor="ctr"/>
          <a:lstStyle/>
          <a:p>
            <a:pPr indent="0" marL="0">
              <a:buNone/>
            </a:pPr>
            <a:r>
              <a:rPr lang="en-US" sz="1400" dirty="0">
                <a:solidFill>
                  <a:srgbClr val="FFFFFF"/>
                </a:solidFill>
                <a:latin typeface="Segoe UI" pitchFamily="34" charset="0"/>
                <a:ea typeface="Segoe UI" pitchFamily="34" charset="-122"/>
                <a:cs typeface="Segoe UI" pitchFamily="34" charset="-120"/>
              </a:rPr>
              <a:t>Company</a:t>
            </a:r>
            <a:endParaRPr lang="en-US" sz="1400" dirty="0"/>
          </a:p>
        </p:txBody>
      </p:sp>
      <p:sp>
        <p:nvSpPr>
          <p:cNvPr id="6" name="Shape 4"/>
          <p:cNvSpPr/>
          <p:nvPr/>
        </p:nvSpPr>
        <p:spPr>
          <a:xfrm>
            <a:off x="2263872" y="1371600"/>
            <a:ext cx="9588581" cy="731520"/>
          </a:xfrm>
          <a:prstGeom prst="rect">
            <a:avLst/>
          </a:prstGeom>
          <a:solidFill>
            <a:srgbClr val="FFFFFF"/>
          </a:solidFill>
          <a:ln w="12700">
            <a:solidFill>
              <a:srgbClr val="BFBFBF"/>
            </a:solidFill>
            <a:prstDash val="solid"/>
          </a:ln>
        </p:spPr>
      </p:sp>
      <p:sp>
        <p:nvSpPr>
          <p:cNvPr id="7" name="Text 5"/>
          <p:cNvSpPr/>
          <p:nvPr/>
        </p:nvSpPr>
        <p:spPr>
          <a:xfrm>
            <a:off x="2355312" y="1417320"/>
            <a:ext cx="9405701" cy="640080"/>
          </a:xfrm>
          <a:prstGeom prst="rect">
            <a:avLst/>
          </a:prstGeom>
          <a:noFill/>
          <a:ln/>
        </p:spPr>
        <p:txBody>
          <a:bodyPr wrap="square" rtlCol="0" anchor="t">
            <a:normAutofit/>
          </a:bodyPr>
          <a:lstStyle/>
          <a:p>
            <a:pPr indent="0" marL="0">
              <a:buNone/>
            </a:pPr>
            <a:r>
              <a:rPr lang="en-US" sz="1400" dirty="0">
                <a:solidFill>
                  <a:srgbClr val="000000"/>
                </a:solidFill>
                <a:latin typeface="Segoe UI" pitchFamily="34" charset="0"/>
                <a:ea typeface="Segoe UI" pitchFamily="34" charset="-122"/>
                <a:cs typeface="Segoe UI" pitchFamily="34" charset="-120"/>
              </a:rPr>
              <a:t>Veolia Environment Thailand</a:t>
            </a:r>
            <a:endParaRPr lang="en-US" sz="1400" dirty="0"/>
          </a:p>
        </p:txBody>
      </p:sp>
      <p:sp>
        <p:nvSpPr>
          <p:cNvPr id="8" name="Shape 6"/>
          <p:cNvSpPr/>
          <p:nvPr/>
        </p:nvSpPr>
        <p:spPr>
          <a:xfrm>
            <a:off x="343632" y="2194560"/>
            <a:ext cx="1828800" cy="914400"/>
          </a:xfrm>
          <a:prstGeom prst="rect">
            <a:avLst/>
          </a:prstGeom>
          <a:solidFill>
            <a:srgbClr val="011AB7"/>
          </a:solidFill>
          <a:ln/>
        </p:spPr>
      </p:sp>
      <p:sp>
        <p:nvSpPr>
          <p:cNvPr id="9" name="Text 7"/>
          <p:cNvSpPr/>
          <p:nvPr/>
        </p:nvSpPr>
        <p:spPr>
          <a:xfrm>
            <a:off x="435072" y="2194560"/>
            <a:ext cx="1645920" cy="914400"/>
          </a:xfrm>
          <a:prstGeom prst="rect">
            <a:avLst/>
          </a:prstGeom>
          <a:noFill/>
          <a:ln/>
        </p:spPr>
        <p:txBody>
          <a:bodyPr wrap="square" rtlCol="0" anchor="ctr"/>
          <a:lstStyle/>
          <a:p>
            <a:pPr indent="0" marL="0">
              <a:buNone/>
            </a:pPr>
            <a:r>
              <a:rPr lang="en-US" sz="1400" dirty="0">
                <a:solidFill>
                  <a:srgbClr val="FFFFFF"/>
                </a:solidFill>
                <a:latin typeface="Segoe UI" pitchFamily="34" charset="0"/>
                <a:ea typeface="Segoe UI" pitchFamily="34" charset="-122"/>
                <a:cs typeface="Segoe UI" pitchFamily="34" charset="-120"/>
              </a:rPr>
              <a:t>Entry Year</a:t>
            </a:r>
            <a:endParaRPr lang="en-US" sz="1400" dirty="0"/>
          </a:p>
        </p:txBody>
      </p:sp>
      <p:sp>
        <p:nvSpPr>
          <p:cNvPr id="10" name="Shape 8"/>
          <p:cNvSpPr/>
          <p:nvPr/>
        </p:nvSpPr>
        <p:spPr>
          <a:xfrm>
            <a:off x="2263872" y="2194560"/>
            <a:ext cx="9588581" cy="914400"/>
          </a:xfrm>
          <a:prstGeom prst="rect">
            <a:avLst/>
          </a:prstGeom>
          <a:solidFill>
            <a:srgbClr val="FFFFFF"/>
          </a:solidFill>
          <a:ln w="12700">
            <a:solidFill>
              <a:srgbClr val="BFBFBF"/>
            </a:solidFill>
            <a:prstDash val="solid"/>
          </a:ln>
        </p:spPr>
      </p:sp>
      <p:sp>
        <p:nvSpPr>
          <p:cNvPr id="11" name="Text 9"/>
          <p:cNvSpPr/>
          <p:nvPr/>
        </p:nvSpPr>
        <p:spPr>
          <a:xfrm>
            <a:off x="2355312" y="2240280"/>
            <a:ext cx="9405701" cy="822960"/>
          </a:xfrm>
          <a:prstGeom prst="rect">
            <a:avLst/>
          </a:prstGeom>
          <a:noFill/>
          <a:ln/>
        </p:spPr>
        <p:txBody>
          <a:bodyPr wrap="square" rtlCol="0" anchor="t">
            <a:normAutofit/>
          </a:bodyPr>
          <a:lstStyle/>
          <a:p>
            <a:pPr indent="0" marL="0">
              <a:buNone/>
            </a:pPr>
            <a:r>
              <a:rPr lang="en-US" sz="1400" dirty="0">
                <a:solidFill>
                  <a:srgbClr val="000000"/>
                </a:solidFill>
                <a:latin typeface="Segoe UI" pitchFamily="34" charset="0"/>
                <a:ea typeface="Segoe UI" pitchFamily="34" charset="-122"/>
                <a:cs typeface="Segoe UI" pitchFamily="34" charset="-120"/>
              </a:rPr>
              <a:t>2010</a:t>
            </a:r>
            <a:endParaRPr lang="en-US" sz="1400" dirty="0"/>
          </a:p>
        </p:txBody>
      </p:sp>
      <p:sp>
        <p:nvSpPr>
          <p:cNvPr id="12" name="Shape 10"/>
          <p:cNvSpPr/>
          <p:nvPr/>
        </p:nvSpPr>
        <p:spPr>
          <a:xfrm>
            <a:off x="343632" y="3200400"/>
            <a:ext cx="1828800" cy="548640"/>
          </a:xfrm>
          <a:prstGeom prst="rect">
            <a:avLst/>
          </a:prstGeom>
          <a:solidFill>
            <a:srgbClr val="011AB7"/>
          </a:solidFill>
          <a:ln/>
        </p:spPr>
      </p:sp>
      <p:sp>
        <p:nvSpPr>
          <p:cNvPr id="13" name="Text 11"/>
          <p:cNvSpPr/>
          <p:nvPr/>
        </p:nvSpPr>
        <p:spPr>
          <a:xfrm>
            <a:off x="435072" y="3200400"/>
            <a:ext cx="1645920" cy="548640"/>
          </a:xfrm>
          <a:prstGeom prst="rect">
            <a:avLst/>
          </a:prstGeom>
          <a:noFill/>
          <a:ln/>
        </p:spPr>
        <p:txBody>
          <a:bodyPr wrap="square" rtlCol="0" anchor="ctr"/>
          <a:lstStyle/>
          <a:p>
            <a:pPr indent="0" marL="0">
              <a:buNone/>
            </a:pPr>
            <a:r>
              <a:rPr lang="en-US" sz="1400" dirty="0">
                <a:solidFill>
                  <a:srgbClr val="FFFFFF"/>
                </a:solidFill>
                <a:latin typeface="Segoe UI" pitchFamily="34" charset="0"/>
                <a:ea typeface="Segoe UI" pitchFamily="34" charset="-122"/>
                <a:cs typeface="Segoe UI" pitchFamily="34" charset="-120"/>
              </a:rPr>
              <a:t>Entry Mode</a:t>
            </a:r>
            <a:endParaRPr lang="en-US" sz="1400" dirty="0"/>
          </a:p>
        </p:txBody>
      </p:sp>
      <p:sp>
        <p:nvSpPr>
          <p:cNvPr id="14" name="Shape 12"/>
          <p:cNvSpPr/>
          <p:nvPr/>
        </p:nvSpPr>
        <p:spPr>
          <a:xfrm>
            <a:off x="2263872" y="3200400"/>
            <a:ext cx="9588581" cy="548640"/>
          </a:xfrm>
          <a:prstGeom prst="rect">
            <a:avLst/>
          </a:prstGeom>
          <a:solidFill>
            <a:srgbClr val="FFFFFF"/>
          </a:solidFill>
          <a:ln w="12700">
            <a:solidFill>
              <a:srgbClr val="BFBFBF"/>
            </a:solidFill>
            <a:prstDash val="solid"/>
          </a:ln>
        </p:spPr>
      </p:sp>
      <p:sp>
        <p:nvSpPr>
          <p:cNvPr id="15" name="Text 13"/>
          <p:cNvSpPr/>
          <p:nvPr/>
        </p:nvSpPr>
        <p:spPr>
          <a:xfrm>
            <a:off x="2355312" y="3246120"/>
            <a:ext cx="9405701" cy="457200"/>
          </a:xfrm>
          <a:prstGeom prst="rect">
            <a:avLst/>
          </a:prstGeom>
          <a:noFill/>
          <a:ln/>
        </p:spPr>
        <p:txBody>
          <a:bodyPr wrap="square" rtlCol="0" anchor="t">
            <a:normAutofit/>
          </a:bodyPr>
          <a:lstStyle/>
          <a:p>
            <a:pPr indent="0" marL="0">
              <a:buNone/>
            </a:pPr>
            <a:r>
              <a:rPr lang="en-US" sz="1400" dirty="0">
                <a:solidFill>
                  <a:srgbClr val="000000"/>
                </a:solidFill>
                <a:latin typeface="Segoe UI" pitchFamily="34" charset="0"/>
                <a:ea typeface="Segoe UI" pitchFamily="34" charset="-122"/>
                <a:cs typeface="Segoe UI" pitchFamily="34" charset="-120"/>
              </a:rPr>
              <a:t>Acquisition of local water/energy utility</a:t>
            </a:r>
            <a:endParaRPr lang="en-US" sz="1400" dirty="0"/>
          </a:p>
        </p:txBody>
      </p:sp>
      <p:sp>
        <p:nvSpPr>
          <p:cNvPr id="16" name="Shape 14"/>
          <p:cNvSpPr/>
          <p:nvPr/>
        </p:nvSpPr>
        <p:spPr>
          <a:xfrm>
            <a:off x="343632" y="3840480"/>
            <a:ext cx="1828800" cy="1188720"/>
          </a:xfrm>
          <a:prstGeom prst="rect">
            <a:avLst/>
          </a:prstGeom>
          <a:solidFill>
            <a:srgbClr val="011AB7"/>
          </a:solidFill>
          <a:ln/>
        </p:spPr>
      </p:sp>
      <p:sp>
        <p:nvSpPr>
          <p:cNvPr id="17" name="Text 15"/>
          <p:cNvSpPr/>
          <p:nvPr/>
        </p:nvSpPr>
        <p:spPr>
          <a:xfrm>
            <a:off x="435072" y="3840480"/>
            <a:ext cx="1645920" cy="1188720"/>
          </a:xfrm>
          <a:prstGeom prst="rect">
            <a:avLst/>
          </a:prstGeom>
          <a:noFill/>
          <a:ln/>
        </p:spPr>
        <p:txBody>
          <a:bodyPr wrap="square" rtlCol="0" anchor="ctr"/>
          <a:lstStyle/>
          <a:p>
            <a:pPr indent="0" marL="0">
              <a:buNone/>
            </a:pPr>
            <a:r>
              <a:rPr lang="en-US" sz="1400" dirty="0">
                <a:solidFill>
                  <a:srgbClr val="FFFFFF"/>
                </a:solidFill>
                <a:latin typeface="Segoe UI" pitchFamily="34" charset="0"/>
                <a:ea typeface="Segoe UI" pitchFamily="34" charset="-122"/>
                <a:cs typeface="Segoe UI" pitchFamily="34" charset="-120"/>
              </a:rPr>
              <a:t>Investment</a:t>
            </a:r>
            <a:endParaRPr lang="en-US" sz="1400" dirty="0"/>
          </a:p>
        </p:txBody>
      </p:sp>
      <p:sp>
        <p:nvSpPr>
          <p:cNvPr id="18" name="Shape 16"/>
          <p:cNvSpPr/>
          <p:nvPr/>
        </p:nvSpPr>
        <p:spPr>
          <a:xfrm>
            <a:off x="2263872" y="3840480"/>
            <a:ext cx="9588581" cy="1188720"/>
          </a:xfrm>
          <a:prstGeom prst="rect">
            <a:avLst/>
          </a:prstGeom>
          <a:solidFill>
            <a:srgbClr val="FFFFFF"/>
          </a:solidFill>
          <a:ln w="12700">
            <a:solidFill>
              <a:srgbClr val="BFBFBF"/>
            </a:solidFill>
            <a:prstDash val="solid"/>
          </a:ln>
        </p:spPr>
      </p:sp>
      <p:sp>
        <p:nvSpPr>
          <p:cNvPr id="19" name="Text 17"/>
          <p:cNvSpPr/>
          <p:nvPr/>
        </p:nvSpPr>
        <p:spPr>
          <a:xfrm>
            <a:off x="2355312" y="3886200"/>
            <a:ext cx="9405701" cy="1097280"/>
          </a:xfrm>
          <a:prstGeom prst="rect">
            <a:avLst/>
          </a:prstGeom>
          <a:noFill/>
          <a:ln/>
        </p:spPr>
        <p:txBody>
          <a:bodyPr wrap="square" rtlCol="0" anchor="t">
            <a:normAutofit/>
          </a:bodyPr>
          <a:lstStyle/>
          <a:p>
            <a:pPr indent="0" marL="0">
              <a:buNone/>
            </a:pPr>
            <a:r>
              <a:rPr lang="en-US" sz="1400" dirty="0">
                <a:solidFill>
                  <a:srgbClr val="000000"/>
                </a:solidFill>
                <a:latin typeface="Segoe UI" pitchFamily="34" charset="0"/>
                <a:ea typeface="Segoe UI" pitchFamily="34" charset="-122"/>
                <a:cs typeface="Segoe UI" pitchFamily="34" charset="-120"/>
              </a:rPr>
              <a:t>USD 180M total (USD 120M acquisition + USD 60M expansion)</a:t>
            </a:r>
            <a:endParaRPr lang="en-US" sz="1400" dirty="0"/>
          </a:p>
        </p:txBody>
      </p:sp>
      <p:sp>
        <p:nvSpPr>
          <p:cNvPr id="20" name="Shape 18"/>
          <p:cNvSpPr/>
          <p:nvPr/>
        </p:nvSpPr>
        <p:spPr>
          <a:xfrm>
            <a:off x="343632" y="5120640"/>
            <a:ext cx="1828800" cy="731520"/>
          </a:xfrm>
          <a:prstGeom prst="rect">
            <a:avLst/>
          </a:prstGeom>
          <a:solidFill>
            <a:srgbClr val="011AB7"/>
          </a:solidFill>
          <a:ln/>
        </p:spPr>
      </p:sp>
      <p:sp>
        <p:nvSpPr>
          <p:cNvPr id="21" name="Text 19"/>
          <p:cNvSpPr/>
          <p:nvPr/>
        </p:nvSpPr>
        <p:spPr>
          <a:xfrm>
            <a:off x="435072" y="5120640"/>
            <a:ext cx="1645920" cy="731520"/>
          </a:xfrm>
          <a:prstGeom prst="rect">
            <a:avLst/>
          </a:prstGeom>
          <a:noFill/>
          <a:ln/>
        </p:spPr>
        <p:txBody>
          <a:bodyPr wrap="square" rtlCol="0" anchor="ctr"/>
          <a:lstStyle/>
          <a:p>
            <a:pPr indent="0" marL="0">
              <a:buNone/>
            </a:pPr>
            <a:r>
              <a:rPr lang="en-US" sz="1400" dirty="0">
                <a:solidFill>
                  <a:srgbClr val="FFFFFF"/>
                </a:solidFill>
                <a:latin typeface="Segoe UI" pitchFamily="34" charset="0"/>
                <a:ea typeface="Segoe UI" pitchFamily="34" charset="-122"/>
                <a:cs typeface="Segoe UI" pitchFamily="34" charset="-120"/>
              </a:rPr>
              <a:t>Outcome</a:t>
            </a:r>
            <a:endParaRPr lang="en-US" sz="1400" dirty="0"/>
          </a:p>
        </p:txBody>
      </p:sp>
      <p:sp>
        <p:nvSpPr>
          <p:cNvPr id="22" name="Shape 20"/>
          <p:cNvSpPr/>
          <p:nvPr/>
        </p:nvSpPr>
        <p:spPr>
          <a:xfrm>
            <a:off x="2263872" y="5120640"/>
            <a:ext cx="9588581" cy="731520"/>
          </a:xfrm>
          <a:prstGeom prst="rect">
            <a:avLst/>
          </a:prstGeom>
          <a:solidFill>
            <a:srgbClr val="FFFFFF"/>
          </a:solidFill>
          <a:ln w="12700">
            <a:solidFill>
              <a:srgbClr val="BFBFBF"/>
            </a:solidFill>
            <a:prstDash val="solid"/>
          </a:ln>
        </p:spPr>
      </p:sp>
      <p:sp>
        <p:nvSpPr>
          <p:cNvPr id="23" name="Text 21"/>
          <p:cNvSpPr/>
          <p:nvPr/>
        </p:nvSpPr>
        <p:spPr>
          <a:xfrm>
            <a:off x="2355312" y="5166360"/>
            <a:ext cx="9405701" cy="640080"/>
          </a:xfrm>
          <a:prstGeom prst="rect">
            <a:avLst/>
          </a:prstGeom>
          <a:noFill/>
          <a:ln/>
        </p:spPr>
        <p:txBody>
          <a:bodyPr wrap="square" rtlCol="0" anchor="t">
            <a:normAutofit/>
          </a:bodyPr>
          <a:lstStyle/>
          <a:p>
            <a:pPr indent="0" marL="0">
              <a:buNone/>
            </a:pPr>
            <a:r>
              <a:rPr lang="en-US" sz="1300" dirty="0">
                <a:solidFill>
                  <a:srgbClr val="000000"/>
                </a:solidFill>
                <a:latin typeface="Segoe UI" pitchFamily="34" charset="0"/>
                <a:ea typeface="Segoe UI" pitchFamily="34" charset="-122"/>
                <a:cs typeface="Segoe UI" pitchFamily="34" charset="-120"/>
              </a:rPr>
              <a:t>Achieved profitability by Year 3 with THB 4.2B revenue by 2023. Successfully expanded from water treatment into industrial energy management, winning 15 major ESCO contracts. Key success factor was retaining local management team and leveraging Veolia global technology platform for differentiated offerings.</a:t>
            </a:r>
            <a:endParaRPr lang="en-US" sz="1300" dirty="0"/>
          </a:p>
        </p:txBody>
      </p:sp>
      <p:sp>
        <p:nvSpPr>
          <p:cNvPr id="24" name="Shape 22"/>
          <p:cNvSpPr/>
          <p:nvPr/>
        </p:nvSpPr>
        <p:spPr>
          <a:xfrm>
            <a:off x="7772400" y="1371600"/>
            <a:ext cx="73152" cy="1280160"/>
          </a:xfrm>
          <a:prstGeom prst="rect">
            <a:avLst/>
          </a:prstGeom>
          <a:solidFill>
            <a:srgbClr val="1F497D"/>
          </a:solidFill>
          <a:ln/>
        </p:spPr>
      </p:sp>
      <p:sp>
        <p:nvSpPr>
          <p:cNvPr id="25" name="Shape 23"/>
          <p:cNvSpPr/>
          <p:nvPr/>
        </p:nvSpPr>
        <p:spPr>
          <a:xfrm>
            <a:off x="7882128" y="1371600"/>
            <a:ext cx="3913632" cy="1280160"/>
          </a:xfrm>
          <a:prstGeom prst="rect">
            <a:avLst/>
          </a:prstGeom>
          <a:solidFill>
            <a:srgbClr val="FFFFFF"/>
          </a:solidFill>
          <a:ln w="12700">
            <a:solidFill>
              <a:srgbClr val="BFBFBF"/>
            </a:solidFill>
            <a:prstDash val="solid"/>
          </a:ln>
        </p:spPr>
      </p:sp>
      <p:sp>
        <p:nvSpPr>
          <p:cNvPr id="26" name="Text 24"/>
          <p:cNvSpPr/>
          <p:nvPr/>
        </p:nvSpPr>
        <p:spPr>
          <a:xfrm>
            <a:off x="7955280" y="1417320"/>
            <a:ext cx="3749040" cy="320040"/>
          </a:xfrm>
          <a:prstGeom prst="rect">
            <a:avLst/>
          </a:prstGeom>
          <a:noFill/>
          <a:ln/>
        </p:spPr>
        <p:txBody>
          <a:bodyPr wrap="square" rtlCol="0" anchor="ctr"/>
          <a:lstStyle/>
          <a:p>
            <a:pPr indent="0" marL="0">
              <a:buNone/>
            </a:pPr>
            <a:r>
              <a:rPr lang="en-US" sz="1400" b="1" dirty="0">
                <a:solidFill>
                  <a:srgbClr val="1F497D"/>
                </a:solidFill>
                <a:latin typeface="Segoe UI" pitchFamily="34" charset="0"/>
                <a:ea typeface="Segoe UI" pitchFamily="34" charset="-122"/>
                <a:cs typeface="Segoe UI" pitchFamily="34" charset="-120"/>
              </a:rPr>
              <a:t>Lesson 1</a:t>
            </a:r>
            <a:endParaRPr lang="en-US" sz="1400" dirty="0"/>
          </a:p>
        </p:txBody>
      </p:sp>
      <p:sp>
        <p:nvSpPr>
          <p:cNvPr id="27" name="Text 25"/>
          <p:cNvSpPr/>
          <p:nvPr/>
        </p:nvSpPr>
        <p:spPr>
          <a:xfrm>
            <a:off x="7955280" y="1737360"/>
            <a:ext cx="3749040" cy="822960"/>
          </a:xfrm>
          <a:prstGeom prst="rect">
            <a:avLst/>
          </a:prstGeom>
          <a:noFill/>
          <a:ln/>
        </p:spPr>
        <p:txBody>
          <a:bodyPr wrap="square" rtlCol="0" anchor="t">
            <a:normAutofit/>
          </a:bodyPr>
          <a:lstStyle/>
          <a:p>
            <a:pPr indent="0" marL="0">
              <a:buNone/>
            </a:pPr>
            <a:r>
              <a:rPr lang="en-US" sz="1100" dirty="0">
                <a:solidFill>
                  <a:srgbClr val="000000"/>
                </a:solidFill>
                <a:latin typeface="Segoe UI" pitchFamily="34" charset="0"/>
                <a:ea typeface="Segoe UI" pitchFamily="34" charset="-122"/>
                <a:cs typeface="Segoe UI" pitchFamily="34" charset="-120"/>
              </a:rPr>
              <a:t>Retain local management — Thai business relationships are personal and non-transferable</a:t>
            </a:r>
            <a:endParaRPr lang="en-US" sz="1100" dirty="0"/>
          </a:p>
        </p:txBody>
      </p:sp>
      <p:sp>
        <p:nvSpPr>
          <p:cNvPr id="28" name="Shape 26"/>
          <p:cNvSpPr/>
          <p:nvPr/>
        </p:nvSpPr>
        <p:spPr>
          <a:xfrm>
            <a:off x="7772400" y="2834640"/>
            <a:ext cx="73152" cy="1280160"/>
          </a:xfrm>
          <a:prstGeom prst="rect">
            <a:avLst/>
          </a:prstGeom>
          <a:solidFill>
            <a:srgbClr val="1F497D"/>
          </a:solidFill>
          <a:ln/>
        </p:spPr>
      </p:sp>
      <p:sp>
        <p:nvSpPr>
          <p:cNvPr id="29" name="Shape 27"/>
          <p:cNvSpPr/>
          <p:nvPr/>
        </p:nvSpPr>
        <p:spPr>
          <a:xfrm>
            <a:off x="7882128" y="2834640"/>
            <a:ext cx="3913632" cy="1280160"/>
          </a:xfrm>
          <a:prstGeom prst="rect">
            <a:avLst/>
          </a:prstGeom>
          <a:solidFill>
            <a:srgbClr val="FFFFFF"/>
          </a:solidFill>
          <a:ln w="12700">
            <a:solidFill>
              <a:srgbClr val="BFBFBF"/>
            </a:solidFill>
            <a:prstDash val="solid"/>
          </a:ln>
        </p:spPr>
      </p:sp>
      <p:sp>
        <p:nvSpPr>
          <p:cNvPr id="30" name="Text 28"/>
          <p:cNvSpPr/>
          <p:nvPr/>
        </p:nvSpPr>
        <p:spPr>
          <a:xfrm>
            <a:off x="7955280" y="2880360"/>
            <a:ext cx="3749040" cy="320040"/>
          </a:xfrm>
          <a:prstGeom prst="rect">
            <a:avLst/>
          </a:prstGeom>
          <a:noFill/>
          <a:ln/>
        </p:spPr>
        <p:txBody>
          <a:bodyPr wrap="square" rtlCol="0" anchor="ctr"/>
          <a:lstStyle/>
          <a:p>
            <a:pPr indent="0" marL="0">
              <a:buNone/>
            </a:pPr>
            <a:r>
              <a:rPr lang="en-US" sz="1400" b="1" dirty="0">
                <a:solidFill>
                  <a:srgbClr val="1F497D"/>
                </a:solidFill>
                <a:latin typeface="Segoe UI" pitchFamily="34" charset="0"/>
                <a:ea typeface="Segoe UI" pitchFamily="34" charset="-122"/>
                <a:cs typeface="Segoe UI" pitchFamily="34" charset="-120"/>
              </a:rPr>
              <a:t>Lesson 2</a:t>
            </a:r>
            <a:endParaRPr lang="en-US" sz="1400" dirty="0"/>
          </a:p>
        </p:txBody>
      </p:sp>
      <p:sp>
        <p:nvSpPr>
          <p:cNvPr id="31" name="Text 29"/>
          <p:cNvSpPr/>
          <p:nvPr/>
        </p:nvSpPr>
        <p:spPr>
          <a:xfrm>
            <a:off x="7955280" y="3200400"/>
            <a:ext cx="3749040" cy="822960"/>
          </a:xfrm>
          <a:prstGeom prst="rect">
            <a:avLst/>
          </a:prstGeom>
          <a:noFill/>
          <a:ln/>
        </p:spPr>
        <p:txBody>
          <a:bodyPr wrap="square" rtlCol="0" anchor="t">
            <a:normAutofit/>
          </a:bodyPr>
          <a:lstStyle/>
          <a:p>
            <a:pPr indent="0" marL="0">
              <a:buNone/>
            </a:pPr>
            <a:r>
              <a:rPr lang="en-US" sz="1100" dirty="0">
                <a:solidFill>
                  <a:srgbClr val="000000"/>
                </a:solidFill>
                <a:latin typeface="Segoe UI" pitchFamily="34" charset="0"/>
                <a:ea typeface="Segoe UI" pitchFamily="34" charset="-122"/>
                <a:cs typeface="Segoe UI" pitchFamily="34" charset="-120"/>
              </a:rPr>
              <a:t>Start with adjacent service (water) to build trust before cross-selling energy services</a:t>
            </a:r>
            <a:endParaRPr lang="en-US" sz="1100" dirty="0"/>
          </a:p>
        </p:txBody>
      </p:sp>
      <p:sp>
        <p:nvSpPr>
          <p:cNvPr id="32" name="Shape 30"/>
          <p:cNvSpPr/>
          <p:nvPr/>
        </p:nvSpPr>
        <p:spPr>
          <a:xfrm>
            <a:off x="7772400" y="4297680"/>
            <a:ext cx="73152" cy="1280160"/>
          </a:xfrm>
          <a:prstGeom prst="rect">
            <a:avLst/>
          </a:prstGeom>
          <a:solidFill>
            <a:srgbClr val="1F497D"/>
          </a:solidFill>
          <a:ln/>
        </p:spPr>
      </p:sp>
      <p:sp>
        <p:nvSpPr>
          <p:cNvPr id="33" name="Shape 31"/>
          <p:cNvSpPr/>
          <p:nvPr/>
        </p:nvSpPr>
        <p:spPr>
          <a:xfrm>
            <a:off x="7882128" y="4297680"/>
            <a:ext cx="3913632" cy="1280160"/>
          </a:xfrm>
          <a:prstGeom prst="rect">
            <a:avLst/>
          </a:prstGeom>
          <a:solidFill>
            <a:srgbClr val="FFFFFF"/>
          </a:solidFill>
          <a:ln w="12700">
            <a:solidFill>
              <a:srgbClr val="BFBFBF"/>
            </a:solidFill>
            <a:prstDash val="solid"/>
          </a:ln>
        </p:spPr>
      </p:sp>
      <p:sp>
        <p:nvSpPr>
          <p:cNvPr id="34" name="Text 32"/>
          <p:cNvSpPr/>
          <p:nvPr/>
        </p:nvSpPr>
        <p:spPr>
          <a:xfrm>
            <a:off x="7955280" y="4343400"/>
            <a:ext cx="3749040" cy="320040"/>
          </a:xfrm>
          <a:prstGeom prst="rect">
            <a:avLst/>
          </a:prstGeom>
          <a:noFill/>
          <a:ln/>
        </p:spPr>
        <p:txBody>
          <a:bodyPr wrap="square" rtlCol="0" anchor="ctr"/>
          <a:lstStyle/>
          <a:p>
            <a:pPr indent="0" marL="0">
              <a:buNone/>
            </a:pPr>
            <a:r>
              <a:rPr lang="en-US" sz="1400" b="1" dirty="0">
                <a:solidFill>
                  <a:srgbClr val="1F497D"/>
                </a:solidFill>
                <a:latin typeface="Segoe UI" pitchFamily="34" charset="0"/>
                <a:ea typeface="Segoe UI" pitchFamily="34" charset="-122"/>
                <a:cs typeface="Segoe UI" pitchFamily="34" charset="-120"/>
              </a:rPr>
              <a:t>Lesson 3</a:t>
            </a:r>
            <a:endParaRPr lang="en-US" sz="1400" dirty="0"/>
          </a:p>
        </p:txBody>
      </p:sp>
      <p:sp>
        <p:nvSpPr>
          <p:cNvPr id="35" name="Text 33"/>
          <p:cNvSpPr/>
          <p:nvPr/>
        </p:nvSpPr>
        <p:spPr>
          <a:xfrm>
            <a:off x="7955280" y="4663440"/>
            <a:ext cx="3749040" cy="822960"/>
          </a:xfrm>
          <a:prstGeom prst="rect">
            <a:avLst/>
          </a:prstGeom>
          <a:noFill/>
          <a:ln/>
        </p:spPr>
        <p:txBody>
          <a:bodyPr wrap="square" rtlCol="0" anchor="t">
            <a:normAutofit/>
          </a:bodyPr>
          <a:lstStyle/>
          <a:p>
            <a:pPr indent="0" marL="0">
              <a:buNone/>
            </a:pPr>
            <a:r>
              <a:rPr lang="en-US" sz="1100" dirty="0">
                <a:solidFill>
                  <a:srgbClr val="000000"/>
                </a:solidFill>
                <a:latin typeface="Segoe UI" pitchFamily="34" charset="0"/>
                <a:ea typeface="Segoe UI" pitchFamily="34" charset="-122"/>
                <a:cs typeface="Segoe UI" pitchFamily="34" charset="-120"/>
              </a:rPr>
              <a:t>Government contracts provide stable base revenue but private sector delivers higher margins</a:t>
            </a:r>
            <a:endParaRPr lang="en-US" sz="1100" dirty="0"/>
          </a:p>
        </p:txBody>
      </p:sp>
      <p:sp>
        <p:nvSpPr>
          <p:cNvPr id="36" name="Shape 34"/>
          <p:cNvSpPr/>
          <p:nvPr/>
        </p:nvSpPr>
        <p:spPr>
          <a:xfrm>
            <a:off x="1005840" y="2029968"/>
            <a:ext cx="4123944" cy="950976"/>
          </a:xfrm>
          <a:prstGeom prst="rect">
            <a:avLst/>
          </a:prstGeom>
          <a:solidFill>
            <a:srgbClr val="D9D9D9"/>
          </a:solidFill>
          <a:ln w="9525">
            <a:solidFill>
              <a:srgbClr val="BFBFBF"/>
            </a:solidFill>
            <a:prstDash val="solid"/>
          </a:ln>
        </p:spPr>
      </p:sp>
      <p:sp>
        <p:nvSpPr>
          <p:cNvPr id="37" name="Text 35"/>
          <p:cNvSpPr/>
          <p:nvPr/>
        </p:nvSpPr>
        <p:spPr>
          <a:xfrm>
            <a:off x="1097280" y="2121408"/>
            <a:ext cx="3941064" cy="768096"/>
          </a:xfrm>
          <a:prstGeom prst="rect">
            <a:avLst/>
          </a:prstGeom>
          <a:noFill/>
          <a:ln/>
        </p:spPr>
        <p:txBody>
          <a:bodyPr wrap="square" rtlCol="0" anchor="ctr">
            <a:normAutofit/>
          </a:bodyPr>
          <a:lstStyle/>
          <a:p>
            <a:pPr indent="0" marL="0">
              <a:buNone/>
            </a:pPr>
            <a:r>
              <a:rPr lang="en-US" sz="900" dirty="0">
                <a:solidFill>
                  <a:srgbClr val="000000"/>
                </a:solidFill>
                <a:latin typeface="Segoe UI" pitchFamily="34" charset="0"/>
                <a:ea typeface="Segoe UI" pitchFamily="34" charset="-122"/>
                <a:cs typeface="Segoe UI" pitchFamily="34" charset="-120"/>
              </a:rPr>
              <a:t>Applicability: Demonstrates acquisition-led entry can accelerate market access; local talent retention critical for relationship-driven Thai market</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343632" y="44623"/>
            <a:ext cx="11508821" cy="1060430"/>
          </a:xfrm>
          <a:prstGeom prst="rect">
            <a:avLst/>
          </a:prstGeom>
          <a:noFill/>
          <a:ln/>
        </p:spPr>
        <p:txBody>
          <a:bodyPr wrap="square" rtlCol="0" anchor="t">
            <a:normAutofit/>
          </a:bodyPr>
          <a:lstStyle/>
          <a:p>
            <a:pPr indent="0" marL="0">
              <a:buNone/>
            </a:pPr>
            <a:r>
              <a:rPr lang="en-US" sz="2000" dirty="0">
                <a:solidFill>
                  <a:srgbClr val="1F497D"/>
                </a:solidFill>
                <a:latin typeface="Segoe UI" pitchFamily="34" charset="0"/>
                <a:ea typeface="Segoe UI" pitchFamily="34" charset="-122"/>
                <a:cs typeface="Segoe UI" pitchFamily="34" charset="-120"/>
              </a:rPr>
              <a:t>Thailand - M&amp;A Activity</a:t>
            </a:r>
            <a:pPr indent="0" marL="0">
              <a:spcBef>
                <a:spcPts val="200"/>
              </a:spcBef>
              <a:buNone/>
            </a:pPr>
            <a:r>
              <a:rPr lang="en-US" sz="1600" dirty="0">
                <a:solidFill>
                  <a:srgbClr val="1F497D"/>
                </a:solidFill>
                <a:latin typeface="Segoe UI" pitchFamily="34" charset="0"/>
                <a:ea typeface="Segoe UI" pitchFamily="34" charset="-122"/>
                <a:cs typeface="Segoe UI" pitchFamily="34" charset="-120"/>
              </a:rPr>
              <a:t>8-12x EBITDA for ESCO companies; 6-8x for traditional energy contractors</a:t>
            </a:r>
            <a:endParaRPr lang="en-US" sz="2000" dirty="0"/>
          </a:p>
        </p:txBody>
      </p:sp>
      <p:sp>
        <p:nvSpPr>
          <p:cNvPr id="3" name="Text 1"/>
          <p:cNvSpPr/>
          <p:nvPr/>
        </p:nvSpPr>
        <p:spPr>
          <a:xfrm>
            <a:off x="338054" y="6114410"/>
            <a:ext cx="11514399" cy="230795"/>
          </a:xfrm>
          <a:prstGeom prst="rect">
            <a:avLst/>
          </a:prstGeom>
          <a:noFill/>
          <a:ln/>
        </p:spPr>
        <p:txBody>
          <a:bodyPr wrap="square" rtlCol="0" anchor="t"/>
          <a:lstStyle/>
          <a:p>
            <a:pPr indent="0" marL="0">
              <a:buNone/>
            </a:pPr>
            <a:r>
              <a:rPr lang="en-US" sz="1000" dirty="0">
                <a:solidFill>
                  <a:srgbClr val="999999"/>
                </a:solidFill>
                <a:latin typeface="Segoe UI" pitchFamily="34" charset="0"/>
                <a:ea typeface="Segoe UI" pitchFamily="34" charset="-122"/>
                <a:cs typeface="Segoe UI" pitchFamily="34" charset="-120"/>
              </a:rPr>
              <a:t>Source: YCP Analysis</a:t>
            </a:r>
            <a:endParaRPr lang="en-US" sz="1000" dirty="0"/>
          </a:p>
        </p:txBody>
      </p:sp>
      <p:sp>
        <p:nvSpPr>
          <p:cNvPr id="4" name="Text 2"/>
          <p:cNvSpPr/>
          <p:nvPr/>
        </p:nvSpPr>
        <p:spPr>
          <a:xfrm>
            <a:off x="343632" y="1371600"/>
            <a:ext cx="7772400" cy="274320"/>
          </a:xfrm>
          <a:prstGeom prst="rect">
            <a:avLst/>
          </a:prstGeom>
          <a:noFill/>
          <a:ln/>
        </p:spPr>
        <p:txBody>
          <a:bodyPr wrap="square" rtlCol="0" anchor="ctr"/>
          <a:lstStyle/>
          <a:p>
            <a:pPr indent="0" marL="0">
              <a:buNone/>
            </a:pPr>
            <a:r>
              <a:rPr lang="en-US" sz="1200" b="1" dirty="0">
                <a:solidFill>
                  <a:srgbClr val="1F497D"/>
                </a:solidFill>
                <a:latin typeface="Segoe UI" pitchFamily="34" charset="0"/>
                <a:ea typeface="Segoe UI" pitchFamily="34" charset="-122"/>
                <a:cs typeface="Segoe UI" pitchFamily="34" charset="-120"/>
              </a:rPr>
              <a:t>Recent Transactions</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43632" y="1691640"/>
          <a:ext cx="11508821" cy="1828800"/>
        </p:xfrm>
        <a:graphic>
          <a:graphicData uri="http://schemas.openxmlformats.org/drawingml/2006/table">
            <a:tbl>
              <a:tblPr/>
              <a:tblGrid>
                <a:gridCol w="777623"/>
                <a:gridCol w="1710771"/>
                <a:gridCol w="3110492"/>
                <a:gridCol w="1244197"/>
                <a:gridCol w="4665738"/>
              </a:tblGrid>
              <a:tr h="45720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Year</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Buyer</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Target</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Value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Rationale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45720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2023</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BCPG PCL</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Thai Solar Energy</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THB 2.8B</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Vertical integration into...</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45720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2022</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Gulf Energy</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Energy Pro (ESCO)</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THB 1.5B</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Expand downstream energy...</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45720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2023</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Ratch Group</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Smart Grid Solutions</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THB 950M</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Grid modernization capabili...</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bl>
          </a:graphicData>
        </a:graphic>
      </p:graphicFrame>
      <p:sp>
        <p:nvSpPr>
          <p:cNvPr id="6" name="Text 3"/>
          <p:cNvSpPr/>
          <p:nvPr/>
        </p:nvSpPr>
        <p:spPr>
          <a:xfrm>
            <a:off x="343632" y="3657600"/>
            <a:ext cx="7772400" cy="274320"/>
          </a:xfrm>
          <a:prstGeom prst="rect">
            <a:avLst/>
          </a:prstGeom>
          <a:noFill/>
          <a:ln/>
        </p:spPr>
        <p:txBody>
          <a:bodyPr wrap="square" rtlCol="0" anchor="ctr"/>
          <a:lstStyle/>
          <a:p>
            <a:pPr indent="0" marL="0">
              <a:buNone/>
            </a:pPr>
            <a:r>
              <a:rPr lang="en-US" sz="1200" b="1" dirty="0">
                <a:solidFill>
                  <a:srgbClr val="1F497D"/>
                </a:solidFill>
                <a:latin typeface="Segoe UI" pitchFamily="34" charset="0"/>
                <a:ea typeface="Segoe UI" pitchFamily="34" charset="-122"/>
                <a:cs typeface="Segoe UI" pitchFamily="34" charset="-120"/>
              </a:rPr>
              <a:t>Potential Acquisition Targets</a:t>
            </a:r>
            <a:endParaRPr lang="en-US" sz="120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343632" y="3977640"/>
          <a:ext cx="11508821" cy="1229319"/>
        </p:xfrm>
        <a:graphic>
          <a:graphicData uri="http://schemas.openxmlformats.org/drawingml/2006/table">
            <a:tbl>
              <a:tblPr/>
              <a:tblGrid>
                <a:gridCol w="2245624"/>
                <a:gridCol w="1216379"/>
                <a:gridCol w="3274868"/>
                <a:gridCol w="4771950"/>
              </a:tblGrid>
              <a:tr h="30733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Company</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Est. Value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Rationale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Timing</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307330">
                <a:tc>
                  <a:txBody>
                    <a:bodyPr/>
                    <a:lstStyle/>
                    <a:p>
                      <a:pPr indent="0" marL="0">
                        <a:buNone/>
                      </a:pPr>
                      <a:r>
                        <a:rPr lang="en-US" sz="1400" u="sng" dirty="0">
                          <a:solidFill>
                            <a:srgbClr val="0066CC"/>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Thai Energy Conservation</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THB 800M-1.2B</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Largest independent ESCO with...</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2025-2026 — founder approaching retirement</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307330">
                <a:tc>
                  <a:txBody>
                    <a:bodyPr/>
                    <a:lstStyle/>
                    <a:p>
                      <a:pPr indent="0" marL="0">
                        <a:buNone/>
                      </a:pPr>
                      <a:r>
                        <a:rPr lang="en-US" sz="1400" u="sng" dirty="0">
                          <a:solidFill>
                            <a:srgbClr val="0066CC"/>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Green Building Solutions</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THB 400-600M</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Leading commercial building ESCO...</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2025 — Series B fundraising expected</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307330">
                <a:tc>
                  <a:txBody>
                    <a:bodyPr/>
                    <a:lstStyle/>
                    <a:p>
                      <a:pPr indent="0" marL="0">
                        <a:buNone/>
                      </a:pPr>
                      <a:r>
                        <a:rPr lang="en-US" sz="1400" u="sng" dirty="0">
                          <a:solidFill>
                            <a:srgbClr val="0066CC"/>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EcoTech Industries</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THB 600-900M</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Industrial process optimization...</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2026 — 3-year lock-up from last investment expiring</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bl>
          </a:graphicData>
        </a:graphic>
      </p:graphicFrame>
      <p:sp>
        <p:nvSpPr>
          <p:cNvPr id="8" name="Text 4"/>
          <p:cNvSpPr/>
          <p:nvPr/>
        </p:nvSpPr>
        <p:spPr>
          <a:xfrm>
            <a:off x="343632" y="5344119"/>
            <a:ext cx="11508821" cy="594360"/>
          </a:xfrm>
          <a:prstGeom prst="rect">
            <a:avLst/>
          </a:prstGeom>
          <a:solidFill>
            <a:srgbClr val="D9D9D9"/>
          </a:solidFill>
          <a:ln>
            <a:solidFill>
              <a:srgbClr val="BFBFBF"/>
            </a:solidFill>
          </a:ln>
        </p:spPr>
        <p:txBody>
          <a:bodyPr wrap="square" lIns="63500" tIns="101600" rIns="101600" bIns="63500" rtlCol="0" anchor="t">
            <a:normAutofit/>
          </a:bodyPr>
          <a:lstStyle/>
          <a:p>
            <a:pPr indent="0" marL="0">
              <a:buNone/>
            </a:pPr>
            <a:r>
              <a:rPr lang="en-US" sz="1200" b="1" dirty="0">
                <a:solidFill>
                  <a:srgbClr val="1F497D"/>
                </a:solidFill>
                <a:latin typeface="Segoe UI" pitchFamily="34" charset="0"/>
                <a:ea typeface="Segoe UI" pitchFamily="34" charset="-122"/>
                <a:cs typeface="Segoe UI" pitchFamily="34" charset="-120"/>
              </a:rPr>
              <a:t>M&amp;A Insights
</a:t>
            </a:r>
            <a:pPr indent="0" marL="0">
              <a:buNone/>
            </a:pPr>
            <a:r>
              <a:rPr lang="en-US" sz="1100" dirty="0">
                <a:solidFill>
                  <a:srgbClr val="000000"/>
                </a:solidFill>
                <a:latin typeface="Segoe UI" pitchFamily="34" charset="0"/>
                <a:ea typeface="Segoe UI" pitchFamily="34" charset="-122"/>
                <a:cs typeface="Segoe UI" pitchFamily="34" charset="-120"/>
              </a:rPr>
              <a:t>Multiples: 8-12x EBITDA for ESCO companies; 6-8x for traditional energy contractors | 3 recent deals identified | 3 potential targets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77662" y="2730673"/>
            <a:ext cx="7491313" cy="1384127"/>
          </a:xfrm>
          <a:prstGeom prst="rect">
            <a:avLst/>
          </a:prstGeom>
          <a:noFill/>
          <a:ln/>
        </p:spPr>
        <p:txBody>
          <a:bodyPr wrap="square" rtlCol="0" anchor="ctr"/>
          <a:lstStyle/>
          <a:p>
            <a:pPr algn="ctr" indent="0" marL="0">
              <a:buNone/>
            </a:pPr>
            <a:r>
              <a:rPr lang="en-US" sz="4400" b="1" dirty="0">
                <a:solidFill>
                  <a:srgbClr val="FFFFFF"/>
                </a:solidFill>
                <a:latin typeface="Segoe UI" pitchFamily="34" charset="0"/>
                <a:ea typeface="Segoe UI" pitchFamily="34" charset="-122"/>
                <a:cs typeface="Segoe UI" pitchFamily="34" charset="-120"/>
              </a:rPr>
              <a:t>Strategic Analysis</a:t>
            </a:r>
            <a:endParaRPr lang="en-US" sz="4400" dirty="0"/>
          </a:p>
        </p:txBody>
      </p:sp>
      <p:sp>
        <p:nvSpPr>
          <p:cNvPr id="3" name="Shape 1"/>
          <p:cNvSpPr/>
          <p:nvPr/>
        </p:nvSpPr>
        <p:spPr>
          <a:xfrm>
            <a:off x="455646" y="4297680"/>
            <a:ext cx="4113246" cy="0"/>
          </a:xfrm>
          <a:prstGeom prst="line">
            <a:avLst/>
          </a:prstGeom>
          <a:noFill/>
          <a:ln w="22225">
            <a:solidFill>
              <a:srgbClr val="FFFFFF"/>
            </a:solidFill>
            <a:prstDash val="solid"/>
          </a:ln>
        </p:spPr>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343632" y="44623"/>
            <a:ext cx="11508821" cy="1060430"/>
          </a:xfrm>
          <a:prstGeom prst="rect">
            <a:avLst/>
          </a:prstGeom>
          <a:noFill/>
          <a:ln/>
        </p:spPr>
        <p:txBody>
          <a:bodyPr wrap="square" rtlCol="0" anchor="t">
            <a:normAutofit/>
          </a:bodyPr>
          <a:lstStyle/>
          <a:p>
            <a:pPr indent="0" marL="0">
              <a:buNone/>
            </a:pPr>
            <a:r>
              <a:rPr lang="en-US" sz="2000" dirty="0">
                <a:solidFill>
                  <a:srgbClr val="1F497D"/>
                </a:solidFill>
                <a:latin typeface="Segoe UI" pitchFamily="34" charset="0"/>
                <a:ea typeface="Segoe UI" pitchFamily="34" charset="-122"/>
                <a:cs typeface="Segoe UI" pitchFamily="34" charset="-120"/>
              </a:rPr>
              <a:t>Thailand - ESCO Deal Economics</a:t>
            </a:r>
            <a:pPr indent="0" marL="0">
              <a:spcBef>
                <a:spcPts val="200"/>
              </a:spcBef>
              <a:buNone/>
            </a:pPr>
            <a:r>
              <a:rPr lang="en-US" sz="1600" dirty="0">
                <a:solidFill>
                  <a:srgbClr val="1F497D"/>
                </a:solidFill>
                <a:latin typeface="Segoe UI" pitchFamily="34" charset="0"/>
                <a:ea typeface="Segoe UI" pitchFamily="34" charset="-122"/>
                <a:cs typeface="Segoe UI" pitchFamily="34" charset="-120"/>
              </a:rPr>
              <a:t>Average deal size THB 25M with 18-22% IRR; payback under 4 years makes Thailand among most attractive ESCO markets in ASEAN</a:t>
            </a:r>
            <a:endParaRPr lang="en-US" sz="2000" dirty="0"/>
          </a:p>
        </p:txBody>
      </p:sp>
      <p:sp>
        <p:nvSpPr>
          <p:cNvPr id="3" name="Text 1"/>
          <p:cNvSpPr/>
          <p:nvPr/>
        </p:nvSpPr>
        <p:spPr>
          <a:xfrm>
            <a:off x="334945" y="6105540"/>
            <a:ext cx="9068471" cy="246979"/>
          </a:xfrm>
          <a:prstGeom prst="rect">
            <a:avLst/>
          </a:prstGeom>
          <a:noFill/>
          <a:ln/>
        </p:spPr>
        <p:txBody>
          <a:bodyPr wrap="square" rtlCol="0" anchor="t"/>
          <a:lstStyle/>
          <a:p>
            <a:pPr indent="0" marL="0">
              <a:buNone/>
            </a:pPr>
            <a:r>
              <a:rPr lang="en-US" sz="1000" dirty="0">
                <a:solidFill>
                  <a:srgbClr val="999999"/>
                </a:solidFill>
                <a:latin typeface="Segoe UI" pitchFamily="34" charset="0"/>
                <a:ea typeface="Segoe UI" pitchFamily="34" charset="-122"/>
                <a:cs typeface="Segoe UI" pitchFamily="34" charset="-120"/>
              </a:rPr>
              <a:t>Source: YCP Analysis</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43632" y="1371600"/>
          <a:ext cx="11508821" cy="2743200"/>
        </p:xfrm>
        <a:graphic>
          <a:graphicData uri="http://schemas.openxmlformats.org/drawingml/2006/table">
            <a:tbl>
              <a:tblPr/>
              <a:tblGrid>
                <a:gridCol w="1540551"/>
                <a:gridCol w="4893515"/>
                <a:gridCol w="5074756"/>
              </a:tblGrid>
              <a:tr h="391886">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Metric</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Value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Notes</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391886">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Typical Deal Size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THB 25M</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Avg: THB 25M</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391886">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Contract Duration</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5-10 years</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391886">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Revenue Split</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70/30 ESCO/client in years 1-3, transitioning to 50/50</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Minimum 15% energy savings guarantee with penalty clause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391886">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Payback Period</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3.2 years average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391886">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Expected IRR</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18-22%</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391886">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Gross Margin</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Gross margin 35-42%, improving with scale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bl>
          </a:graphicData>
        </a:graphic>
      </p:graphicFrame>
      <p:sp>
        <p:nvSpPr>
          <p:cNvPr id="5" name="Text 2"/>
          <p:cNvSpPr/>
          <p:nvPr/>
        </p:nvSpPr>
        <p:spPr>
          <a:xfrm>
            <a:off x="343632" y="4251960"/>
            <a:ext cx="11508821" cy="594360"/>
          </a:xfrm>
          <a:prstGeom prst="rect">
            <a:avLst/>
          </a:prstGeom>
          <a:solidFill>
            <a:srgbClr val="D9D9D9"/>
          </a:solidFill>
          <a:ln>
            <a:solidFill>
              <a:srgbClr val="BFBFBF"/>
            </a:solidFill>
          </a:ln>
        </p:spPr>
        <p:txBody>
          <a:bodyPr wrap="square" lIns="63500" tIns="101600" rIns="101600" bIns="63500" rtlCol="0" anchor="t">
            <a:normAutofit/>
          </a:bodyPr>
          <a:lstStyle/>
          <a:p>
            <a:pPr indent="0" marL="0">
              <a:buNone/>
            </a:pPr>
            <a:r>
              <a:rPr lang="en-US" sz="1200" b="1" dirty="0">
                <a:solidFill>
                  <a:srgbClr val="1F497D"/>
                </a:solidFill>
                <a:latin typeface="Segoe UI" pitchFamily="34" charset="0"/>
                <a:ea typeface="Segoe UI" pitchFamily="34" charset="-122"/>
                <a:cs typeface="Segoe UI" pitchFamily="34" charset="-120"/>
              </a:rPr>
              <a:t>Deal Economics
</a:t>
            </a:r>
            <a:pPr indent="0" marL="0">
              <a:buNone/>
            </a:pPr>
            <a:r>
              <a:rPr lang="en-US" sz="1100" dirty="0">
                <a:solidFill>
                  <a:srgbClr val="000000"/>
                </a:solidFill>
                <a:latin typeface="Segoe UI" pitchFamily="34" charset="0"/>
                <a:ea typeface="Segoe UI" pitchFamily="34" charset="-122"/>
                <a:cs typeface="Segoe UI" pitchFamily="34" charset="-120"/>
              </a:rPr>
              <a:t>Avg Deal: THB 25M | Expected IRR: 18-22% | Payback: 3.2 years average | Contract: 5-10 years</a:t>
            </a:r>
            <a:endParaRPr lang="en-US" sz="1200" dirty="0"/>
          </a:p>
        </p:txBody>
      </p:sp>
      <p:sp>
        <p:nvSpPr>
          <p:cNvPr id="6" name="Text 3"/>
          <p:cNvSpPr/>
          <p:nvPr/>
        </p:nvSpPr>
        <p:spPr>
          <a:xfrm>
            <a:off x="343632" y="4983480"/>
            <a:ext cx="11508821" cy="731520"/>
          </a:xfrm>
          <a:prstGeom prst="rect">
            <a:avLst/>
          </a:prstGeom>
          <a:solidFill>
            <a:srgbClr val="D9D9D9"/>
          </a:solidFill>
          <a:ln>
            <a:solidFill>
              <a:srgbClr val="BFBFBF"/>
            </a:solidFill>
          </a:ln>
        </p:spPr>
        <p:txBody>
          <a:bodyPr wrap="square" lIns="63500" tIns="101600" rIns="101600" bIns="63500" rtlCol="0" anchor="t">
            <a:normAutofit/>
          </a:bodyPr>
          <a:lstStyle/>
          <a:p>
            <a:pPr indent="0" marL="0">
              <a:buNone/>
            </a:pPr>
            <a:r>
              <a:rPr lang="en-US" sz="1200" b="1" dirty="0">
                <a:solidFill>
                  <a:srgbClr val="1F497D"/>
                </a:solidFill>
                <a:latin typeface="Segoe UI" pitchFamily="34" charset="0"/>
                <a:ea typeface="Segoe UI" pitchFamily="34" charset="-122"/>
                <a:cs typeface="Segoe UI" pitchFamily="34" charset="-120"/>
              </a:rPr>
              <a:t>Financing Options
</a:t>
            </a:r>
            <a:pPr indent="0" marL="0">
              <a:buNone/>
            </a:pPr>
            <a:r>
              <a:rPr lang="en-US" sz="1100" dirty="0">
                <a:solidFill>
                  <a:srgbClr val="000000"/>
                </a:solidFill>
                <a:latin typeface="Segoe UI" pitchFamily="34" charset="0"/>
                <a:ea typeface="Segoe UI" pitchFamily="34" charset="-122"/>
                <a:cs typeface="Segoe UI" pitchFamily="34" charset="-120"/>
              </a:rPr>
              <a:t>- ESCO self-financing with balance sheet (most common for deals under THB 20M)</a:t>
            </a:r>
            <a:endParaRPr lang="en-US" sz="1200" dirty="0"/>
          </a:p>
          <a:p>
            <a:pPr indent="0" marL="0">
              <a:buNone/>
            </a:pPr>
            <a:r>
              <a:rPr lang="en-US" sz="1100" dirty="0">
                <a:solidFill>
                  <a:srgbClr val="000000"/>
                </a:solidFill>
                <a:latin typeface="Segoe UI" pitchFamily="34" charset="0"/>
                <a:ea typeface="Segoe UI" pitchFamily="34" charset="-122"/>
                <a:cs typeface="Segoe UI" pitchFamily="34" charset="-120"/>
              </a:rPr>
              <a:t>- Third-party financing through commercial banks at 5.5-7% interest rates</a:t>
            </a:r>
            <a:endParaRPr lang="en-US" sz="1200" dirty="0"/>
          </a:p>
          <a:p>
            <a:pPr indent="0" marL="0">
              <a:buNone/>
            </a:pPr>
            <a:r>
              <a:rPr lang="en-US" sz="1100" dirty="0">
                <a:solidFill>
                  <a:srgbClr val="000000"/>
                </a:solidFill>
                <a:latin typeface="Segoe UI" pitchFamily="34" charset="0"/>
                <a:ea typeface="Segoe UI" pitchFamily="34" charset="-122"/>
                <a:cs typeface="Segoe UI" pitchFamily="34" charset="-120"/>
              </a:rPr>
              <a:t>- Green bonds and sustainability-linked loans with 50-75 bps discount</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343632" y="44623"/>
            <a:ext cx="11508821" cy="1060430"/>
          </a:xfrm>
          <a:prstGeom prst="rect">
            <a:avLst/>
          </a:prstGeom>
          <a:noFill/>
          <a:ln/>
        </p:spPr>
        <p:txBody>
          <a:bodyPr wrap="square" rtlCol="0" anchor="t">
            <a:normAutofit/>
          </a:bodyPr>
          <a:lstStyle/>
          <a:p>
            <a:pPr indent="0" marL="0">
              <a:buNone/>
            </a:pPr>
            <a:r>
              <a:rPr lang="en-US" sz="2000" dirty="0">
                <a:solidFill>
                  <a:srgbClr val="1F497D"/>
                </a:solidFill>
                <a:latin typeface="Segoe UI" pitchFamily="34" charset="0"/>
                <a:ea typeface="Segoe UI" pitchFamily="34" charset="-122"/>
                <a:cs typeface="Segoe UI" pitchFamily="34" charset="-120"/>
              </a:rPr>
              <a:t>Thailand - Partner Assessment</a:t>
            </a:r>
            <a:pPr indent="0" marL="0">
              <a:spcBef>
                <a:spcPts val="200"/>
              </a:spcBef>
              <a:buNone/>
            </a:pPr>
            <a:r>
              <a:rPr lang="en-US" sz="1600" dirty="0">
                <a:solidFill>
                  <a:srgbClr val="1F497D"/>
                </a:solidFill>
                <a:latin typeface="Segoe UI" pitchFamily="34" charset="0"/>
                <a:ea typeface="Segoe UI" pitchFamily="34" charset="-122"/>
                <a:cs typeface="Segoe UI" pitchFamily="34" charset="-120"/>
              </a:rPr>
              <a:t>Bangchak Green Energy (BGE) — best combination of market access and cultural fit</a:t>
            </a:r>
            <a:endParaRPr lang="en-US" sz="2000" dirty="0"/>
          </a:p>
        </p:txBody>
      </p:sp>
      <p:sp>
        <p:nvSpPr>
          <p:cNvPr id="3" name="Text 1"/>
          <p:cNvSpPr/>
          <p:nvPr/>
        </p:nvSpPr>
        <p:spPr>
          <a:xfrm>
            <a:off x="338054" y="6114410"/>
            <a:ext cx="11514399" cy="230795"/>
          </a:xfrm>
          <a:prstGeom prst="rect">
            <a:avLst/>
          </a:prstGeom>
          <a:noFill/>
          <a:ln/>
        </p:spPr>
        <p:txBody>
          <a:bodyPr wrap="square" rtlCol="0" anchor="t"/>
          <a:lstStyle/>
          <a:p>
            <a:pPr indent="0" marL="0">
              <a:buNone/>
            </a:pPr>
            <a:r>
              <a:rPr lang="en-US" sz="1000" dirty="0">
                <a:solidFill>
                  <a:srgbClr val="999999"/>
                </a:solidFill>
                <a:latin typeface="Segoe UI" pitchFamily="34" charset="0"/>
                <a:ea typeface="Segoe UI" pitchFamily="34" charset="-122"/>
                <a:cs typeface="Segoe UI" pitchFamily="34" charset="-120"/>
              </a:rPr>
              <a:t>Source: YCP Analysis</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35310" y="1341425"/>
          <a:ext cx="11521714" cy="4751405"/>
        </p:xfrm>
        <a:graphic>
          <a:graphicData uri="http://schemas.openxmlformats.org/drawingml/2006/table">
            <a:tbl>
              <a:tblPr/>
              <a:tblGrid>
                <a:gridCol w="953182"/>
                <a:gridCol w="1316299"/>
                <a:gridCol w="879937"/>
                <a:gridCol w="879937"/>
                <a:gridCol w="879937"/>
                <a:gridCol w="6599529"/>
              </a:tblGrid>
              <a:tr h="1187851">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Company</a:t>
                      </a:r>
                      <a:endParaRPr lang="en-US" sz="1400" dirty="0">
                        <a:latin typeface="Segoe UI" charset="0"/>
                        <a:ea typeface="Segoe UI" charset="0"/>
                        <a:cs typeface="Segoe UI" charset="0"/>
                      </a:endParaRPr>
                    </a:p>
                  </a:txBody>
                  <a:tcPr marL="36576" marR="36576" marT="0" marB="0" anchor="mid">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Type</a:t>
                      </a:r>
                      <a:endParaRPr lang="en-US" sz="1400" dirty="0">
                        <a:latin typeface="Segoe UI" charset="0"/>
                        <a:ea typeface="Segoe UI" charset="0"/>
                        <a:cs typeface="Segoe UI" charset="0"/>
                      </a:endParaRPr>
                    </a:p>
                  </a:txBody>
                  <a:tcPr marL="36576" marR="36576" marT="0" marB="0" anchor="mid">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Revenue</a:t>
                      </a:r>
                      <a:endParaRPr lang="en-US" sz="1400" dirty="0">
                        <a:latin typeface="Segoe UI" charset="0"/>
                        <a:ea typeface="Segoe UI" charset="0"/>
                        <a:cs typeface="Segoe UI" charset="0"/>
                      </a:endParaRPr>
                    </a:p>
                  </a:txBody>
                  <a:tcPr marL="36576" marR="36576" marT="0" marB="0" anchor="mid">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Partnership Fit</a:t>
                      </a:r>
                      <a:endParaRPr lang="en-US" sz="1400" dirty="0">
                        <a:latin typeface="Segoe UI" charset="0"/>
                        <a:ea typeface="Segoe UI" charset="0"/>
                        <a:cs typeface="Segoe UI" charset="0"/>
                      </a:endParaRPr>
                    </a:p>
                  </a:txBody>
                  <a:tcPr marL="36576" marR="36576" marT="0" marB="0" anchor="mid">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Acquisition Fit</a:t>
                      </a:r>
                      <a:endParaRPr lang="en-US" sz="1400" dirty="0">
                        <a:latin typeface="Segoe UI" charset="0"/>
                        <a:ea typeface="Segoe UI" charset="0"/>
                        <a:cs typeface="Segoe UI" charset="0"/>
                      </a:endParaRPr>
                    </a:p>
                  </a:txBody>
                  <a:tcPr marL="36576" marR="36576" marT="0" marB="0" anchor="mid">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Description</a:t>
                      </a:r>
                      <a:endParaRPr lang="en-US" sz="1400" dirty="0">
                        <a:latin typeface="Segoe UI" charset="0"/>
                        <a:ea typeface="Segoe UI" charset="0"/>
                        <a:cs typeface="Segoe UI" charset="0"/>
                      </a:endParaRPr>
                    </a:p>
                  </a:txBody>
                  <a:tcPr marL="36576" marR="36576" marT="0" marB="0" anchor="mid">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r>
              <a:tr h="1187851">
                <a:tc>
                  <a:txBody>
                    <a:bodyPr/>
                    <a:lstStyle/>
                    <a:p>
                      <a:pPr indent="0" marL="0">
                        <a:buNone/>
                      </a:pPr>
                      <a:r>
                        <a:rPr lang="en-US" sz="1400" u="sng" dirty="0">
                          <a:solidFill>
                            <a:srgbClr val="0066CC"/>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Bangchak Green Energy</a:t>
                      </a:r>
                      <a:endParaRPr lang="en-US" sz="1400" dirty="0">
                        <a:latin typeface="Segoe UI" charset="0"/>
                        <a:ea typeface="Segoe UI" charset="0"/>
                        <a:cs typeface="Segoe UI" charset="0"/>
                      </a:endParaRPr>
                    </a:p>
                  </a:txBody>
                  <a:tcPr marL="36576" marR="36576" marT="0" marB="0" anchor="mid">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Listed ESCO</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THB 9.1B</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4/5</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3/5</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Bangchak subsidiary focused on clean energy solutions with 250+ commercial ESCO projects and strong BOI relationships. Listed on SET with THB 9.1B revenue. Culture fit is high due to existing Japanese partnerships....</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r>
              <a:tr h="1187851">
                <a:tc>
                  <a:txBody>
                    <a:bodyPr/>
                    <a:lstStyle/>
                    <a:p>
                      <a:pPr indent="0" marL="0">
                        <a:buNone/>
                      </a:pPr>
                      <a:r>
                        <a:rPr lang="en-US" sz="1400" u="sng" dirty="0">
                          <a:solidFill>
                            <a:srgbClr val="0066CC"/>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WHA Utilities &amp; Power</a:t>
                      </a:r>
                      <a:endParaRPr lang="en-US" sz="1400" dirty="0">
                        <a:latin typeface="Segoe UI" charset="0"/>
                        <a:ea typeface="Segoe UI" charset="0"/>
                        <a:cs typeface="Segoe UI" charset="0"/>
                      </a:endParaRPr>
                    </a:p>
                  </a:txBody>
                  <a:tcPr marL="36576" marR="36576" marT="0" marB="0" anchor="mid">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Industrial utilities provider</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THB 7.5B</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3/5</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4/5</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Leading industrial estate utilities provider with 95% uptime track record. THB 7.5B revenue with proven delivery in industrial energy management. Technical team of 200+ engineers across 11 industrial estates....</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r>
              <a:tr h="1187851">
                <a:tc>
                  <a:txBody>
                    <a:bodyPr/>
                    <a:lstStyle/>
                    <a:p>
                      <a:pPr indent="0" marL="0">
                        <a:buNone/>
                      </a:pPr>
                      <a:r>
                        <a:rPr lang="en-US" sz="1400" u="sng" dirty="0">
                          <a:solidFill>
                            <a:srgbClr val="0066CC"/>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Thai Carbon Solutions</a:t>
                      </a:r>
                      <a:endParaRPr lang="en-US" sz="1400" dirty="0">
                        <a:latin typeface="Segoe UI" charset="0"/>
                        <a:ea typeface="Segoe UI" charset="0"/>
                        <a:cs typeface="Segoe UI" charset="0"/>
                      </a:endParaRPr>
                    </a:p>
                  </a:txBody>
                  <a:tcPr marL="36576" marR="36576" marT="0" marB="0" anchor="mid">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Private ESCO</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THB 2.8B</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5/5</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5/5</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Leading independent carbon management and ESCO firm with 15-year track record and government contract portfolio worth THB 2.0B annually. Founder approaching retirement creates acquisition window. Deep relationships...</a:t>
                      </a:r>
                      <a:endParaRPr lang="en-US" sz="1400" dirty="0">
                        <a:latin typeface="Segoe UI" charset="0"/>
                        <a:ea typeface="Segoe UI" charset="0"/>
                        <a:cs typeface="Segoe UI" charset="0"/>
                      </a:endParaRPr>
                    </a:p>
                  </a:txBody>
                  <a:tcPr marL="36576" marR="36576" marT="0" marB="0" anchor="mid">
                    <a:lnL w="12700" cap="flat" cmpd="sng" algn="ctr">
                      <a:solidFill>
                        <a:srgbClr val="FFFFFF"/>
                      </a:solidFill>
                      <a:prstDash val="sysDash"/>
                      <a:round/>
                      <a:headEnd type="none" w="med" len="med"/>
                      <a:tailEnd type="none" w="med" len="med"/>
                    </a:lnL>
                    <a:lnR w="12700" cap="flat" cmpd="sng" algn="ctr">
                      <a:solidFill>
                        <a:srgbClr val="FFFFFF"/>
                      </a:solidFill>
                      <a:prstDash val="sysDash"/>
                      <a:round/>
                      <a:headEnd type="none" w="med" len="med"/>
                      <a:tailEnd type="none" w="med" len="med"/>
                    </a:lnR>
                    <a:lnT w="12700" cap="flat" cmpd="sng" algn="ctr">
                      <a:solidFill>
                        <a:srgbClr val="FFFFFF"/>
                      </a:solidFill>
                      <a:prstDash val="sysDash"/>
                      <a:round/>
                      <a:headEnd type="none" w="med" len="med"/>
                      <a:tailEnd type="none" w="med" len="med"/>
                    </a:lnT>
                    <a:lnB w="12700" cap="flat" cmpd="sng" algn="ctr">
                      <a:solidFill>
                        <a:srgbClr val="FFFFFF"/>
                      </a:solidFill>
                      <a:prstDash val="sysDash"/>
                      <a:round/>
                      <a:headEnd type="none" w="med" len="med"/>
                      <a:tailEnd type="none" w="med" len="med"/>
                    </a:lnB>
                  </a:tcPr>
                </a:tc>
              </a:tr>
            </a:tbl>
          </a:graphicData>
        </a:graphic>
      </p:graphicFrame>
      <p:sp>
        <p:nvSpPr>
          <p:cNvPr id="5" name="Text 2"/>
          <p:cNvSpPr/>
          <p:nvPr/>
        </p:nvSpPr>
        <p:spPr>
          <a:xfrm>
            <a:off x="343632" y="3520440"/>
            <a:ext cx="11508821" cy="594360"/>
          </a:xfrm>
          <a:prstGeom prst="rect">
            <a:avLst/>
          </a:prstGeom>
          <a:solidFill>
            <a:srgbClr val="D9D9D9"/>
          </a:solidFill>
          <a:ln>
            <a:solidFill>
              <a:srgbClr val="BFBFBF"/>
            </a:solidFill>
          </a:ln>
        </p:spPr>
        <p:txBody>
          <a:bodyPr wrap="square" lIns="63500" tIns="101600" rIns="101600" bIns="63500" rtlCol="0" anchor="t">
            <a:normAutofit/>
          </a:bodyPr>
          <a:lstStyle/>
          <a:p>
            <a:pPr indent="0" marL="0">
              <a:buNone/>
            </a:pPr>
            <a:r>
              <a:rPr lang="en-US" sz="1200" b="1" dirty="0">
                <a:solidFill>
                  <a:srgbClr val="1F497D"/>
                </a:solidFill>
                <a:latin typeface="Segoe UI" pitchFamily="34" charset="0"/>
                <a:ea typeface="Segoe UI" pitchFamily="34" charset="-122"/>
                <a:cs typeface="Segoe UI" pitchFamily="34" charset="-120"/>
              </a:rPr>
              <a:t>Competitive Insights
</a:t>
            </a:r>
            <a:pPr indent="0" marL="0">
              <a:buNone/>
            </a:pPr>
            <a:r>
              <a:rPr lang="en-US" sz="1100" dirty="0">
                <a:solidFill>
                  <a:srgbClr val="000000"/>
                </a:solidFill>
                <a:latin typeface="Segoe UI" pitchFamily="34" charset="0"/>
                <a:ea typeface="Segoe UI" pitchFamily="34" charset="-122"/>
                <a:cs typeface="Segoe UI" pitchFamily="34" charset="-120"/>
              </a:rPr>
              <a:t>Top Pick: Bangchak Green Energy (BGE) — best combination of market access and cultural fit | 3 players identified</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343632" y="44623"/>
            <a:ext cx="11508821" cy="1060430"/>
          </a:xfrm>
          <a:prstGeom prst="rect">
            <a:avLst/>
          </a:prstGeom>
          <a:noFill/>
          <a:ln/>
        </p:spPr>
        <p:txBody>
          <a:bodyPr wrap="square" rtlCol="0" anchor="t">
            <a:normAutofit/>
          </a:bodyPr>
          <a:lstStyle/>
          <a:p>
            <a:pPr indent="0" marL="0">
              <a:buNone/>
            </a:pPr>
            <a:r>
              <a:rPr lang="en-US" sz="2000" dirty="0">
                <a:solidFill>
                  <a:srgbClr val="1F497D"/>
                </a:solidFill>
                <a:latin typeface="Segoe UI" pitchFamily="34" charset="0"/>
                <a:ea typeface="Segoe UI" pitchFamily="34" charset="-122"/>
                <a:cs typeface="Segoe UI" pitchFamily="34" charset="-120"/>
              </a:rPr>
              <a:t>Thailand - Entry Strategy Options</a:t>
            </a:r>
            <a:pPr indent="0" marL="0">
              <a:spcBef>
                <a:spcPts val="200"/>
              </a:spcBef>
              <a:buNone/>
            </a:pPr>
            <a:r>
              <a:rPr lang="en-US" sz="1600" dirty="0">
                <a:solidFill>
                  <a:srgbClr val="1F497D"/>
                </a:solidFill>
                <a:latin typeface="Segoe UI" pitchFamily="34" charset="0"/>
                <a:ea typeface="Segoe UI" pitchFamily="34" charset="-122"/>
                <a:cs typeface="Segoe UI" pitchFamily="34" charset="-120"/>
              </a:rPr>
              <a:t>Joint Venture with local ESCO recommended — balances speed-to-market with risk management</a:t>
            </a:r>
            <a:endParaRPr lang="en-US" sz="2000" dirty="0"/>
          </a:p>
        </p:txBody>
      </p:sp>
      <p:sp>
        <p:nvSpPr>
          <p:cNvPr id="3" name="Text 1"/>
          <p:cNvSpPr/>
          <p:nvPr/>
        </p:nvSpPr>
        <p:spPr>
          <a:xfrm>
            <a:off x="343632" y="6121359"/>
            <a:ext cx="11508821" cy="246888"/>
          </a:xfrm>
          <a:prstGeom prst="rect">
            <a:avLst/>
          </a:prstGeom>
          <a:noFill/>
          <a:ln/>
        </p:spPr>
        <p:txBody>
          <a:bodyPr wrap="square" rtlCol="0" anchor="t"/>
          <a:lstStyle/>
          <a:p>
            <a:pPr indent="0" marL="0">
              <a:buNone/>
            </a:pPr>
            <a:r>
              <a:rPr lang="en-US" sz="1000" dirty="0">
                <a:solidFill>
                  <a:srgbClr val="999999"/>
                </a:solidFill>
                <a:latin typeface="Segoe UI" pitchFamily="34" charset="0"/>
                <a:ea typeface="Segoe UI" pitchFamily="34" charset="-122"/>
                <a:cs typeface="Segoe UI" pitchFamily="34" charset="-120"/>
              </a:rPr>
              <a:t>Source: YCP Analysis</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43632" y="1371600"/>
          <a:ext cx="11508821" cy="2011680"/>
        </p:xfrm>
        <a:graphic>
          <a:graphicData uri="http://schemas.openxmlformats.org/drawingml/2006/table">
            <a:tbl>
              <a:tblPr/>
              <a:tblGrid>
                <a:gridCol w="690497"/>
                <a:gridCol w="1384142"/>
                <a:gridCol w="690497"/>
                <a:gridCol w="964705"/>
                <a:gridCol w="690497"/>
                <a:gridCol w="3816876"/>
                <a:gridCol w="3271608"/>
              </a:tblGrid>
              <a:tr h="50292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Option</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Timeline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Investment</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Control</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Risk</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Pros</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Cons</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50292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Joint Venture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6-12 months to operational</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USD 15-25M</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Shared (51/49 or 49/51)</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Medium</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 Immediate local market access</a:t>
                      </a:r>
                      <a:endParaRPr lang="en-US" sz="1400" dirty="0">
                        <a:latin typeface="Segoe UI" charset="0"/>
                        <a:ea typeface="Segoe UI" charset="0"/>
                        <a:cs typeface="Segoe UI" charset="0"/>
                      </a:endParaRPr>
                    </a:p>
                    <a:p>
                      <a:pPr indent="0" marL="0">
                        <a:buNone/>
                      </a:pPr>
                      <a:r>
                        <a:rPr lang="en-US" sz="1400" dirty="0">
                          <a:solidFill>
                            <a:srgbClr val="000000"/>
                          </a:solidFill>
                          <a:latin typeface="Segoe UI" pitchFamily="34" charset="0"/>
                          <a:ea typeface="Segoe UI" pitchFamily="34" charset="-122"/>
                          <a:cs typeface="Segoe UI" pitchFamily="34" charset="-120"/>
                        </a:rPr>
                        <a:t>+ Shared regulatory burden</a:t>
                      </a:r>
                      <a:endParaRPr lang="en-US" sz="1400" dirty="0">
                        <a:latin typeface="Segoe UI" charset="0"/>
                        <a:ea typeface="Segoe UI" charset="0"/>
                        <a:cs typeface="Segoe UI" charset="0"/>
                      </a:endParaRPr>
                    </a:p>
                    <a:p>
                      <a:pPr indent="0" marL="0">
                        <a:buNone/>
                      </a:pPr>
                      <a:r>
                        <a:rPr lang="en-US" sz="1400" dirty="0">
                          <a:solidFill>
                            <a:srgbClr val="000000"/>
                          </a:solidFill>
                          <a:latin typeface="Segoe UI" pitchFamily="34" charset="0"/>
                          <a:ea typeface="Segoe UI" pitchFamily="34" charset="-122"/>
                          <a:cs typeface="Segoe UI" pitchFamily="34" charset="-120"/>
                        </a:rPr>
                        <a:t>+ Local talent and relationships</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 Shared decision-making</a:t>
                      </a:r>
                      <a:endParaRPr lang="en-US" sz="1400" dirty="0">
                        <a:latin typeface="Segoe UI" charset="0"/>
                        <a:ea typeface="Segoe UI" charset="0"/>
                        <a:cs typeface="Segoe UI" charset="0"/>
                      </a:endParaRPr>
                    </a:p>
                    <a:p>
                      <a:pPr indent="0" marL="0">
                        <a:buNone/>
                      </a:pPr>
                      <a:r>
                        <a:rPr lang="en-US" sz="1400" dirty="0">
                          <a:solidFill>
                            <a:srgbClr val="000000"/>
                          </a:solidFill>
                          <a:latin typeface="Segoe UI" pitchFamily="34" charset="0"/>
                          <a:ea typeface="Segoe UI" pitchFamily="34" charset="-122"/>
                          <a:cs typeface="Segoe UI" pitchFamily="34" charset="-120"/>
                        </a:rPr>
                        <a:t>- Potential culture clashes</a:t>
                      </a:r>
                      <a:endParaRPr lang="en-US" sz="1400" dirty="0">
                        <a:latin typeface="Segoe UI" charset="0"/>
                        <a:ea typeface="Segoe UI" charset="0"/>
                        <a:cs typeface="Segoe UI" charset="0"/>
                      </a:endParaRPr>
                    </a:p>
                    <a:p>
                      <a:pPr indent="0" marL="0">
                        <a:buNone/>
                      </a:pPr>
                      <a:r>
                        <a:rPr lang="en-US" sz="1400" dirty="0">
                          <a:solidFill>
                            <a:srgbClr val="000000"/>
                          </a:solidFill>
                          <a:latin typeface="Segoe UI" pitchFamily="34" charset="0"/>
                          <a:ea typeface="Segoe UI" pitchFamily="34" charset="-122"/>
                          <a:cs typeface="Segoe UI" pitchFamily="34" charset="-120"/>
                        </a:rPr>
                        <a:t>- Complex exit mechanisms</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50292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Acquisition</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12-18 months to close + integrate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USD 30-50M</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Full</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Medium-High</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 Full control of operations</a:t>
                      </a:r>
                      <a:endParaRPr lang="en-US" sz="1400" dirty="0">
                        <a:latin typeface="Segoe UI" charset="0"/>
                        <a:ea typeface="Segoe UI" charset="0"/>
                        <a:cs typeface="Segoe UI" charset="0"/>
                      </a:endParaRPr>
                    </a:p>
                    <a:p>
                      <a:pPr indent="0" marL="0">
                        <a:buNone/>
                      </a:pPr>
                      <a:r>
                        <a:rPr lang="en-US" sz="1400" dirty="0">
                          <a:solidFill>
                            <a:srgbClr val="000000"/>
                          </a:solidFill>
                          <a:latin typeface="Segoe UI" pitchFamily="34" charset="0"/>
                          <a:ea typeface="Segoe UI" pitchFamily="34" charset="-122"/>
                          <a:cs typeface="Segoe UI" pitchFamily="34" charset="-120"/>
                        </a:rPr>
                        <a:t>+ Immediate revenue stream</a:t>
                      </a:r>
                      <a:endParaRPr lang="en-US" sz="1400" dirty="0">
                        <a:latin typeface="Segoe UI" charset="0"/>
                        <a:ea typeface="Segoe UI" charset="0"/>
                        <a:cs typeface="Segoe UI" charset="0"/>
                      </a:endParaRPr>
                    </a:p>
                    <a:p>
                      <a:pPr indent="0" marL="0">
                        <a:buNone/>
                      </a:pPr>
                      <a:r>
                        <a:rPr lang="en-US" sz="1400" dirty="0">
                          <a:solidFill>
                            <a:srgbClr val="000000"/>
                          </a:solidFill>
                          <a:latin typeface="Segoe UI" pitchFamily="34" charset="0"/>
                          <a:ea typeface="Segoe UI" pitchFamily="34" charset="-122"/>
                          <a:cs typeface="Segoe UI" pitchFamily="34" charset="-120"/>
                        </a:rPr>
                        <a:t>+ Existing customer base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 High upfront capital</a:t>
                      </a:r>
                      <a:endParaRPr lang="en-US" sz="1400" dirty="0">
                        <a:latin typeface="Segoe UI" charset="0"/>
                        <a:ea typeface="Segoe UI" charset="0"/>
                        <a:cs typeface="Segoe UI" charset="0"/>
                      </a:endParaRPr>
                    </a:p>
                    <a:p>
                      <a:pPr indent="0" marL="0">
                        <a:buNone/>
                      </a:pPr>
                      <a:r>
                        <a:rPr lang="en-US" sz="1400" dirty="0">
                          <a:solidFill>
                            <a:srgbClr val="000000"/>
                          </a:solidFill>
                          <a:latin typeface="Segoe UI" pitchFamily="34" charset="0"/>
                          <a:ea typeface="Segoe UI" pitchFamily="34" charset="-122"/>
                          <a:cs typeface="Segoe UI" pitchFamily="34" charset="-120"/>
                        </a:rPr>
                        <a:t>- Integration risk</a:t>
                      </a:r>
                      <a:endParaRPr lang="en-US" sz="1400" dirty="0">
                        <a:latin typeface="Segoe UI" charset="0"/>
                        <a:ea typeface="Segoe UI" charset="0"/>
                        <a:cs typeface="Segoe UI" charset="0"/>
                      </a:endParaRPr>
                    </a:p>
                    <a:p>
                      <a:pPr indent="0" marL="0">
                        <a:buNone/>
                      </a:pPr>
                      <a:r>
                        <a:rPr lang="en-US" sz="1400" dirty="0">
                          <a:solidFill>
                            <a:srgbClr val="000000"/>
                          </a:solidFill>
                          <a:latin typeface="Segoe UI" pitchFamily="34" charset="0"/>
                          <a:ea typeface="Segoe UI" pitchFamily="34" charset="-122"/>
                          <a:cs typeface="Segoe UI" pitchFamily="34" charset="-120"/>
                        </a:rPr>
                        <a:t>- Cultural integration challenges</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50292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Greenfield</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18-24 months to first project</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USD 8-15M</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Full</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High</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 Full control from day one</a:t>
                      </a:r>
                      <a:endParaRPr lang="en-US" sz="1400" dirty="0">
                        <a:latin typeface="Segoe UI" charset="0"/>
                        <a:ea typeface="Segoe UI" charset="0"/>
                        <a:cs typeface="Segoe UI" charset="0"/>
                      </a:endParaRPr>
                    </a:p>
                    <a:p>
                      <a:pPr indent="0" marL="0">
                        <a:buNone/>
                      </a:pPr>
                      <a:r>
                        <a:rPr lang="en-US" sz="1400" dirty="0">
                          <a:solidFill>
                            <a:srgbClr val="000000"/>
                          </a:solidFill>
                          <a:latin typeface="Segoe UI" pitchFamily="34" charset="0"/>
                          <a:ea typeface="Segoe UI" pitchFamily="34" charset="-122"/>
                          <a:cs typeface="Segoe UI" pitchFamily="34" charset="-120"/>
                        </a:rPr>
                        <a:t>+ Build culture from scratch</a:t>
                      </a:r>
                      <a:endParaRPr lang="en-US" sz="1400" dirty="0">
                        <a:latin typeface="Segoe UI" charset="0"/>
                        <a:ea typeface="Segoe UI" charset="0"/>
                        <a:cs typeface="Segoe UI" charset="0"/>
                      </a:endParaRPr>
                    </a:p>
                    <a:p>
                      <a:pPr indent="0" marL="0">
                        <a:buNone/>
                      </a:pPr>
                      <a:r>
                        <a:rPr lang="en-US" sz="1400" dirty="0">
                          <a:solidFill>
                            <a:srgbClr val="000000"/>
                          </a:solidFill>
                          <a:latin typeface="Segoe UI" pitchFamily="34" charset="0"/>
                          <a:ea typeface="Segoe UI" pitchFamily="34" charset="-122"/>
                          <a:cs typeface="Segoe UI" pitchFamily="34" charset="-120"/>
                        </a:rPr>
                        <a:t>+ Choose optimal location</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 Slow market entry</a:t>
                      </a:r>
                      <a:endParaRPr lang="en-US" sz="1400" dirty="0">
                        <a:latin typeface="Segoe UI" charset="0"/>
                        <a:ea typeface="Segoe UI" charset="0"/>
                        <a:cs typeface="Segoe UI" charset="0"/>
                      </a:endParaRPr>
                    </a:p>
                    <a:p>
                      <a:pPr indent="0" marL="0">
                        <a:buNone/>
                      </a:pPr>
                      <a:r>
                        <a:rPr lang="en-US" sz="1400" dirty="0">
                          <a:solidFill>
                            <a:srgbClr val="000000"/>
                          </a:solidFill>
                          <a:latin typeface="Segoe UI" pitchFamily="34" charset="0"/>
                          <a:ea typeface="Segoe UI" pitchFamily="34" charset="-122"/>
                          <a:cs typeface="Segoe UI" pitchFamily="34" charset="-120"/>
                        </a:rPr>
                        <a:t>- No existing relationships</a:t>
                      </a:r>
                      <a:endParaRPr lang="en-US" sz="1400" dirty="0">
                        <a:latin typeface="Segoe UI" charset="0"/>
                        <a:ea typeface="Segoe UI" charset="0"/>
                        <a:cs typeface="Segoe UI" charset="0"/>
                      </a:endParaRPr>
                    </a:p>
                    <a:p>
                      <a:pPr indent="0" marL="0">
                        <a:buNone/>
                      </a:pPr>
                      <a:r>
                        <a:rPr lang="en-US" sz="1400" dirty="0">
                          <a:solidFill>
                            <a:srgbClr val="000000"/>
                          </a:solidFill>
                          <a:latin typeface="Segoe UI" pitchFamily="34" charset="0"/>
                          <a:ea typeface="Segoe UI" pitchFamily="34" charset="-122"/>
                          <a:cs typeface="Segoe UI" pitchFamily="34" charset="-120"/>
                        </a:rPr>
                        <a:t>- Must build team from scratch</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bl>
          </a:graphicData>
        </a:graphic>
      </p:graphicFrame>
      <p:sp>
        <p:nvSpPr>
          <p:cNvPr id="5" name="Text 2"/>
          <p:cNvSpPr/>
          <p:nvPr/>
        </p:nvSpPr>
        <p:spPr>
          <a:xfrm>
            <a:off x="343632" y="3520440"/>
            <a:ext cx="11508821" cy="731520"/>
          </a:xfrm>
          <a:prstGeom prst="rect">
            <a:avLst/>
          </a:prstGeom>
          <a:solidFill>
            <a:srgbClr val="D9D9D9"/>
          </a:solidFill>
          <a:ln>
            <a:solidFill>
              <a:srgbClr val="BFBFBF"/>
            </a:solidFill>
          </a:ln>
        </p:spPr>
        <p:txBody>
          <a:bodyPr wrap="square" lIns="63500" tIns="101600" rIns="101600" bIns="63500" rtlCol="0" anchor="t">
            <a:normAutofit/>
          </a:bodyPr>
          <a:lstStyle/>
          <a:p>
            <a:pPr indent="0" marL="0">
              <a:buNone/>
            </a:pPr>
            <a:r>
              <a:rPr lang="en-US" sz="1200" b="1" dirty="0">
                <a:solidFill>
                  <a:srgbClr val="1F497D"/>
                </a:solidFill>
                <a:latin typeface="Segoe UI" pitchFamily="34" charset="0"/>
                <a:ea typeface="Segoe UI" pitchFamily="34" charset="-122"/>
                <a:cs typeface="Segoe UI" pitchFamily="34" charset="-120"/>
              </a:rPr>
              <a:t>Strategy Insights
</a:t>
            </a:r>
            <a:pPr indent="0" marL="0">
              <a:buNone/>
            </a:pPr>
            <a:r>
              <a:rPr lang="en-US" sz="1100" dirty="0">
                <a:solidFill>
                  <a:srgbClr val="000000"/>
                </a:solidFill>
                <a:latin typeface="Segoe UI" pitchFamily="34" charset="0"/>
                <a:ea typeface="Segoe UI" pitchFamily="34" charset="-122"/>
                <a:cs typeface="Segoe UI" pitchFamily="34" charset="-120"/>
              </a:rPr>
              <a:t>Recommended: Joint Venture with local ESCO recommended — balances speed-to-market with risk management | 3 entry options analyzed | Fastest: Joint Venture (6-12 months to operational)</a:t>
            </a:r>
            <a:endParaRPr lang="en-US" sz="1200" dirty="0"/>
          </a:p>
        </p:txBody>
      </p:sp>
      <p:sp>
        <p:nvSpPr>
          <p:cNvPr id="6" name="Text 3"/>
          <p:cNvSpPr/>
          <p:nvPr/>
        </p:nvSpPr>
        <p:spPr>
          <a:xfrm>
            <a:off x="343632" y="4389120"/>
            <a:ext cx="11508821" cy="228600"/>
          </a:xfrm>
          <a:prstGeom prst="rect">
            <a:avLst/>
          </a:prstGeom>
          <a:noFill/>
          <a:ln/>
        </p:spPr>
        <p:txBody>
          <a:bodyPr wrap="square" rtlCol="0" anchor="ctr"/>
          <a:lstStyle/>
          <a:p>
            <a:pPr indent="0" marL="0">
              <a:buNone/>
            </a:pPr>
            <a:r>
              <a:rPr lang="en-US" sz="1400" b="1" dirty="0">
                <a:solidFill>
                  <a:srgbClr val="1F497D"/>
                </a:solidFill>
                <a:latin typeface="Segoe UI" pitchFamily="34" charset="0"/>
                <a:ea typeface="Segoe UI" pitchFamily="34" charset="-122"/>
                <a:cs typeface="Segoe UI" pitchFamily="34" charset="-120"/>
              </a:rPr>
              <a:t>Comparison Matrix (1-5 scale)</a:t>
            </a:r>
            <a:endParaRPr lang="en-US" sz="1400" dirty="0"/>
          </a:p>
        </p:txBody>
      </p:sp>
      <p:graphicFrame>
        <p:nvGraphicFramePr>
          <p:cNvPr id="51" name="Table 1"/>
          <p:cNvGraphicFramePr>
            <a:graphicFrameLocks noGrp="1"/>
          </p:cNvGraphicFramePr>
          <p:nvPr>
            <p:extLst>
              <p:ext uri="{D42A27DB-BD31-4B8C-83A1-F6EECF244321}">
                <p14:modId xmlns:p14="http://schemas.microsoft.com/office/powerpoint/2010/main" val="1579011935"/>
              </p:ext>
            </p:extLst>
          </p:nvPr>
        </p:nvGraphicFramePr>
        <p:xfrm>
          <a:off x="343632" y="4663440"/>
          <a:ext cx="11508821" cy="1417320"/>
        </p:xfrm>
        <a:graphic>
          <a:graphicData uri="http://schemas.openxmlformats.org/drawingml/2006/table">
            <a:tbl>
              <a:tblPr/>
              <a:tblGrid>
                <a:gridCol w="4125804"/>
                <a:gridCol w="2822918"/>
                <a:gridCol w="2388623"/>
                <a:gridCol w="2171476"/>
              </a:tblGrid>
              <a:tr h="23622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Criteria</a:t>
                      </a:r>
                      <a:endParaRPr lang="en-US" sz="1400" dirty="0">
                        <a:latin typeface="Segoe UI" charset="0"/>
                        <a:ea typeface="Segoe UI" charset="0"/>
                        <a:cs typeface="Segoe UI" charset="0"/>
                      </a:endParaRPr>
                    </a:p>
                  </a:txBody>
                  <a:tcPr marL="36576" marR="36576" marT="0" marB="0" anchor="ctr">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Joint Venture</a:t>
                      </a:r>
                      <a:endParaRPr lang="en-US" sz="1400" dirty="0">
                        <a:latin typeface="Segoe UI" charset="0"/>
                        <a:ea typeface="Segoe UI" charset="0"/>
                        <a:cs typeface="Segoe UI" charset="0"/>
                      </a:endParaRPr>
                    </a:p>
                  </a:txBody>
                  <a:tcPr marL="36576" marR="36576" marT="0" marB="0" anchor="ctr">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Acquisition</a:t>
                      </a:r>
                      <a:endParaRPr lang="en-US" sz="1400" dirty="0">
                        <a:latin typeface="Segoe UI" charset="0"/>
                        <a:ea typeface="Segoe UI" charset="0"/>
                        <a:cs typeface="Segoe UI" charset="0"/>
                      </a:endParaRPr>
                    </a:p>
                  </a:txBody>
                  <a:tcPr marL="36576" marR="36576" marT="0" marB="0" anchor="ctr">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Greenfield</a:t>
                      </a:r>
                      <a:endParaRPr lang="en-US" sz="1400" dirty="0">
                        <a:latin typeface="Segoe UI" charset="0"/>
                        <a:ea typeface="Segoe UI" charset="0"/>
                        <a:cs typeface="Segoe UI" charset="0"/>
                      </a:endParaRPr>
                    </a:p>
                  </a:txBody>
                  <a:tcPr marL="36576" marR="36576" marT="0" marB="0" anchor="ctr">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23622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Speed to Market</a:t>
                      </a:r>
                      <a:endParaRPr lang="en-US" sz="1400" dirty="0">
                        <a:latin typeface="Segoe UI" charset="0"/>
                        <a:ea typeface="Segoe UI" charset="0"/>
                        <a:cs typeface="Segoe UI" charset="0"/>
                      </a:endParaRPr>
                    </a:p>
                  </a:txBody>
                  <a:tcPr marL="36576" marR="36576" marT="0" marB="0" anchor="ctr">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a:t>
                      </a:r>
                      <a:endParaRPr lang="en-US" sz="1400" dirty="0">
                        <a:latin typeface="Segoe UI" charset="0"/>
                        <a:ea typeface="Segoe UI" charset="0"/>
                        <a:cs typeface="Segoe UI" charset="0"/>
                      </a:endParaRPr>
                    </a:p>
                  </a:txBody>
                  <a:tcPr marL="36576" marR="36576" marT="0" marB="0" anchor="ctr">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a:t>
                      </a:r>
                      <a:endParaRPr lang="en-US" sz="1400" dirty="0">
                        <a:latin typeface="Segoe UI" charset="0"/>
                        <a:ea typeface="Segoe UI" charset="0"/>
                        <a:cs typeface="Segoe UI" charset="0"/>
                      </a:endParaRPr>
                    </a:p>
                  </a:txBody>
                  <a:tcPr marL="36576" marR="36576" marT="0" marB="0" anchor="ctr">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a:t>
                      </a:r>
                      <a:endParaRPr lang="en-US" sz="1400" dirty="0">
                        <a:latin typeface="Segoe UI" charset="0"/>
                        <a:ea typeface="Segoe UI" charset="0"/>
                        <a:cs typeface="Segoe UI" charset="0"/>
                      </a:endParaRPr>
                    </a:p>
                  </a:txBody>
                  <a:tcPr marL="36576" marR="36576" marT="0" marB="0" anchor="ctr">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23622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Investment Required</a:t>
                      </a:r>
                      <a:endParaRPr lang="en-US" sz="1400" dirty="0">
                        <a:latin typeface="Segoe UI" charset="0"/>
                        <a:ea typeface="Segoe UI" charset="0"/>
                        <a:cs typeface="Segoe UI" charset="0"/>
                      </a:endParaRPr>
                    </a:p>
                  </a:txBody>
                  <a:tcPr marL="36576" marR="36576" marT="0" marB="0" anchor="ctr">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a:t>
                      </a:r>
                      <a:endParaRPr lang="en-US" sz="1400" dirty="0">
                        <a:latin typeface="Segoe UI" charset="0"/>
                        <a:ea typeface="Segoe UI" charset="0"/>
                        <a:cs typeface="Segoe UI" charset="0"/>
                      </a:endParaRPr>
                    </a:p>
                  </a:txBody>
                  <a:tcPr marL="36576" marR="36576" marT="0" marB="0" anchor="ctr">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a:t>
                      </a:r>
                      <a:endParaRPr lang="en-US" sz="1400" dirty="0">
                        <a:latin typeface="Segoe UI" charset="0"/>
                        <a:ea typeface="Segoe UI" charset="0"/>
                        <a:cs typeface="Segoe UI" charset="0"/>
                      </a:endParaRPr>
                    </a:p>
                  </a:txBody>
                  <a:tcPr marL="36576" marR="36576" marT="0" marB="0" anchor="ctr">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a:t>
                      </a:r>
                      <a:endParaRPr lang="en-US" sz="1400" dirty="0">
                        <a:latin typeface="Segoe UI" charset="0"/>
                        <a:ea typeface="Segoe UI" charset="0"/>
                        <a:cs typeface="Segoe UI" charset="0"/>
                      </a:endParaRPr>
                    </a:p>
                  </a:txBody>
                  <a:tcPr marL="36576" marR="36576" marT="0" marB="0" anchor="ctr">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23622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Market Access</a:t>
                      </a:r>
                      <a:endParaRPr lang="en-US" sz="1400" dirty="0">
                        <a:latin typeface="Segoe UI" charset="0"/>
                        <a:ea typeface="Segoe UI" charset="0"/>
                        <a:cs typeface="Segoe UI" charset="0"/>
                      </a:endParaRPr>
                    </a:p>
                  </a:txBody>
                  <a:tcPr marL="36576" marR="36576" marT="0" marB="0" anchor="ctr">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a:t>
                      </a:r>
                      <a:endParaRPr lang="en-US" sz="1400" dirty="0">
                        <a:latin typeface="Segoe UI" charset="0"/>
                        <a:ea typeface="Segoe UI" charset="0"/>
                        <a:cs typeface="Segoe UI" charset="0"/>
                      </a:endParaRPr>
                    </a:p>
                  </a:txBody>
                  <a:tcPr marL="36576" marR="36576" marT="0" marB="0" anchor="ctr">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a:t>
                      </a:r>
                      <a:endParaRPr lang="en-US" sz="1400" dirty="0">
                        <a:latin typeface="Segoe UI" charset="0"/>
                        <a:ea typeface="Segoe UI" charset="0"/>
                        <a:cs typeface="Segoe UI" charset="0"/>
                      </a:endParaRPr>
                    </a:p>
                  </a:txBody>
                  <a:tcPr marL="36576" marR="36576" marT="0" marB="0" anchor="ctr">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a:t>
                      </a:r>
                      <a:endParaRPr lang="en-US" sz="1400" dirty="0">
                        <a:latin typeface="Segoe UI" charset="0"/>
                        <a:ea typeface="Segoe UI" charset="0"/>
                        <a:cs typeface="Segoe UI" charset="0"/>
                      </a:endParaRPr>
                    </a:p>
                  </a:txBody>
                  <a:tcPr marL="36576" marR="36576" marT="0" marB="0" anchor="ctr">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23622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Risk Level</a:t>
                      </a:r>
                      <a:endParaRPr lang="en-US" sz="1400" dirty="0">
                        <a:latin typeface="Segoe UI" charset="0"/>
                        <a:ea typeface="Segoe UI" charset="0"/>
                        <a:cs typeface="Segoe UI" charset="0"/>
                      </a:endParaRPr>
                    </a:p>
                  </a:txBody>
                  <a:tcPr marL="36576" marR="36576" marT="0" marB="0" anchor="ctr">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a:t>
                      </a:r>
                      <a:endParaRPr lang="en-US" sz="1400" dirty="0">
                        <a:latin typeface="Segoe UI" charset="0"/>
                        <a:ea typeface="Segoe UI" charset="0"/>
                        <a:cs typeface="Segoe UI" charset="0"/>
                      </a:endParaRPr>
                    </a:p>
                  </a:txBody>
                  <a:tcPr marL="36576" marR="36576" marT="0" marB="0" anchor="ctr">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a:t>
                      </a:r>
                      <a:endParaRPr lang="en-US" sz="1400" dirty="0">
                        <a:latin typeface="Segoe UI" charset="0"/>
                        <a:ea typeface="Segoe UI" charset="0"/>
                        <a:cs typeface="Segoe UI" charset="0"/>
                      </a:endParaRPr>
                    </a:p>
                  </a:txBody>
                  <a:tcPr marL="36576" marR="36576" marT="0" marB="0" anchor="ctr">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a:t>
                      </a:r>
                      <a:endParaRPr lang="en-US" sz="1400" dirty="0">
                        <a:latin typeface="Segoe UI" charset="0"/>
                        <a:ea typeface="Segoe UI" charset="0"/>
                        <a:cs typeface="Segoe UI" charset="0"/>
                      </a:endParaRPr>
                    </a:p>
                  </a:txBody>
                  <a:tcPr marL="36576" marR="36576" marT="0" marB="0" anchor="ctr">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23622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Control</a:t>
                      </a:r>
                      <a:endParaRPr lang="en-US" sz="1400" dirty="0">
                        <a:latin typeface="Segoe UI" charset="0"/>
                        <a:ea typeface="Segoe UI" charset="0"/>
                        <a:cs typeface="Segoe UI" charset="0"/>
                      </a:endParaRPr>
                    </a:p>
                  </a:txBody>
                  <a:tcPr marL="36576" marR="36576" marT="0" marB="0" anchor="ctr">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a:t>
                      </a:r>
                      <a:endParaRPr lang="en-US" sz="1400" dirty="0">
                        <a:latin typeface="Segoe UI" charset="0"/>
                        <a:ea typeface="Segoe UI" charset="0"/>
                        <a:cs typeface="Segoe UI" charset="0"/>
                      </a:endParaRPr>
                    </a:p>
                  </a:txBody>
                  <a:tcPr marL="36576" marR="36576" marT="0" marB="0" anchor="ctr">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a:t>
                      </a:r>
                      <a:endParaRPr lang="en-US" sz="1400" dirty="0">
                        <a:latin typeface="Segoe UI" charset="0"/>
                        <a:ea typeface="Segoe UI" charset="0"/>
                        <a:cs typeface="Segoe UI" charset="0"/>
                      </a:endParaRPr>
                    </a:p>
                  </a:txBody>
                  <a:tcPr marL="36576" marR="36576" marT="0" marB="0" anchor="ctr">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a:t>
                      </a:r>
                      <a:endParaRPr lang="en-US" sz="1400" dirty="0">
                        <a:latin typeface="Segoe UI" charset="0"/>
                        <a:ea typeface="Segoe UI" charset="0"/>
                        <a:cs typeface="Segoe UI" charset="0"/>
                      </a:endParaRPr>
                    </a:p>
                  </a:txBody>
                  <a:tcPr marL="36576" marR="36576" marT="0" marB="0" anchor="ctr">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343632" y="44623"/>
            <a:ext cx="11508821" cy="1060430"/>
          </a:xfrm>
          <a:prstGeom prst="rect">
            <a:avLst/>
          </a:prstGeom>
          <a:noFill/>
          <a:ln/>
        </p:spPr>
        <p:txBody>
          <a:bodyPr wrap="square" rtlCol="0" anchor="t">
            <a:normAutofit/>
          </a:bodyPr>
          <a:lstStyle/>
          <a:p>
            <a:pPr indent="0" marL="0">
              <a:buNone/>
            </a:pPr>
            <a:r>
              <a:rPr lang="en-US" sz="2000" dirty="0">
                <a:solidFill>
                  <a:srgbClr val="1F497D"/>
                </a:solidFill>
                <a:latin typeface="Segoe UI" pitchFamily="34" charset="0"/>
                <a:ea typeface="Segoe UI" pitchFamily="34" charset="-122"/>
                <a:cs typeface="Segoe UI" pitchFamily="34" charset="-120"/>
              </a:rPr>
              <a:t>Thailand - Implementation Roadmap</a:t>
            </a:r>
            <a:pPr indent="0" marL="0">
              <a:spcBef>
                <a:spcPts val="200"/>
              </a:spcBef>
              <a:buNone/>
            </a:pPr>
            <a:r>
              <a:rPr lang="en-US" sz="1600" dirty="0">
                <a:solidFill>
                  <a:srgbClr val="1F497D"/>
                </a:solidFill>
                <a:latin typeface="Segoe UI" pitchFamily="34" charset="0"/>
                <a:ea typeface="Segoe UI" pitchFamily="34" charset="-122"/>
                <a:cs typeface="Segoe UI" pitchFamily="34" charset="-120"/>
              </a:rPr>
              <a:t>Total: USD 20-35M over 3 years | Breakeven: 30-36 months from market entry</a:t>
            </a:r>
            <a:endParaRPr lang="en-US" sz="2000" dirty="0"/>
          </a:p>
        </p:txBody>
      </p:sp>
      <p:sp>
        <p:nvSpPr>
          <p:cNvPr id="3" name="Text 1"/>
          <p:cNvSpPr/>
          <p:nvPr/>
        </p:nvSpPr>
        <p:spPr>
          <a:xfrm>
            <a:off x="340248" y="6095482"/>
            <a:ext cx="11516777" cy="246248"/>
          </a:xfrm>
          <a:prstGeom prst="rect">
            <a:avLst/>
          </a:prstGeom>
          <a:noFill/>
          <a:ln/>
        </p:spPr>
        <p:txBody>
          <a:bodyPr wrap="square" rtlCol="0" anchor="t"/>
          <a:lstStyle/>
          <a:p>
            <a:pPr indent="0" marL="0">
              <a:buNone/>
            </a:pPr>
            <a:r>
              <a:rPr lang="en-US" sz="1000" dirty="0">
                <a:solidFill>
                  <a:srgbClr val="999999"/>
                </a:solidFill>
                <a:latin typeface="Segoe UI" pitchFamily="34" charset="0"/>
                <a:ea typeface="Segoe UI" pitchFamily="34" charset="-122"/>
                <a:cs typeface="Segoe UI" pitchFamily="34" charset="-120"/>
              </a:rPr>
              <a:t>Source: YCP Analysis</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43632" y="1371600"/>
          <a:ext cx="11508821" cy="1554480"/>
        </p:xfrm>
        <a:graphic>
          <a:graphicData uri="http://schemas.openxmlformats.org/drawingml/2006/table">
            <a:tbl>
              <a:tblPr/>
              <a:tblGrid>
                <a:gridCol w="3836274"/>
                <a:gridCol w="3836274"/>
                <a:gridCol w="3836274"/>
              </a:tblGrid>
              <a:tr h="518160">
                <a:tc>
                  <a:txBody>
                    <a:bodyPr/>
                    <a:lstStyle/>
                    <a:p>
                      <a:pPr algn="ctr" indent="0" marL="0">
                        <a:buNone/>
                      </a:pPr>
                      <a:r>
                        <a:rPr lang="en-US" sz="1200" b="1" dirty="0">
                          <a:solidFill>
                            <a:srgbClr val="FFFFFF"/>
                          </a:solidFill>
                          <a:latin typeface="Segoe UI" pitchFamily="34" charset="0"/>
                          <a:ea typeface="Segoe UI" pitchFamily="34" charset="-122"/>
                          <a:cs typeface="Segoe UI" pitchFamily="34" charset="-120"/>
                        </a:rPr>
                        <a:t>Phase 1: Market Entry</a:t>
                      </a:r>
                      <a:endParaRPr lang="en-US" sz="12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solidFill>
                      <a:srgbClr val="007FFF"/>
                    </a:solidFill>
                  </a:tcPr>
                </a:tc>
                <a:tc>
                  <a:txBody>
                    <a:bodyPr/>
                    <a:lstStyle/>
                    <a:p>
                      <a:pPr algn="ctr" indent="0" marL="0">
                        <a:buNone/>
                      </a:pPr>
                      <a:r>
                        <a:rPr lang="en-US" sz="1200" b="1" dirty="0">
                          <a:solidFill>
                            <a:srgbClr val="FFFFFF"/>
                          </a:solidFill>
                          <a:latin typeface="Segoe UI" pitchFamily="34" charset="0"/>
                          <a:ea typeface="Segoe UI" pitchFamily="34" charset="-122"/>
                          <a:cs typeface="Segoe UI" pitchFamily="34" charset="-120"/>
                        </a:rPr>
                        <a:t>Phase 2: Scale Operations</a:t>
                      </a:r>
                      <a:endParaRPr lang="en-US" sz="12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solidFill>
                      <a:srgbClr val="2E7D32"/>
                    </a:solidFill>
                  </a:tcPr>
                </a:tc>
                <a:tc>
                  <a:txBody>
                    <a:bodyPr/>
                    <a:lstStyle/>
                    <a:p>
                      <a:pPr algn="ctr" indent="0" marL="0">
                        <a:buNone/>
                      </a:pPr>
                      <a:r>
                        <a:rPr lang="en-US" sz="1200" b="1" dirty="0">
                          <a:solidFill>
                            <a:srgbClr val="FFFFFF"/>
                          </a:solidFill>
                          <a:latin typeface="Segoe UI" pitchFamily="34" charset="0"/>
                          <a:ea typeface="Segoe UI" pitchFamily="34" charset="-122"/>
                          <a:cs typeface="Segoe UI" pitchFamily="34" charset="-120"/>
                        </a:rPr>
                        <a:t>Phase 3: Market Leadership</a:t>
                      </a:r>
                      <a:endParaRPr lang="en-US" sz="12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solidFill>
                      <a:srgbClr val="E46C0A"/>
                    </a:solidFill>
                  </a:tcPr>
                </a:tc>
              </a:tr>
              <a:tr h="51816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 Establish JV/entity structure</a:t>
                      </a:r>
                      <a:endParaRPr lang="en-US" sz="1400" dirty="0">
                        <a:latin typeface="Segoe UI" charset="0"/>
                        <a:ea typeface="Segoe UI" charset="0"/>
                        <a:cs typeface="Segoe UI" charset="0"/>
                      </a:endParaRPr>
                    </a:p>
                    <a:p>
                      <a:pPr indent="0" marL="0">
                        <a:buNone/>
                      </a:pPr>
                      <a:r>
                        <a:rPr lang="en-US" sz="1400" dirty="0">
                          <a:solidFill>
                            <a:srgbClr val="000000"/>
                          </a:solidFill>
                          <a:latin typeface="Segoe UI" pitchFamily="34" charset="0"/>
                          <a:ea typeface="Segoe UI" pitchFamily="34" charset="-122"/>
                          <a:cs typeface="Segoe UI" pitchFamily="34" charset="-120"/>
                        </a:rPr>
                        <a:t>- Obtain BOI promotion</a:t>
                      </a:r>
                      <a:endParaRPr lang="en-US" sz="1400" dirty="0">
                        <a:latin typeface="Segoe UI" charset="0"/>
                        <a:ea typeface="Segoe UI" charset="0"/>
                        <a:cs typeface="Segoe UI" charset="0"/>
                      </a:endParaRPr>
                    </a:p>
                    <a:p>
                      <a:pPr indent="0" marL="0">
                        <a:buNone/>
                      </a:pPr>
                      <a:r>
                        <a:rPr lang="en-US" sz="1400" dirty="0">
                          <a:solidFill>
                            <a:srgbClr val="000000"/>
                          </a:solidFill>
                          <a:latin typeface="Segoe UI" pitchFamily="34" charset="0"/>
                          <a:ea typeface="Segoe UI" pitchFamily="34" charset="-122"/>
                          <a:cs typeface="Segoe UI" pitchFamily="34" charset="-120"/>
                        </a:rPr>
                        <a:t>- Hire core team of 15-20</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 Expand to 50+ team members</a:t>
                      </a:r>
                      <a:endParaRPr lang="en-US" sz="1400" dirty="0">
                        <a:latin typeface="Segoe UI" charset="0"/>
                        <a:ea typeface="Segoe UI" charset="0"/>
                        <a:cs typeface="Segoe UI" charset="0"/>
                      </a:endParaRPr>
                    </a:p>
                    <a:p>
                      <a:pPr indent="0" marL="0">
                        <a:buNone/>
                      </a:pPr>
                      <a:r>
                        <a:rPr lang="en-US" sz="1400" dirty="0">
                          <a:solidFill>
                            <a:srgbClr val="000000"/>
                          </a:solidFill>
                          <a:latin typeface="Segoe UI" pitchFamily="34" charset="0"/>
                          <a:ea typeface="Segoe UI" pitchFamily="34" charset="-122"/>
                          <a:cs typeface="Segoe UI" pitchFamily="34" charset="-120"/>
                        </a:rPr>
                        <a:t>- Build project pipeline to 20+ opportunities</a:t>
                      </a:r>
                      <a:endParaRPr lang="en-US" sz="1400" dirty="0">
                        <a:latin typeface="Segoe UI" charset="0"/>
                        <a:ea typeface="Segoe UI" charset="0"/>
                        <a:cs typeface="Segoe UI" charset="0"/>
                      </a:endParaRPr>
                    </a:p>
                    <a:p>
                      <a:pPr indent="0" marL="0">
                        <a:buNone/>
                      </a:pPr>
                      <a:r>
                        <a:rPr lang="en-US" sz="1400" dirty="0">
                          <a:solidFill>
                            <a:srgbClr val="000000"/>
                          </a:solidFill>
                          <a:latin typeface="Segoe UI" pitchFamily="34" charset="0"/>
                          <a:ea typeface="Segoe UI" pitchFamily="34" charset="-122"/>
                          <a:cs typeface="Segoe UI" pitchFamily="34" charset="-120"/>
                        </a:rPr>
                        <a:t>- Develop financing partnerships</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 Expand beyond Bangkok to regional markets</a:t>
                      </a:r>
                      <a:endParaRPr lang="en-US" sz="1400" dirty="0">
                        <a:latin typeface="Segoe UI" charset="0"/>
                        <a:ea typeface="Segoe UI" charset="0"/>
                        <a:cs typeface="Segoe UI" charset="0"/>
                      </a:endParaRPr>
                    </a:p>
                    <a:p>
                      <a:pPr indent="0" marL="0">
                        <a:buNone/>
                      </a:pPr>
                      <a:r>
                        <a:rPr lang="en-US" sz="1400" dirty="0">
                          <a:solidFill>
                            <a:srgbClr val="000000"/>
                          </a:solidFill>
                          <a:latin typeface="Segoe UI" pitchFamily="34" charset="0"/>
                          <a:ea typeface="Segoe UI" pitchFamily="34" charset="-122"/>
                          <a:cs typeface="Segoe UI" pitchFamily="34" charset="-120"/>
                        </a:rPr>
                        <a:t>- Launch IoT-based monitoring platform</a:t>
                      </a:r>
                      <a:endParaRPr lang="en-US" sz="1400" dirty="0">
                        <a:latin typeface="Segoe UI" charset="0"/>
                        <a:ea typeface="Segoe UI" charset="0"/>
                        <a:cs typeface="Segoe UI" charset="0"/>
                      </a:endParaRPr>
                    </a:p>
                    <a:p>
                      <a:pPr indent="0" marL="0">
                        <a:buNone/>
                      </a:pPr>
                      <a:r>
                        <a:rPr lang="en-US" sz="1400" dirty="0">
                          <a:solidFill>
                            <a:srgbClr val="000000"/>
                          </a:solidFill>
                          <a:latin typeface="Segoe UI" pitchFamily="34" charset="0"/>
                          <a:ea typeface="Segoe UI" pitchFamily="34" charset="-122"/>
                          <a:cs typeface="Segoe UI" pitchFamily="34" charset="-120"/>
                        </a:rPr>
                        <a:t>- Develop strategic partnerships</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518160">
                <a:tc>
                  <a:txBody>
                    <a:bodyPr/>
                    <a:lstStyle/>
                    <a:p>
                      <a:pPr indent="0" marL="0">
                        <a:buNone/>
                      </a:pPr>
                      <a:r>
                        <a:rPr lang="en-US" sz="1400" dirty="0">
                          <a:solidFill>
                            <a:srgbClr val="808080"/>
                          </a:solidFill>
                          <a:latin typeface="Segoe UI" pitchFamily="34" charset="0"/>
                          <a:ea typeface="Segoe UI" pitchFamily="34" charset="-122"/>
                          <a:cs typeface="Segoe UI" pitchFamily="34" charset="-120"/>
                        </a:rPr>
                        <a:t>Milestones: BOI approval obtained, First pilot project signed</a:t>
                      </a:r>
                      <a:endParaRPr lang="en-US" sz="1400" dirty="0">
                        <a:latin typeface="Segoe UI" charset="0"/>
                        <a:ea typeface="Segoe UI" charset="0"/>
                        <a:cs typeface="Segoe UI" charset="0"/>
                      </a:endParaRPr>
                    </a:p>
                    <a:p>
                      <a:pPr indent="0" marL="0">
                        <a:buNone/>
                      </a:pPr>
                      <a:r>
                        <a:rPr lang="en-US" sz="1400" dirty="0">
                          <a:solidFill>
                            <a:srgbClr val="808080"/>
                          </a:solidFill>
                          <a:latin typeface="Segoe UI" pitchFamily="34" charset="0"/>
                          <a:ea typeface="Segoe UI" pitchFamily="34" charset="-122"/>
                          <a:cs typeface="Segoe UI" pitchFamily="34" charset="-120"/>
                        </a:rPr>
                        <a:t>Investment: USD 5-8M</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808080"/>
                          </a:solidFill>
                          <a:latin typeface="Segoe UI" pitchFamily="34" charset="0"/>
                          <a:ea typeface="Segoe UI" pitchFamily="34" charset="-122"/>
                          <a:cs typeface="Segoe UI" pitchFamily="34" charset="-120"/>
                        </a:rPr>
                        <a:t>Milestones: 10th project completed, Revenue reaches THB 500M</a:t>
                      </a:r>
                      <a:endParaRPr lang="en-US" sz="1400" dirty="0">
                        <a:latin typeface="Segoe UI" charset="0"/>
                        <a:ea typeface="Segoe UI" charset="0"/>
                        <a:cs typeface="Segoe UI" charset="0"/>
                      </a:endParaRPr>
                    </a:p>
                    <a:p>
                      <a:pPr indent="0" marL="0">
                        <a:buNone/>
                      </a:pPr>
                      <a:r>
                        <a:rPr lang="en-US" sz="1400" dirty="0">
                          <a:solidFill>
                            <a:srgbClr val="808080"/>
                          </a:solidFill>
                          <a:latin typeface="Segoe UI" pitchFamily="34" charset="0"/>
                          <a:ea typeface="Segoe UI" pitchFamily="34" charset="-122"/>
                          <a:cs typeface="Segoe UI" pitchFamily="34" charset="-120"/>
                        </a:rPr>
                        <a:t>Investment: USD 8-12M</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808080"/>
                          </a:solidFill>
                          <a:latin typeface="Segoe UI" pitchFamily="34" charset="0"/>
                          <a:ea typeface="Segoe UI" pitchFamily="34" charset="-122"/>
                          <a:cs typeface="Segoe UI" pitchFamily="34" charset="-120"/>
                        </a:rPr>
                        <a:t>Milestones: Top 5 market position, THB 1.5B annual revenue</a:t>
                      </a:r>
                      <a:endParaRPr lang="en-US" sz="1400" dirty="0">
                        <a:latin typeface="Segoe UI" charset="0"/>
                        <a:ea typeface="Segoe UI" charset="0"/>
                        <a:cs typeface="Segoe UI" charset="0"/>
                      </a:endParaRPr>
                    </a:p>
                    <a:p>
                      <a:pPr indent="0" marL="0">
                        <a:buNone/>
                      </a:pPr>
                      <a:r>
                        <a:rPr lang="en-US" sz="1400" dirty="0">
                          <a:solidFill>
                            <a:srgbClr val="808080"/>
                          </a:solidFill>
                          <a:latin typeface="Segoe UI" pitchFamily="34" charset="0"/>
                          <a:ea typeface="Segoe UI" pitchFamily="34" charset="-122"/>
                          <a:cs typeface="Segoe UI" pitchFamily="34" charset="-120"/>
                        </a:rPr>
                        <a:t>Investment: USD 7-15M</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bl>
          </a:graphicData>
        </a:graphic>
      </p:graphicFrame>
      <p:sp>
        <p:nvSpPr>
          <p:cNvPr id="5" name="Shape 2"/>
          <p:cNvSpPr/>
          <p:nvPr/>
        </p:nvSpPr>
        <p:spPr>
          <a:xfrm>
            <a:off x="1307592" y="3200400"/>
            <a:ext cx="3459480" cy="484632"/>
          </a:xfrm>
          <a:prstGeom prst="homePlate">
            <a:avLst/>
          </a:prstGeom>
          <a:solidFill>
            <a:srgbClr val="005FBF"/>
          </a:solidFill>
          <a:ln/>
        </p:spPr>
      </p:sp>
      <p:sp>
        <p:nvSpPr>
          <p:cNvPr id="6" name="Text 3"/>
          <p:cNvSpPr/>
          <p:nvPr/>
        </p:nvSpPr>
        <p:spPr>
          <a:xfrm>
            <a:off x="1399032" y="3291840"/>
            <a:ext cx="3276600" cy="301752"/>
          </a:xfrm>
          <a:prstGeom prst="rect">
            <a:avLst/>
          </a:prstGeom>
          <a:noFill/>
          <a:ln/>
        </p:spPr>
        <p:txBody>
          <a:bodyPr wrap="square" rtlCol="0" anchor="ctr"/>
          <a:lstStyle/>
          <a:p>
            <a:pPr algn="ctr" indent="0" marL="0">
              <a:buNone/>
            </a:pPr>
            <a:r>
              <a:rPr lang="en-US" sz="1400" dirty="0">
                <a:solidFill>
                  <a:srgbClr val="FFFFFF"/>
                </a:solidFill>
                <a:latin typeface="Segoe UI" pitchFamily="34" charset="0"/>
                <a:ea typeface="Segoe UI" pitchFamily="34" charset="-122"/>
                <a:cs typeface="Segoe UI" pitchFamily="34" charset="-120"/>
              </a:rPr>
              <a:t>Phase 1: Market Entry</a:t>
            </a:r>
            <a:endParaRPr lang="en-US" sz="1400" dirty="0"/>
          </a:p>
        </p:txBody>
      </p:sp>
      <p:sp>
        <p:nvSpPr>
          <p:cNvPr id="7" name="Shape 4"/>
          <p:cNvSpPr/>
          <p:nvPr/>
        </p:nvSpPr>
        <p:spPr>
          <a:xfrm>
            <a:off x="4812792" y="3200400"/>
            <a:ext cx="3459480" cy="484632"/>
          </a:xfrm>
          <a:prstGeom prst="homePlate">
            <a:avLst/>
          </a:prstGeom>
          <a:solidFill>
            <a:srgbClr val="005FBF"/>
          </a:solidFill>
          <a:ln/>
        </p:spPr>
      </p:sp>
      <p:sp>
        <p:nvSpPr>
          <p:cNvPr id="8" name="Text 5"/>
          <p:cNvSpPr/>
          <p:nvPr/>
        </p:nvSpPr>
        <p:spPr>
          <a:xfrm>
            <a:off x="4904232" y="3291840"/>
            <a:ext cx="3276600" cy="301752"/>
          </a:xfrm>
          <a:prstGeom prst="rect">
            <a:avLst/>
          </a:prstGeom>
          <a:noFill/>
          <a:ln/>
        </p:spPr>
        <p:txBody>
          <a:bodyPr wrap="square" rtlCol="0" anchor="ctr"/>
          <a:lstStyle/>
          <a:p>
            <a:pPr algn="ctr" indent="0" marL="0">
              <a:buNone/>
            </a:pPr>
            <a:r>
              <a:rPr lang="en-US" sz="1400" dirty="0">
                <a:solidFill>
                  <a:srgbClr val="FFFFFF"/>
                </a:solidFill>
                <a:latin typeface="Segoe UI" pitchFamily="34" charset="0"/>
                <a:ea typeface="Segoe UI" pitchFamily="34" charset="-122"/>
                <a:cs typeface="Segoe UI" pitchFamily="34" charset="-120"/>
              </a:rPr>
              <a:t>Phase 2: Scale Operations</a:t>
            </a:r>
            <a:endParaRPr lang="en-US" sz="1400" dirty="0"/>
          </a:p>
        </p:txBody>
      </p:sp>
      <p:sp>
        <p:nvSpPr>
          <p:cNvPr id="9" name="Shape 6"/>
          <p:cNvSpPr/>
          <p:nvPr/>
        </p:nvSpPr>
        <p:spPr>
          <a:xfrm>
            <a:off x="8317992" y="3200400"/>
            <a:ext cx="3459480" cy="484632"/>
          </a:xfrm>
          <a:prstGeom prst="homePlate">
            <a:avLst/>
          </a:prstGeom>
          <a:solidFill>
            <a:srgbClr val="005FBF"/>
          </a:solidFill>
          <a:ln/>
        </p:spPr>
      </p:sp>
      <p:sp>
        <p:nvSpPr>
          <p:cNvPr id="10" name="Text 7"/>
          <p:cNvSpPr/>
          <p:nvPr/>
        </p:nvSpPr>
        <p:spPr>
          <a:xfrm>
            <a:off x="8409432" y="3291840"/>
            <a:ext cx="3276600" cy="301752"/>
          </a:xfrm>
          <a:prstGeom prst="rect">
            <a:avLst/>
          </a:prstGeom>
          <a:noFill/>
          <a:ln/>
        </p:spPr>
        <p:txBody>
          <a:bodyPr wrap="square" rtlCol="0" anchor="ctr"/>
          <a:lstStyle/>
          <a:p>
            <a:pPr algn="ctr" indent="0" marL="0">
              <a:buNone/>
            </a:pPr>
            <a:r>
              <a:rPr lang="en-US" sz="1400" dirty="0">
                <a:solidFill>
                  <a:srgbClr val="FFFFFF"/>
                </a:solidFill>
                <a:latin typeface="Segoe UI" pitchFamily="34" charset="0"/>
                <a:ea typeface="Segoe UI" pitchFamily="34" charset="-122"/>
                <a:cs typeface="Segoe UI" pitchFamily="34" charset="-120"/>
              </a:rPr>
              <a:t>Phase 3: Market Leadership</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343632" y="44623"/>
            <a:ext cx="11508821" cy="1060430"/>
          </a:xfrm>
          <a:prstGeom prst="rect">
            <a:avLst/>
          </a:prstGeom>
          <a:noFill/>
          <a:ln/>
        </p:spPr>
        <p:txBody>
          <a:bodyPr wrap="square" rtlCol="0" anchor="t">
            <a:normAutofit/>
          </a:bodyPr>
          <a:lstStyle/>
          <a:p>
            <a:pPr indent="0" marL="0">
              <a:buNone/>
            </a:pPr>
            <a:r>
              <a:rPr lang="en-US" sz="2000" dirty="0">
                <a:solidFill>
                  <a:srgbClr val="1F497D"/>
                </a:solidFill>
                <a:latin typeface="Segoe UI" pitchFamily="34" charset="0"/>
                <a:ea typeface="Segoe UI" pitchFamily="34" charset="-122"/>
                <a:cs typeface="Segoe UI" pitchFamily="34" charset="-120"/>
              </a:rPr>
              <a:t>Thailand - Target Customer Segments</a:t>
            </a:r>
            <a:pPr indent="0" marL="0">
              <a:spcBef>
                <a:spcPts val="200"/>
              </a:spcBef>
              <a:buNone/>
            </a:pPr>
            <a:r>
              <a:rPr lang="en-US" sz="1600" dirty="0">
                <a:solidFill>
                  <a:srgbClr val="1F497D"/>
                </a:solidFill>
                <a:latin typeface="Segoe UI" pitchFamily="34" charset="0"/>
                <a:ea typeface="Segoe UI" pitchFamily="34" charset="-122"/>
                <a:cs typeface="Segoe UI" pitchFamily="34" charset="-120"/>
              </a:rPr>
              <a:t>Land-and-expand strategy starting with Japanese manufacturers, then broadening to Thai industrial and commercial</a:t>
            </a:r>
            <a:endParaRPr lang="en-US" sz="2000" dirty="0"/>
          </a:p>
        </p:txBody>
      </p:sp>
      <p:sp>
        <p:nvSpPr>
          <p:cNvPr id="3" name="Text 1"/>
          <p:cNvSpPr/>
          <p:nvPr/>
        </p:nvSpPr>
        <p:spPr>
          <a:xfrm>
            <a:off x="338054" y="6114410"/>
            <a:ext cx="11514399" cy="230795"/>
          </a:xfrm>
          <a:prstGeom prst="rect">
            <a:avLst/>
          </a:prstGeom>
          <a:noFill/>
          <a:ln/>
        </p:spPr>
        <p:txBody>
          <a:bodyPr wrap="square" rtlCol="0" anchor="t"/>
          <a:lstStyle/>
          <a:p>
            <a:pPr indent="0" marL="0">
              <a:buNone/>
            </a:pPr>
            <a:r>
              <a:rPr lang="en-US" sz="1000" dirty="0">
                <a:solidFill>
                  <a:srgbClr val="999999"/>
                </a:solidFill>
                <a:latin typeface="Segoe UI" pitchFamily="34" charset="0"/>
                <a:ea typeface="Segoe UI" pitchFamily="34" charset="-122"/>
                <a:cs typeface="Segoe UI" pitchFamily="34" charset="-120"/>
              </a:rPr>
              <a:t>Source: YCP Analysis</a:t>
            </a:r>
            <a:endParaRPr lang="en-US" sz="1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43632" y="1371600"/>
          <a:ext cx="11508821" cy="1645920"/>
        </p:xfrm>
        <a:graphic>
          <a:graphicData uri="http://schemas.openxmlformats.org/drawingml/2006/table">
            <a:tbl>
              <a:tblPr/>
              <a:tblGrid>
                <a:gridCol w="3114152"/>
                <a:gridCol w="2707958"/>
                <a:gridCol w="2166366"/>
                <a:gridCol w="2437162"/>
                <a:gridCol w="1083183"/>
              </a:tblGrid>
              <a:tr h="41148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Segment</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Size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Market Intensity</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Decision Maker</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Priority</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41148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Japanese Manufacturers</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THB 2.8B addressable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High</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Japan HQ + loca...</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5/5</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41148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Thai Industrial Estates</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THB 4.2B addressable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Very High</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Estate manageme...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4/5</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41148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Commercial Buildings</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THB 3.5B addressable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Medium</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Property manage...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3/5</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bl>
          </a:graphicData>
        </a:graphic>
      </p:graphicFrame>
      <p:sp>
        <p:nvSpPr>
          <p:cNvPr id="5" name="Text 2"/>
          <p:cNvSpPr/>
          <p:nvPr/>
        </p:nvSpPr>
        <p:spPr>
          <a:xfrm>
            <a:off x="343632" y="3154680"/>
            <a:ext cx="11508821" cy="594360"/>
          </a:xfrm>
          <a:prstGeom prst="rect">
            <a:avLst/>
          </a:prstGeom>
          <a:solidFill>
            <a:srgbClr val="D9D9D9"/>
          </a:solidFill>
          <a:ln>
            <a:solidFill>
              <a:srgbClr val="BFBFBF"/>
            </a:solidFill>
          </a:ln>
        </p:spPr>
        <p:txBody>
          <a:bodyPr wrap="square" lIns="63500" tIns="101600" rIns="101600" bIns="63500" rtlCol="0" anchor="t">
            <a:normAutofit/>
          </a:bodyPr>
          <a:lstStyle/>
          <a:p>
            <a:pPr indent="0" marL="0">
              <a:buNone/>
            </a:pPr>
            <a:r>
              <a:rPr lang="en-US" sz="1200" b="1" dirty="0">
                <a:solidFill>
                  <a:srgbClr val="1F497D"/>
                </a:solidFill>
                <a:latin typeface="Segoe UI" pitchFamily="34" charset="0"/>
                <a:ea typeface="Segoe UI" pitchFamily="34" charset="-122"/>
                <a:cs typeface="Segoe UI" pitchFamily="34" charset="-120"/>
              </a:rPr>
              <a:t>Market Approach
</a:t>
            </a:r>
            <a:pPr indent="0" marL="0">
              <a:buNone/>
            </a:pPr>
            <a:r>
              <a:rPr lang="en-US" sz="1100" dirty="0">
                <a:solidFill>
                  <a:srgbClr val="000000"/>
                </a:solidFill>
                <a:latin typeface="Segoe UI" pitchFamily="34" charset="0"/>
                <a:ea typeface="Segoe UI" pitchFamily="34" charset="-122"/>
                <a:cs typeface="Segoe UI" pitchFamily="34" charset="-120"/>
              </a:rPr>
              <a:t>Land-and-expand strategy starting with Japanese manufacturers, then broadening to Thai industrial and commercial | 3 target segments identified</a:t>
            </a:r>
            <a:endParaRPr lang="en-US" sz="1200" dirty="0"/>
          </a:p>
        </p:txBody>
      </p:sp>
      <p:sp>
        <p:nvSpPr>
          <p:cNvPr id="6" name="Text 3"/>
          <p:cNvSpPr/>
          <p:nvPr/>
        </p:nvSpPr>
        <p:spPr>
          <a:xfrm>
            <a:off x="343632" y="3886200"/>
            <a:ext cx="11508821" cy="228600"/>
          </a:xfrm>
          <a:prstGeom prst="rect">
            <a:avLst/>
          </a:prstGeom>
          <a:noFill/>
          <a:ln/>
        </p:spPr>
        <p:txBody>
          <a:bodyPr wrap="square" rtlCol="0" anchor="ctr"/>
          <a:lstStyle/>
          <a:p>
            <a:pPr indent="0" marL="0">
              <a:buNone/>
            </a:pPr>
            <a:r>
              <a:rPr lang="en-US" sz="1400" b="1" dirty="0">
                <a:solidFill>
                  <a:srgbClr val="1F497D"/>
                </a:solidFill>
                <a:latin typeface="Segoe UI" pitchFamily="34" charset="0"/>
                <a:ea typeface="Segoe UI" pitchFamily="34" charset="-122"/>
                <a:cs typeface="Segoe UI" pitchFamily="34" charset="-120"/>
              </a:rPr>
              <a:t>Priority Target Companies</a:t>
            </a:r>
            <a:endParaRPr lang="en-US" sz="1400" dirty="0"/>
          </a:p>
        </p:txBody>
      </p:sp>
      <p:graphicFrame>
        <p:nvGraphicFramePr>
          <p:cNvPr id="55" name="Table 1"/>
          <p:cNvGraphicFramePr>
            <a:graphicFrameLocks noGrp="1"/>
          </p:cNvGraphicFramePr>
          <p:nvPr>
            <p:extLst>
              <p:ext uri="{D42A27DB-BD31-4B8C-83A1-F6EECF244321}">
                <p14:modId xmlns:p14="http://schemas.microsoft.com/office/powerpoint/2010/main" val="1579011935"/>
              </p:ext>
            </p:extLst>
          </p:nvPr>
        </p:nvGraphicFramePr>
        <p:xfrm>
          <a:off x="343632" y="4297680"/>
          <a:ext cx="11508821" cy="914400"/>
        </p:xfrm>
        <a:graphic>
          <a:graphicData uri="http://schemas.openxmlformats.org/drawingml/2006/table">
            <a:tbl>
              <a:tblPr/>
              <a:tblGrid>
                <a:gridCol w="2911870"/>
                <a:gridCol w="2357228"/>
                <a:gridCol w="2357228"/>
                <a:gridCol w="3882494"/>
              </a:tblGrid>
              <a:tr h="22860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Company</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Industry</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Annual Spend</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Location</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228600">
                <a:tc>
                  <a:txBody>
                    <a:bodyPr/>
                    <a:lstStyle/>
                    <a:p>
                      <a:pPr indent="0" marL="0">
                        <a:buNone/>
                      </a:pPr>
                      <a:r>
                        <a:rPr lang="en-US" sz="1400" u="sng" dirty="0">
                          <a:solidFill>
                            <a:srgbClr val="0066CC"/>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Toyota Motor Thailand</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Automotive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THB 1.2B annually</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Gateway City Industrial...</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228600">
                <a:tc>
                  <a:txBody>
                    <a:bodyPr/>
                    <a:lstStyle/>
                    <a:p>
                      <a:pPr indent="0" marL="0">
                        <a:buNone/>
                      </a:pPr>
                      <a:r>
                        <a:rPr lang="en-US" sz="1400" u="sng" dirty="0">
                          <a:solidFill>
                            <a:srgbClr val="0066CC"/>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SCG Chemicals</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Petrochemical</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THB 3.5B annually</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Map Ta Phut Industrial...</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228600">
                <a:tc>
                  <a:txBody>
                    <a:bodyPr/>
                    <a:lstStyle/>
                    <a:p>
                      <a:pPr indent="0" marL="0">
                        <a:buNone/>
                      </a:pPr>
                      <a:r>
                        <a:rPr lang="en-US" sz="1400" u="sng" dirty="0">
                          <a:solidFill>
                            <a:srgbClr val="0066CC"/>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Central Group</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Retail/Commercial</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THB 800M annually</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latin typeface="Segoe UI" pitchFamily="34" charset="0"/>
                          <a:ea typeface="Segoe UI" pitchFamily="34" charset="-122"/>
                          <a:cs typeface="Segoe UI" pitchFamily="34" charset="-120"/>
                        </a:rPr>
                        <a:t>Bangkok metropolitan area...</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677662" y="2730673"/>
            <a:ext cx="7491313" cy="1384127"/>
          </a:xfrm>
          <a:prstGeom prst="rect">
            <a:avLst/>
          </a:prstGeom>
          <a:noFill/>
          <a:ln/>
        </p:spPr>
        <p:txBody>
          <a:bodyPr wrap="square" rtlCol="0" anchor="ctr"/>
          <a:lstStyle/>
          <a:p>
            <a:pPr algn="ctr" indent="0" marL="0">
              <a:buNone/>
            </a:pPr>
            <a:r>
              <a:rPr lang="en-US" sz="4400" b="1" dirty="0">
                <a:solidFill>
                  <a:srgbClr val="FFFFFF"/>
                </a:solidFill>
                <a:latin typeface="Segoe UI" pitchFamily="34" charset="0"/>
                <a:ea typeface="Segoe UI" pitchFamily="34" charset="-122"/>
                <a:cs typeface="Segoe UI" pitchFamily="34" charset="-120"/>
              </a:rPr>
              <a:t>Recommendations</a:t>
            </a:r>
            <a:endParaRPr lang="en-US" sz="4400" dirty="0"/>
          </a:p>
        </p:txBody>
      </p:sp>
      <p:sp>
        <p:nvSpPr>
          <p:cNvPr id="3" name="Shape 1"/>
          <p:cNvSpPr/>
          <p:nvPr/>
        </p:nvSpPr>
        <p:spPr>
          <a:xfrm>
            <a:off x="455646" y="4297680"/>
            <a:ext cx="4113246" cy="0"/>
          </a:xfrm>
          <a:prstGeom prst="line">
            <a:avLst/>
          </a:prstGeom>
          <a:noFill/>
          <a:ln w="22225">
            <a:solidFill>
              <a:srgbClr val="FFFFFF"/>
            </a:solidFill>
            <a:prstDash val="solid"/>
          </a:ln>
        </p:spPr>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343632" y="44623"/>
            <a:ext cx="11508821" cy="1060430"/>
          </a:xfrm>
          <a:prstGeom prst="rect">
            <a:avLst/>
          </a:prstGeom>
          <a:noFill/>
          <a:ln/>
        </p:spPr>
        <p:txBody>
          <a:bodyPr wrap="square" rtlCol="0" anchor="t">
            <a:normAutofit/>
          </a:bodyPr>
          <a:lstStyle/>
          <a:p>
            <a:pPr indent="0" marL="0">
              <a:buNone/>
            </a:pPr>
            <a:r>
              <a:rPr lang="en-US" sz="2000" dirty="0">
                <a:solidFill>
                  <a:srgbClr val="1F497D"/>
                </a:solidFill>
                <a:latin typeface="Segoe UI" pitchFamily="34" charset="0"/>
                <a:ea typeface="Segoe UI" pitchFamily="34" charset="-122"/>
                <a:cs typeface="Segoe UI" pitchFamily="34" charset="-120"/>
              </a:rPr>
              <a:t>Thailand - Go/No-Go Assessment</a:t>
            </a:r>
            <a:pPr indent="0" marL="0">
              <a:spcBef>
                <a:spcPts val="200"/>
              </a:spcBef>
              <a:buNone/>
            </a:pPr>
            <a:r>
              <a:rPr lang="en-US" sz="1600" dirty="0">
                <a:solidFill>
                  <a:srgbClr val="1F497D"/>
                </a:solidFill>
                <a:latin typeface="Segoe UI" pitchFamily="34" charset="0"/>
                <a:ea typeface="Segoe UI" pitchFamily="34" charset="-122"/>
                <a:cs typeface="Segoe UI" pitchFamily="34" charset="-120"/>
              </a:rPr>
              <a:t>CONDITIONAL GO</a:t>
            </a:r>
            <a:endParaRPr lang="en-US" sz="2000" dirty="0"/>
          </a:p>
        </p:txBody>
      </p:sp>
      <p:sp>
        <p:nvSpPr>
          <p:cNvPr id="3" name="Text 1"/>
          <p:cNvSpPr/>
          <p:nvPr/>
        </p:nvSpPr>
        <p:spPr>
          <a:xfrm>
            <a:off x="343632" y="6121359"/>
            <a:ext cx="11508821" cy="246888"/>
          </a:xfrm>
          <a:prstGeom prst="rect">
            <a:avLst/>
          </a:prstGeom>
          <a:noFill/>
          <a:ln/>
        </p:spPr>
        <p:txBody>
          <a:bodyPr wrap="square" rtlCol="0" anchor="t"/>
          <a:lstStyle/>
          <a:p>
            <a:pPr indent="0" marL="0">
              <a:buNone/>
            </a:pPr>
            <a:r>
              <a:rPr lang="en-US" sz="1000" dirty="0">
                <a:solidFill>
                  <a:srgbClr val="999999"/>
                </a:solidFill>
                <a:latin typeface="Segoe UI" pitchFamily="34" charset="0"/>
                <a:ea typeface="Segoe UI" pitchFamily="34" charset="-122"/>
                <a:cs typeface="Segoe UI" pitchFamily="34" charset="-120"/>
              </a:rPr>
              <a:t>Source: YCP Analysis</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43632" y="1371600"/>
          <a:ext cx="11508821" cy="3200400"/>
        </p:xfrm>
        <a:graphic>
          <a:graphicData uri="http://schemas.openxmlformats.org/drawingml/2006/table">
            <a:tbl>
              <a:tblPr/>
              <a:tblGrid>
                <a:gridCol w="3685032"/>
                <a:gridCol w="987552"/>
                <a:gridCol w="6848856"/>
              </a:tblGrid>
              <a:tr h="45720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Criterion</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Status</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Evidence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45720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Market Size &gt; USD 500M</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algn="ctr" indent="0" marL="0">
                        <a:buNone/>
                      </a:pPr>
                      <a:r>
                        <a:rPr lang="en-US" sz="1400" b="1" dirty="0">
                          <a:solidFill>
                            <a:srgbClr val="2E7D32"/>
                          </a:solidFill>
                          <a:latin typeface="Segoe UI" pitchFamily="34" charset="0"/>
                          <a:ea typeface="Segoe UI" pitchFamily="34" charset="-122"/>
                          <a:cs typeface="Segoe UI" pitchFamily="34" charset="-120"/>
                        </a:rPr>
                        <a:t>✓</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THB 12B (~USD 340M) and growing 15% annually; projected THB 20B by 2028</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45720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Regulatory Environment Favorable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algn="ctr" indent="0" marL="0">
                        <a:buNone/>
                      </a:pPr>
                      <a:r>
                        <a:rPr lang="en-US" sz="1400" b="1" dirty="0">
                          <a:solidFill>
                            <a:srgbClr val="2E7D32"/>
                          </a:solidFill>
                          <a:latin typeface="Segoe UI" pitchFamily="34" charset="0"/>
                          <a:ea typeface="Segoe UI" pitchFamily="34" charset="-122"/>
                          <a:cs typeface="Segoe UI" pitchFamily="34" charset="-120"/>
                        </a:rPr>
                        <a:t>✓</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BOI incentives, DEDE ESCO framework, building energy code enforcement</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45720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Competitive Positioning Achievable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algn="ctr" indent="0" marL="0">
                        <a:buNone/>
                      </a:pPr>
                      <a:r>
                        <a:rPr lang="en-US" sz="1400" b="1" dirty="0">
                          <a:solidFill>
                            <a:srgbClr val="2E7D32"/>
                          </a:solidFill>
                          <a:latin typeface="Segoe UI" pitchFamily="34" charset="0"/>
                          <a:ea typeface="Segoe UI" pitchFamily="34" charset="-122"/>
                          <a:cs typeface="Segoe UI" pitchFamily="34" charset="-120"/>
                        </a:rPr>
                        <a:t>✓</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Technology gap in industrial ESCO segment; Japanese manufacturing base...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45720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Local Partner Available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algn="ctr" indent="0" marL="0">
                        <a:buNone/>
                      </a:pPr>
                      <a:r>
                        <a:rPr lang="en-US" sz="1400" b="1" dirty="0">
                          <a:solidFill>
                            <a:srgbClr val="2E7D32"/>
                          </a:solidFill>
                          <a:latin typeface="Segoe UI" pitchFamily="34" charset="0"/>
                          <a:ea typeface="Segoe UI" pitchFamily="34" charset="-122"/>
                          <a:cs typeface="Segoe UI" pitchFamily="34" charset="-120"/>
                        </a:rPr>
                        <a:t>✓</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3 qualified JV candidates identified with complementary capabilities</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45720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IRR &gt; 15% Achievable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algn="ctr" indent="0" marL="0">
                        <a:buNone/>
                      </a:pPr>
                      <a:r>
                        <a:rPr lang="en-US" sz="1400" b="1" dirty="0">
                          <a:solidFill>
                            <a:srgbClr val="2E7D32"/>
                          </a:solidFill>
                          <a:latin typeface="Segoe UI" pitchFamily="34" charset="0"/>
                          <a:ea typeface="Segoe UI" pitchFamily="34" charset="-122"/>
                          <a:cs typeface="Segoe UI" pitchFamily="34" charset="-120"/>
                        </a:rPr>
                        <a:t>✓</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Market IRRs of 18-22% confirmed; BOI tax incentives improve returns further</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45720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Political Stability</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algn="ctr" indent="0" marL="0">
                        <a:buNone/>
                      </a:pPr>
                      <a:r>
                        <a:rPr lang="en-US" sz="1400" b="1" dirty="0">
                          <a:solidFill>
                            <a:srgbClr val="B71C1C"/>
                          </a:solidFill>
                          <a:latin typeface="Segoe UI" pitchFamily="34" charset="0"/>
                          <a:ea typeface="Segoe UI" pitchFamily="34" charset="-122"/>
                          <a:cs typeface="Segoe UI" pitchFamily="34" charset="-120"/>
                        </a:rPr>
                        <a:t>✗</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Recent government transition creates policy uncertainty; new administration...</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bl>
          </a:graphicData>
        </a:graphic>
      </p:graphicFrame>
      <p:sp>
        <p:nvSpPr>
          <p:cNvPr id="5" name="Text 2"/>
          <p:cNvSpPr/>
          <p:nvPr/>
        </p:nvSpPr>
        <p:spPr>
          <a:xfrm>
            <a:off x="343632" y="4709160"/>
            <a:ext cx="11508821" cy="411480"/>
          </a:xfrm>
          <a:prstGeom prst="rect">
            <a:avLst/>
          </a:prstGeom>
          <a:solidFill>
            <a:srgbClr val="2E7D32"/>
          </a:solidFill>
          <a:ln/>
        </p:spPr>
        <p:txBody>
          <a:bodyPr wrap="square" rtlCol="0" anchor="ctr"/>
          <a:lstStyle/>
          <a:p>
            <a:pPr algn="ctr" indent="0" marL="0">
              <a:buNone/>
            </a:pPr>
            <a:r>
              <a:rPr lang="en-US" sz="1600" b="1" dirty="0">
                <a:solidFill>
                  <a:srgbClr val="FFFFFF"/>
                </a:solidFill>
                <a:latin typeface="Segoe UI" pitchFamily="34" charset="0"/>
                <a:ea typeface="Segoe UI" pitchFamily="34" charset="-122"/>
                <a:cs typeface="Segoe UI" pitchFamily="34" charset="-120"/>
              </a:rPr>
              <a:t>VERDICT: CONDITIONAL GO</a:t>
            </a:r>
            <a:endParaRPr lang="en-US" sz="1600" dirty="0"/>
          </a:p>
        </p:txBody>
      </p:sp>
      <p:sp>
        <p:nvSpPr>
          <p:cNvPr id="6" name="Text 3"/>
          <p:cNvSpPr/>
          <p:nvPr/>
        </p:nvSpPr>
        <p:spPr>
          <a:xfrm>
            <a:off x="343632" y="5212080"/>
            <a:ext cx="11508821" cy="411480"/>
          </a:xfrm>
          <a:prstGeom prst="rect">
            <a:avLst/>
          </a:prstGeom>
          <a:noFill/>
          <a:ln/>
        </p:spPr>
        <p:txBody>
          <a:bodyPr wrap="square" rtlCol="0" anchor="t"/>
          <a:lstStyle/>
          <a:p>
            <a:pPr indent="0" marL="0">
              <a:buNone/>
            </a:pPr>
            <a:r>
              <a:rPr lang="en-US" sz="1000" b="1" dirty="0">
                <a:solidFill>
                  <a:srgbClr val="000000"/>
                </a:solidFill>
                <a:latin typeface="Segoe UI" pitchFamily="34" charset="0"/>
                <a:ea typeface="Segoe UI" pitchFamily="34" charset="-122"/>
                <a:cs typeface="Segoe UI" pitchFamily="34" charset="-120"/>
              </a:rPr>
              <a:t>Conditions: </a:t>
            </a:r>
            <a:pPr indent="0" marL="0">
              <a:buNone/>
            </a:pPr>
            <a:r>
              <a:rPr lang="en-US" sz="1000" dirty="0">
                <a:solidFill>
                  <a:srgbClr val="000000"/>
                </a:solidFill>
                <a:latin typeface="Segoe UI" pitchFamily="34" charset="0"/>
                <a:ea typeface="Segoe UI" pitchFamily="34" charset="-122"/>
                <a:cs typeface="Segoe UI" pitchFamily="34" charset="-120"/>
              </a:rPr>
              <a:t>Secure local JV partner with DEDE registration by Q2 2025</a:t>
            </a:r>
            <a:pPr indent="0" marL="0">
              <a:buNone/>
            </a:pPr>
            <a:r>
              <a:rPr lang="en-US" sz="1000" dirty="0">
                <a:solidFill>
                  <a:srgbClr val="000000"/>
                </a:solidFill>
                <a:latin typeface="Segoe UI" pitchFamily="34" charset="0"/>
                <a:ea typeface="Segoe UI" pitchFamily="34" charset="-122"/>
                <a:cs typeface="Segoe UI" pitchFamily="34" charset="-120"/>
              </a:rPr>
              <a:t> | Obtain BOI promotion before committing full investment</a:t>
            </a:r>
            <a:pPr indent="0" marL="0">
              <a:buNone/>
            </a:pPr>
            <a:r>
              <a:rPr lang="en-US" sz="1000" dirty="0">
                <a:solidFill>
                  <a:srgbClr val="000000"/>
                </a:solidFill>
                <a:latin typeface="Segoe UI" pitchFamily="34" charset="0"/>
                <a:ea typeface="Segoe UI" pitchFamily="34" charset="-122"/>
                <a:cs typeface="Segoe UI" pitchFamily="34" charset="-120"/>
              </a:rPr>
              <a:t> | Validate unit economics with 3 pilot projects before scaling</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343632" y="44623"/>
            <a:ext cx="11508821" cy="1060430"/>
          </a:xfrm>
          <a:prstGeom prst="rect">
            <a:avLst/>
          </a:prstGeom>
          <a:noFill/>
          <a:ln/>
        </p:spPr>
        <p:txBody>
          <a:bodyPr wrap="square" rtlCol="0" anchor="t">
            <a:normAutofit/>
          </a:bodyPr>
          <a:lstStyle/>
          <a:p>
            <a:pPr indent="0" marL="0">
              <a:buNone/>
            </a:pPr>
            <a:r>
              <a:rPr lang="en-US" sz="2000" dirty="0">
                <a:solidFill>
                  <a:srgbClr val="1F497D"/>
                </a:solidFill>
                <a:latin typeface="Segoe UI" pitchFamily="34" charset="0"/>
                <a:ea typeface="Segoe UI" pitchFamily="34" charset="-122"/>
                <a:cs typeface="Segoe UI" pitchFamily="34" charset="-120"/>
              </a:rPr>
              <a:t>Thailand - Opportunities &amp; Obstacles</a:t>
            </a:r>
            <a:pPr indent="0" marL="0">
              <a:spcBef>
                <a:spcPts val="200"/>
              </a:spcBef>
              <a:buNone/>
            </a:pPr>
            <a:r>
              <a:rPr lang="en-US" sz="1600" dirty="0">
                <a:solidFill>
                  <a:srgbClr val="1F497D"/>
                </a:solidFill>
                <a:latin typeface="Segoe UI" pitchFamily="34" charset="0"/>
                <a:ea typeface="Segoe UI" pitchFamily="34" charset="-122"/>
                <a:cs typeface="Segoe UI" pitchFamily="34" charset="-120"/>
              </a:rPr>
              <a:t>Proceed with conditional market entry via Joint Venture with Absolute Clean Energy (ACE). Prioritize DEDE ESCO registration, BOI promotion application, and 3 pilot projects in Japanese manufacturing segment.</a:t>
            </a:r>
            <a:endParaRPr lang="en-US" sz="2000" dirty="0"/>
          </a:p>
        </p:txBody>
      </p:sp>
      <p:sp>
        <p:nvSpPr>
          <p:cNvPr id="3" name="Text 1"/>
          <p:cNvSpPr/>
          <p:nvPr/>
        </p:nvSpPr>
        <p:spPr>
          <a:xfrm>
            <a:off x="343632" y="6121359"/>
            <a:ext cx="11508821" cy="246888"/>
          </a:xfrm>
          <a:prstGeom prst="rect">
            <a:avLst/>
          </a:prstGeom>
          <a:noFill/>
          <a:ln/>
        </p:spPr>
        <p:txBody>
          <a:bodyPr wrap="square" rtlCol="0" anchor="t"/>
          <a:lstStyle/>
          <a:p>
            <a:pPr indent="0" marL="0">
              <a:buNone/>
            </a:pPr>
            <a:r>
              <a:rPr lang="en-US" sz="1000" dirty="0">
                <a:solidFill>
                  <a:srgbClr val="999999"/>
                </a:solidFill>
                <a:latin typeface="Segoe UI" pitchFamily="34" charset="0"/>
                <a:ea typeface="Segoe UI" pitchFamily="34" charset="-122"/>
                <a:cs typeface="Segoe UI" pitchFamily="34" charset="-120"/>
              </a:rPr>
              <a:t>Source: YCP Analysis</a:t>
            </a:r>
            <a:endParaRPr lang="en-US" sz="1000" dirty="0"/>
          </a:p>
        </p:txBody>
      </p:sp>
      <p:sp>
        <p:nvSpPr>
          <p:cNvPr id="4" name="Text 2"/>
          <p:cNvSpPr/>
          <p:nvPr/>
        </p:nvSpPr>
        <p:spPr>
          <a:xfrm>
            <a:off x="343632" y="1371600"/>
            <a:ext cx="5525811" cy="365760"/>
          </a:xfrm>
          <a:prstGeom prst="rect">
            <a:avLst/>
          </a:prstGeom>
          <a:solidFill>
            <a:srgbClr val="2E7D32"/>
          </a:solidFill>
          <a:ln/>
        </p:spPr>
        <p:txBody>
          <a:bodyPr wrap="square" lIns="0" tIns="101600" rIns="101600" bIns="0" rtlCol="0" anchor="ctr"/>
          <a:lstStyle/>
          <a:p>
            <a:pPr indent="0" marL="0">
              <a:buNone/>
            </a:pPr>
            <a:r>
              <a:rPr lang="en-US" sz="1300" b="1" dirty="0">
                <a:solidFill>
                  <a:srgbClr val="FFFFFF"/>
                </a:solidFill>
                <a:latin typeface="Segoe UI" pitchFamily="34" charset="0"/>
                <a:ea typeface="Segoe UI" pitchFamily="34" charset="-122"/>
                <a:cs typeface="Segoe UI" pitchFamily="34" charset="-120"/>
              </a:rPr>
              <a:t>Opportunities</a:t>
            </a:r>
            <a:endParaRPr lang="en-US" sz="1300" dirty="0"/>
          </a:p>
        </p:txBody>
      </p:sp>
      <p:sp>
        <p:nvSpPr>
          <p:cNvPr id="5" name="Text 3"/>
          <p:cNvSpPr/>
          <p:nvPr/>
        </p:nvSpPr>
        <p:spPr>
          <a:xfrm>
            <a:off x="343632" y="1828800"/>
            <a:ext cx="5525811" cy="1645920"/>
          </a:xfrm>
          <a:prstGeom prst="rect">
            <a:avLst/>
          </a:prstGeom>
          <a:solidFill>
            <a:srgbClr val="E8F5E9"/>
          </a:solidFill>
          <a:ln/>
        </p:spPr>
        <p:txBody>
          <a:bodyPr wrap="square" rtlCol="0" anchor="t"/>
          <a:lstStyle/>
          <a:p>
            <a:pPr>
              <a:spcBef>
                <a:spcPts val="600"/>
              </a:spcBef>
              <a:spcAft>
                <a:spcPts val="300"/>
              </a:spcAft>
            </a:pPr>
            <a:r>
              <a:rPr lang="en-US" sz="1000" dirty="0">
                <a:solidFill>
                  <a:srgbClr val="000000"/>
                </a:solidFill>
                <a:latin typeface="Segoe UI" pitchFamily="34" charset="0"/>
                <a:ea typeface="Segoe UI" pitchFamily="34" charset="-122"/>
                <a:cs typeface="Segoe UI" pitchFamily="34" charset="-120"/>
              </a:rPr>
              <a:t>Rising industrial energy costs creating urgent demand for efficiency solutions (THB 12B market by 2027) Timing: 2025-2026 Action: Target top 50 energy-intensive manufacturers with guaranteed savings proposals</a:t>
            </a:r>
            <a:endParaRPr lang="en-US" sz="1000" dirty="0"/>
          </a:p>
          <a:p>
            <a:pPr>
              <a:spcBef>
                <a:spcPts val="600"/>
              </a:spcBef>
              <a:spcAft>
                <a:spcPts val="300"/>
              </a:spcAft>
            </a:pPr>
            <a:r>
              <a:rPr lang="en-US" sz="1000" dirty="0">
                <a:solidFill>
                  <a:srgbClr val="000000"/>
                </a:solidFill>
                <a:latin typeface="Segoe UI" pitchFamily="34" charset="0"/>
                <a:ea typeface="Segoe UI" pitchFamily="34" charset="-122"/>
                <a:cs typeface="Segoe UI" pitchFamily="34" charset="-120"/>
              </a:rPr>
              <a:t>Government building retrofit mandate covering 5,000+ facilities (THB 3.5B government pipeline) Timing: 2025-2028 Action: Register as approved DEDE service provider and bid on Phase 1 contracts</a:t>
            </a:r>
            <a:endParaRPr lang="en-US" sz="1000" dirty="0"/>
          </a:p>
          <a:p>
            <a:pPr>
              <a:spcBef>
                <a:spcPts val="600"/>
              </a:spcBef>
              <a:spcAft>
                <a:spcPts val="300"/>
              </a:spcAft>
            </a:pPr>
            <a:r>
              <a:rPr lang="en-US" sz="1000" dirty="0">
                <a:solidFill>
                  <a:srgbClr val="000000"/>
                </a:solidFill>
                <a:latin typeface="Segoe UI" pitchFamily="34" charset="0"/>
                <a:ea typeface="Segoe UI" pitchFamily="34" charset="-122"/>
                <a:cs typeface="Segoe UI" pitchFamily="34" charset="-120"/>
              </a:rPr>
              <a:t>Carbon tax legislation expected by 2027 will accelerate private sector ESCO adoption</a:t>
            </a:r>
            <a:endParaRPr lang="en-US" sz="1000" dirty="0"/>
          </a:p>
          <a:p>
            <a:pPr>
              <a:spcBef>
                <a:spcPts val="600"/>
              </a:spcBef>
              <a:spcAft>
                <a:spcPts val="300"/>
              </a:spcAft>
            </a:pPr>
            <a:r>
              <a:rPr lang="en-US" sz="1000" dirty="0">
                <a:solidFill>
                  <a:srgbClr val="000000"/>
                </a:solidFill>
                <a:latin typeface="Segoe UI" pitchFamily="34" charset="0"/>
                <a:ea typeface="Segoe UI" pitchFamily="34" charset="-122"/>
                <a:cs typeface="Segoe UI" pitchFamily="34" charset="-120"/>
              </a:rPr>
              <a:t>Data center boom driving 45% growth in cooling efficiency services (THB 1.8B by 2026) Timing: 2025-2027 Action: Develop specialized data center cooling optimization service offering</a:t>
            </a:r>
            <a:endParaRPr lang="en-US" sz="1000" dirty="0"/>
          </a:p>
        </p:txBody>
      </p:sp>
      <p:sp>
        <p:nvSpPr>
          <p:cNvPr id="6" name="Text 4"/>
          <p:cNvSpPr/>
          <p:nvPr/>
        </p:nvSpPr>
        <p:spPr>
          <a:xfrm>
            <a:off x="6326642" y="1371600"/>
            <a:ext cx="5525811" cy="365760"/>
          </a:xfrm>
          <a:prstGeom prst="rect">
            <a:avLst/>
          </a:prstGeom>
          <a:solidFill>
            <a:srgbClr val="E46C0A"/>
          </a:solidFill>
          <a:ln/>
        </p:spPr>
        <p:txBody>
          <a:bodyPr wrap="square" lIns="0" tIns="101600" rIns="101600" bIns="0" rtlCol="0" anchor="ctr"/>
          <a:lstStyle/>
          <a:p>
            <a:pPr indent="0" marL="0">
              <a:buNone/>
            </a:pPr>
            <a:r>
              <a:rPr lang="en-US" sz="1300" b="1" dirty="0">
                <a:solidFill>
                  <a:srgbClr val="FFFFFF"/>
                </a:solidFill>
                <a:latin typeface="Segoe UI" pitchFamily="34" charset="0"/>
                <a:ea typeface="Segoe UI" pitchFamily="34" charset="-122"/>
                <a:cs typeface="Segoe UI" pitchFamily="34" charset="-120"/>
              </a:rPr>
              <a:t>Obstacles &amp; Risks</a:t>
            </a:r>
            <a:endParaRPr lang="en-US" sz="1300" dirty="0"/>
          </a:p>
        </p:txBody>
      </p:sp>
      <p:sp>
        <p:nvSpPr>
          <p:cNvPr id="7" name="Text 5"/>
          <p:cNvSpPr/>
          <p:nvPr/>
        </p:nvSpPr>
        <p:spPr>
          <a:xfrm>
            <a:off x="6326642" y="1828800"/>
            <a:ext cx="5525811" cy="1645920"/>
          </a:xfrm>
          <a:prstGeom prst="rect">
            <a:avLst/>
          </a:prstGeom>
          <a:solidFill>
            <a:srgbClr val="FFF3E0"/>
          </a:solidFill>
          <a:ln/>
        </p:spPr>
        <p:txBody>
          <a:bodyPr wrap="square" rtlCol="0" anchor="t"/>
          <a:lstStyle/>
          <a:p>
            <a:pPr>
              <a:spcBef>
                <a:spcPts val="600"/>
              </a:spcBef>
              <a:spcAft>
                <a:spcPts val="300"/>
              </a:spcAft>
            </a:pPr>
            <a:r>
              <a:rPr lang="en-US" sz="1000" dirty="0">
                <a:solidFill>
                  <a:srgbClr val="000000"/>
                </a:solidFill>
                <a:latin typeface="Segoe UI" pitchFamily="34" charset="0"/>
                <a:ea typeface="Segoe UI" pitchFamily="34" charset="-122"/>
                <a:cs typeface="Segoe UI" pitchFamily="34" charset="-120"/>
              </a:rPr>
              <a:t>Thai ESCO market fragmented with 45+ competitors and intense price competition [High] Mitigation: Differentiate on technology and guaranteed savings rather than competing on price</a:t>
            </a:r>
            <a:endParaRPr lang="en-US" sz="1000" dirty="0"/>
          </a:p>
          <a:p>
            <a:pPr>
              <a:spcBef>
                <a:spcPts val="600"/>
              </a:spcBef>
              <a:spcAft>
                <a:spcPts val="300"/>
              </a:spcAft>
            </a:pPr>
            <a:r>
              <a:rPr lang="en-US" sz="1000" dirty="0">
                <a:solidFill>
                  <a:srgbClr val="000000"/>
                </a:solidFill>
                <a:latin typeface="Segoe UI" pitchFamily="34" charset="0"/>
                <a:ea typeface="Segoe UI" pitchFamily="34" charset="-122"/>
                <a:cs typeface="Segoe UI" pitchFamily="34" charset="-120"/>
              </a:rPr>
              <a:t>Complex BOI and licensing requirements add 6-9 months to market entry timeline [Medium] Mitigation: Engage specialist legal counsel and begin BOI application process immediately</a:t>
            </a:r>
            <a:endParaRPr lang="en-US" sz="1000" dirty="0"/>
          </a:p>
          <a:p>
            <a:pPr>
              <a:spcBef>
                <a:spcPts val="600"/>
              </a:spcBef>
              <a:spcAft>
                <a:spcPts val="300"/>
              </a:spcAft>
            </a:pPr>
            <a:r>
              <a:rPr lang="en-US" sz="1000" dirty="0">
                <a:solidFill>
                  <a:srgbClr val="000000"/>
                </a:solidFill>
                <a:latin typeface="Segoe UI" pitchFamily="34" charset="0"/>
                <a:ea typeface="Segoe UI" pitchFamily="34" charset="-122"/>
                <a:cs typeface="Segoe UI" pitchFamily="34" charset="-120"/>
              </a:rPr>
              <a:t>Local companies have deep government relationships difficult for foreign entrants to replicate [Medium-High] Mitigation: Partner with established local ESCO for government channel access</a:t>
            </a:r>
            <a:endParaRPr lang="en-US" sz="1000" dirty="0"/>
          </a:p>
        </p:txBody>
      </p:sp>
      <p:sp>
        <p:nvSpPr>
          <p:cNvPr id="8" name="Text 6"/>
          <p:cNvSpPr/>
          <p:nvPr/>
        </p:nvSpPr>
        <p:spPr>
          <a:xfrm>
            <a:off x="343632" y="4932639"/>
            <a:ext cx="11508821" cy="457200"/>
          </a:xfrm>
          <a:prstGeom prst="rect">
            <a:avLst/>
          </a:prstGeom>
          <a:noFill/>
          <a:ln/>
        </p:spPr>
        <p:txBody>
          <a:bodyPr wrap="square" rtlCol="0" anchor="t"/>
          <a:lstStyle/>
          <a:p>
            <a:pPr indent="0" marL="0">
              <a:buNone/>
            </a:pPr>
            <a:r>
              <a:rPr lang="en-US" sz="1200" b="1" dirty="0">
                <a:solidFill>
                  <a:srgbClr val="1F497D"/>
                </a:solidFill>
                <a:latin typeface="Segoe UI" pitchFamily="34" charset="0"/>
                <a:ea typeface="Segoe UI" pitchFamily="34" charset="-122"/>
                <a:cs typeface="Segoe UI" pitchFamily="34" charset="-120"/>
              </a:rPr>
              <a:t>Attractiveness: 8/10 | Feasibility: 7/10</a:t>
            </a:r>
            <a:pPr indent="0" marL="0">
              <a:buNone/>
            </a:pPr>
            <a:endParaRPr lang="en-US" sz="1200" dirty="0"/>
          </a:p>
          <a:p>
            <a:pPr indent="0" marL="0">
              <a:buNone/>
            </a:pPr>
            <a:r>
              <a:rPr lang="en-US" sz="1100" dirty="0">
                <a:solidFill>
                  <a:srgbClr val="666666"/>
                </a:solidFill>
                <a:latin typeface="Segoe UI" pitchFamily="34" charset="0"/>
                <a:ea typeface="Segoe UI" pitchFamily="34" charset="-122"/>
                <a:cs typeface="Segoe UI" pitchFamily="34" charset="-120"/>
              </a:rPr>
              <a:t>Attractiveness: Large addressable market (THB 12B+) with strong growth drivers (carbon tax, smart city mandate, industrial relocation); favorable regulatory environment with BOI incentives reducing effective tax to near-zero for first 8 years | Feasibility: Established ESCO market with clear regulatory framework; main challenges are relationship-driven sales cycle and 45+ existing competitors requiring differentiated value proposition</a:t>
            </a:r>
            <a:endParaRPr lang="en-US" sz="1200" dirty="0"/>
          </a:p>
        </p:txBody>
      </p:sp>
      <p:sp>
        <p:nvSpPr>
          <p:cNvPr id="9" name="Text 7"/>
          <p:cNvSpPr/>
          <p:nvPr/>
        </p:nvSpPr>
        <p:spPr>
          <a:xfrm>
            <a:off x="343632" y="5435559"/>
            <a:ext cx="11508821" cy="594360"/>
          </a:xfrm>
          <a:prstGeom prst="rect">
            <a:avLst/>
          </a:prstGeom>
          <a:solidFill>
            <a:srgbClr val="EDFDFF"/>
          </a:solidFill>
          <a:ln>
            <a:solidFill>
              <a:srgbClr val="007FFF"/>
            </a:solidFill>
          </a:ln>
        </p:spPr>
        <p:txBody>
          <a:bodyPr wrap="square" lIns="63500" tIns="101600" rIns="101600" bIns="63500" rtlCol="0" anchor="t">
            <a:normAutofit/>
          </a:bodyPr>
          <a:lstStyle/>
          <a:p>
            <a:pPr indent="0" marL="0">
              <a:buNone/>
            </a:pPr>
            <a:r>
              <a:rPr lang="en-US" sz="1200" b="1" dirty="0">
                <a:solidFill>
                  <a:srgbClr val="007FFF"/>
                </a:solidFill>
                <a:latin typeface="Segoe UI" pitchFamily="34" charset="0"/>
                <a:ea typeface="Segoe UI" pitchFamily="34" charset="-122"/>
                <a:cs typeface="Segoe UI" pitchFamily="34" charset="-120"/>
              </a:rPr>
              <a:t>Strategic Recommendation
</a:t>
            </a:r>
            <a:pPr indent="0" marL="0">
              <a:buNone/>
            </a:pPr>
            <a:r>
              <a:rPr lang="en-US" sz="800" dirty="0">
                <a:solidFill>
                  <a:srgbClr val="000000"/>
                </a:solidFill>
                <a:latin typeface="Segoe UI" pitchFamily="34" charset="0"/>
                <a:ea typeface="Segoe UI" pitchFamily="34" charset="-122"/>
                <a:cs typeface="Segoe UI" pitchFamily="34" charset="-120"/>
              </a:rPr>
              <a:t>Proceed with conditional market entry via Joint Venture with Absolute Clean Energy (ACE). Prioritize DEDE ESCO registration, BOI promotion application, and 3 pilot projects in Japanese manufacturing segment. Total Phase 1 investment of USD 5-8M with expected breakeven at 30-36 months.</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343632" y="44623"/>
            <a:ext cx="11508821" cy="1060430"/>
          </a:xfrm>
          <a:prstGeom prst="rect">
            <a:avLst/>
          </a:prstGeom>
          <a:noFill/>
          <a:ln/>
        </p:spPr>
        <p:txBody>
          <a:bodyPr wrap="square" rtlCol="0" anchor="t">
            <a:normAutofit/>
          </a:bodyPr>
          <a:lstStyle/>
          <a:p>
            <a:pPr indent="0" marL="0">
              <a:buNone/>
            </a:pPr>
            <a:r>
              <a:rPr lang="en-US" sz="2000" dirty="0">
                <a:solidFill>
                  <a:srgbClr val="1F497D"/>
                </a:solidFill>
                <a:latin typeface="Segoe UI" pitchFamily="34" charset="0"/>
                <a:ea typeface="Segoe UI" pitchFamily="34" charset="-122"/>
                <a:cs typeface="Segoe UI" pitchFamily="34" charset="-120"/>
              </a:rPr>
              <a:t>Thailand - Key Insights</a:t>
            </a:r>
            <a:pPr indent="0" marL="0">
              <a:spcBef>
                <a:spcPts val="200"/>
              </a:spcBef>
              <a:buNone/>
            </a:pPr>
            <a:r>
              <a:rPr lang="en-US" sz="1600" dirty="0">
                <a:solidFill>
                  <a:srgbClr val="1F497D"/>
                </a:solidFill>
                <a:latin typeface="Segoe UI" pitchFamily="34" charset="0"/>
                <a:ea typeface="Segoe UI" pitchFamily="34" charset="-122"/>
                <a:cs typeface="Segoe UI" pitchFamily="34" charset="-120"/>
              </a:rPr>
              <a:t>Strategic implications for market entry</a:t>
            </a:r>
            <a:endParaRPr lang="en-US" sz="2000" dirty="0"/>
          </a:p>
        </p:txBody>
      </p:sp>
      <p:sp>
        <p:nvSpPr>
          <p:cNvPr id="3" name="Text 1"/>
          <p:cNvSpPr/>
          <p:nvPr/>
        </p:nvSpPr>
        <p:spPr>
          <a:xfrm>
            <a:off x="343632" y="6121359"/>
            <a:ext cx="11508821" cy="246888"/>
          </a:xfrm>
          <a:prstGeom prst="rect">
            <a:avLst/>
          </a:prstGeom>
          <a:noFill/>
          <a:ln/>
        </p:spPr>
        <p:txBody>
          <a:bodyPr wrap="square" rtlCol="0" anchor="t"/>
          <a:lstStyle/>
          <a:p>
            <a:pPr indent="0" marL="0">
              <a:buNone/>
            </a:pPr>
            <a:r>
              <a:rPr lang="en-US" sz="1000" dirty="0">
                <a:solidFill>
                  <a:srgbClr val="999999"/>
                </a:solidFill>
                <a:latin typeface="Segoe UI" pitchFamily="34" charset="0"/>
                <a:ea typeface="Segoe UI" pitchFamily="34" charset="-122"/>
                <a:cs typeface="Segoe UI" pitchFamily="34" charset="-120"/>
              </a:rPr>
              <a:t>Source: YCP Analysis</a:t>
            </a:r>
            <a:endParaRPr lang="en-US" sz="1000" dirty="0"/>
          </a:p>
        </p:txBody>
      </p:sp>
      <p:sp>
        <p:nvSpPr>
          <p:cNvPr id="4" name="Text 2"/>
          <p:cNvSpPr/>
          <p:nvPr/>
        </p:nvSpPr>
        <p:spPr>
          <a:xfrm>
            <a:off x="343632" y="1371600"/>
            <a:ext cx="11508821" cy="320040"/>
          </a:xfrm>
          <a:prstGeom prst="rect">
            <a:avLst/>
          </a:prstGeom>
          <a:noFill/>
          <a:ln/>
        </p:spPr>
        <p:txBody>
          <a:bodyPr wrap="square" rtlCol="0" anchor="ctr"/>
          <a:lstStyle/>
          <a:p>
            <a:pPr indent="0" marL="0">
              <a:buNone/>
            </a:pPr>
            <a:r>
              <a:rPr lang="en-US" sz="1200" b="1" dirty="0">
                <a:solidFill>
                  <a:srgbClr val="1F497D"/>
                </a:solidFill>
                <a:latin typeface="Segoe UI" pitchFamily="34" charset="0"/>
                <a:ea typeface="Segoe UI" pitchFamily="34" charset="-122"/>
                <a:cs typeface="Segoe UI" pitchFamily="34" charset="-120"/>
              </a:rPr>
              <a:t>Labor cost pressure creating energy efficiency urgency across Thai manufacturing</a:t>
            </a:r>
            <a:endParaRPr lang="en-US" sz="1200" dirty="0"/>
          </a:p>
        </p:txBody>
      </p:sp>
      <p:sp>
        <p:nvSpPr>
          <p:cNvPr id="5" name="Text 3"/>
          <p:cNvSpPr/>
          <p:nvPr/>
        </p:nvSpPr>
        <p:spPr>
          <a:xfrm>
            <a:off x="343632" y="1691640"/>
            <a:ext cx="11508821" cy="822960"/>
          </a:xfrm>
          <a:prstGeom prst="rect">
            <a:avLst/>
          </a:prstGeom>
          <a:noFill/>
          <a:ln/>
        </p:spPr>
        <p:txBody>
          <a:bodyPr wrap="square" rtlCol="0" anchor="t"/>
          <a:lstStyle/>
          <a:p>
            <a:pPr indent="0" marL="0">
              <a:buNone/>
            </a:pPr>
            <a:r>
              <a:rPr lang="en-US" sz="700" dirty="0">
                <a:solidFill>
                  <a:srgbClr val="000000"/>
                </a:solidFill>
                <a:latin typeface="Segoe UI" pitchFamily="34" charset="0"/>
                <a:ea typeface="Segoe UI" pitchFamily="34" charset="-122"/>
                <a:cs typeface="Segoe UI" pitchFamily="34" charset="-120"/>
              </a:rPr>
              <a:t>Manufacturing wages rose 8% annually 2021-2024 while energy costs increased 12%, compressing margins from 18% to 13% for mid-tier manufacturers.</a:t>
            </a:r>
            <a:endParaRPr lang="en-US" sz="700" dirty="0"/>
          </a:p>
          <a:p>
            <a:pPr indent="0" marL="0">
              <a:buNone/>
            </a:pPr>
            <a:r>
              <a:rPr lang="en-US" sz="700" dirty="0">
                <a:solidFill>
                  <a:srgbClr val="000000"/>
                </a:solidFill>
                <a:latin typeface="Segoe UI" pitchFamily="34" charset="0"/>
                <a:ea typeface="Segoe UI" pitchFamily="34" charset="-122"/>
                <a:cs typeface="Segoe UI" pitchFamily="34" charset="-120"/>
              </a:rPr>
              <a:t>So what: Aging workforce drives wage inflation while energy transition increases fuel costs — double cost squeeze accelerates ESCO demand from reactive to proactive.</a:t>
            </a:r>
            <a:endParaRPr lang="en-US" sz="700" dirty="0"/>
          </a:p>
          <a:p>
            <a:pPr indent="0" marL="0">
              <a:buNone/>
            </a:pPr>
            <a:r>
              <a:rPr lang="en-US" sz="700" dirty="0">
                <a:solidFill>
                  <a:srgbClr val="000000"/>
                </a:solidFill>
                <a:latin typeface="Segoe UI" pitchFamily="34" charset="0"/>
                <a:ea typeface="Segoe UI" pitchFamily="34" charset="-122"/>
                <a:cs typeface="Segoe UI" pitchFamily="34" charset="-120"/>
              </a:rPr>
              <a:t>Action: Position energy efficiency as cost management tool rather than sustainability initiative — CFO-driven sales cycle delivers faster conversion than CSR-driven approach.</a:t>
            </a:r>
            <a:endParaRPr lang="en-US" sz="700" dirty="0"/>
          </a:p>
          <a:p>
            <a:pPr indent="0" marL="0">
              <a:buNone/>
            </a:pPr>
            <a:r>
              <a:rPr lang="en-US" sz="700" dirty="0">
                <a:solidFill>
                  <a:srgbClr val="000000"/>
                </a:solidFill>
                <a:latin typeface="Segoe UI" pitchFamily="34" charset="0"/>
                <a:ea typeface="Segoe UI" pitchFamily="34" charset="-122"/>
                <a:cs typeface="Segoe UI" pitchFamily="34" charset="-120"/>
              </a:rPr>
              <a:t>Timing: Move by Q2 2026 — carbon tax starts Jan 2027, creating step-change in demand that early movers capture</a:t>
            </a:r>
            <a:endParaRPr lang="en-US" sz="700" dirty="0"/>
          </a:p>
        </p:txBody>
      </p:sp>
      <p:sp>
        <p:nvSpPr>
          <p:cNvPr id="6" name="Text 4"/>
          <p:cNvSpPr/>
          <p:nvPr/>
        </p:nvSpPr>
        <p:spPr>
          <a:xfrm>
            <a:off x="343632" y="2651760"/>
            <a:ext cx="11508821" cy="320040"/>
          </a:xfrm>
          <a:prstGeom prst="rect">
            <a:avLst/>
          </a:prstGeom>
          <a:noFill/>
          <a:ln/>
        </p:spPr>
        <p:txBody>
          <a:bodyPr wrap="square" rtlCol="0" anchor="ctr"/>
          <a:lstStyle/>
          <a:p>
            <a:pPr indent="0" marL="0">
              <a:buNone/>
            </a:pPr>
            <a:r>
              <a:rPr lang="en-US" sz="1100" b="1" dirty="0">
                <a:solidFill>
                  <a:srgbClr val="1F497D"/>
                </a:solidFill>
                <a:latin typeface="Segoe UI" pitchFamily="34" charset="0"/>
                <a:ea typeface="Segoe UI" pitchFamily="34" charset="-122"/>
                <a:cs typeface="Segoe UI" pitchFamily="34" charset="-120"/>
              </a:rPr>
              <a:t>Government smart city program unlocking THB 15B in integrated energy management contracts</a:t>
            </a:r>
            <a:endParaRPr lang="en-US" sz="1100" dirty="0"/>
          </a:p>
        </p:txBody>
      </p:sp>
      <p:sp>
        <p:nvSpPr>
          <p:cNvPr id="7" name="Text 5"/>
          <p:cNvSpPr/>
          <p:nvPr/>
        </p:nvSpPr>
        <p:spPr>
          <a:xfrm>
            <a:off x="343632" y="2971800"/>
            <a:ext cx="11508821" cy="822960"/>
          </a:xfrm>
          <a:prstGeom prst="rect">
            <a:avLst/>
          </a:prstGeom>
          <a:noFill/>
          <a:ln/>
        </p:spPr>
        <p:txBody>
          <a:bodyPr wrap="square" rtlCol="0" anchor="t"/>
          <a:lstStyle/>
          <a:p>
            <a:pPr indent="0" marL="0">
              <a:buNone/>
            </a:pPr>
            <a:r>
              <a:rPr lang="en-US" sz="700" dirty="0">
                <a:solidFill>
                  <a:srgbClr val="000000"/>
                </a:solidFill>
                <a:latin typeface="Segoe UI" pitchFamily="34" charset="0"/>
                <a:ea typeface="Segoe UI" pitchFamily="34" charset="-122"/>
                <a:cs typeface="Segoe UI" pitchFamily="34" charset="-120"/>
              </a:rPr>
              <a:t>Thailand 4.0 smart city initiative designating 30 pilot cities by 2027 with mandatory energy management systems in all new government buildings over 2,000 sqm.</a:t>
            </a:r>
            <a:endParaRPr lang="en-US" sz="700" dirty="0"/>
          </a:p>
          <a:p>
            <a:pPr indent="0" marL="0">
              <a:buNone/>
            </a:pPr>
            <a:r>
              <a:rPr lang="en-US" sz="700" dirty="0">
                <a:solidFill>
                  <a:srgbClr val="000000"/>
                </a:solidFill>
                <a:latin typeface="Segoe UI" pitchFamily="34" charset="0"/>
                <a:ea typeface="Segoe UI" pitchFamily="34" charset="-122"/>
                <a:cs typeface="Segoe UI" pitchFamily="34" charset="-120"/>
              </a:rPr>
              <a:t>So what: Policy creates market: government mandate removes buyer hesitation and guarantees baseline demand for qualified ESCO providers meeting DEDE technical standards.</a:t>
            </a:r>
            <a:endParaRPr lang="en-US" sz="700" dirty="0"/>
          </a:p>
          <a:p>
            <a:pPr indent="0" marL="0">
              <a:buNone/>
            </a:pPr>
            <a:r>
              <a:rPr lang="en-US" sz="700" dirty="0">
                <a:solidFill>
                  <a:srgbClr val="000000"/>
                </a:solidFill>
                <a:latin typeface="Segoe UI" pitchFamily="34" charset="0"/>
                <a:ea typeface="Segoe UI" pitchFamily="34" charset="-122"/>
                <a:cs typeface="Segoe UI" pitchFamily="34" charset="-120"/>
              </a:rPr>
              <a:t>Action: Obtain DEDE ESCO registration immediately and build reference projects in Phase 1 smart city locations to qualify for larger Phase 2 contracts.</a:t>
            </a:r>
            <a:endParaRPr lang="en-US" sz="700" dirty="0"/>
          </a:p>
          <a:p>
            <a:pPr indent="0" marL="0">
              <a:buNone/>
            </a:pPr>
            <a:r>
              <a:rPr lang="en-US" sz="700" dirty="0">
                <a:solidFill>
                  <a:srgbClr val="000000"/>
                </a:solidFill>
                <a:latin typeface="Segoe UI" pitchFamily="34" charset="0"/>
                <a:ea typeface="Segoe UI" pitchFamily="34" charset="-122"/>
                <a:cs typeface="Segoe UI" pitchFamily="34" charset="-120"/>
              </a:rPr>
              <a:t>Timing: Phase 1 RFPs issuing Q3 2025 — must have local entity and DEDE registration by Q2 2025 to participate</a:t>
            </a:r>
            <a:endParaRPr lang="en-US" sz="700" dirty="0"/>
          </a:p>
        </p:txBody>
      </p:sp>
      <p:sp>
        <p:nvSpPr>
          <p:cNvPr id="8" name="Text 6"/>
          <p:cNvSpPr/>
          <p:nvPr/>
        </p:nvSpPr>
        <p:spPr>
          <a:xfrm>
            <a:off x="343632" y="3931920"/>
            <a:ext cx="11508821" cy="320040"/>
          </a:xfrm>
          <a:prstGeom prst="rect">
            <a:avLst/>
          </a:prstGeom>
          <a:noFill/>
          <a:ln/>
        </p:spPr>
        <p:txBody>
          <a:bodyPr wrap="square" rtlCol="0" anchor="ctr"/>
          <a:lstStyle/>
          <a:p>
            <a:pPr indent="0" marL="0">
              <a:buNone/>
            </a:pPr>
            <a:r>
              <a:rPr lang="en-US" sz="1000" b="1" dirty="0">
                <a:solidFill>
                  <a:srgbClr val="1F497D"/>
                </a:solidFill>
                <a:latin typeface="Segoe UI" pitchFamily="34" charset="0"/>
                <a:ea typeface="Segoe UI" pitchFamily="34" charset="-122"/>
                <a:cs typeface="Segoe UI" pitchFamily="34" charset="-120"/>
              </a:rPr>
              <a:t>Japanese manufacturing exodus from China redirecting THB 200B+ industrial investment to Thailand</a:t>
            </a:r>
            <a:endParaRPr lang="en-US" sz="1000" dirty="0"/>
          </a:p>
        </p:txBody>
      </p:sp>
      <p:sp>
        <p:nvSpPr>
          <p:cNvPr id="9" name="Text 7"/>
          <p:cNvSpPr/>
          <p:nvPr/>
        </p:nvSpPr>
        <p:spPr>
          <a:xfrm>
            <a:off x="343632" y="4251960"/>
            <a:ext cx="11508821" cy="822960"/>
          </a:xfrm>
          <a:prstGeom prst="rect">
            <a:avLst/>
          </a:prstGeom>
          <a:noFill/>
          <a:ln/>
        </p:spPr>
        <p:txBody>
          <a:bodyPr wrap="square" rtlCol="0" anchor="t"/>
          <a:lstStyle/>
          <a:p>
            <a:pPr indent="0" marL="0">
              <a:buNone/>
            </a:pPr>
            <a:r>
              <a:rPr lang="en-US" sz="700" dirty="0">
                <a:solidFill>
                  <a:srgbClr val="000000"/>
                </a:solidFill>
                <a:latin typeface="Segoe UI" pitchFamily="34" charset="0"/>
                <a:ea typeface="Segoe UI" pitchFamily="34" charset="-122"/>
                <a:cs typeface="Segoe UI" pitchFamily="34" charset="-120"/>
              </a:rPr>
              <a:t>Japan External Trade Organization reports 35% of Japanese manufacturers considering Thailand for production relocation, with THB 200B in committed investments through 2027.</a:t>
            </a:r>
            <a:endParaRPr lang="en-US" sz="700" dirty="0"/>
          </a:p>
          <a:p>
            <a:pPr indent="0" marL="0">
              <a:buNone/>
            </a:pPr>
            <a:r>
              <a:rPr lang="en-US" sz="700" dirty="0">
                <a:solidFill>
                  <a:srgbClr val="000000"/>
                </a:solidFill>
                <a:latin typeface="Segoe UI" pitchFamily="34" charset="0"/>
                <a:ea typeface="Segoe UI" pitchFamily="34" charset="-122"/>
                <a:cs typeface="Segoe UI" pitchFamily="34" charset="-120"/>
              </a:rPr>
              <a:t>So what: Supply chain diversification from China creates captive demand — Japanese manufacturers prefer Japanese or Japanese-affiliated energy service providers for new facility construction.</a:t>
            </a:r>
            <a:endParaRPr lang="en-US" sz="700" dirty="0"/>
          </a:p>
          <a:p>
            <a:pPr indent="0" marL="0">
              <a:buNone/>
            </a:pPr>
            <a:r>
              <a:rPr lang="en-US" sz="700" dirty="0">
                <a:solidFill>
                  <a:srgbClr val="000000"/>
                </a:solidFill>
                <a:latin typeface="Segoe UI" pitchFamily="34" charset="0"/>
                <a:ea typeface="Segoe UI" pitchFamily="34" charset="-122"/>
                <a:cs typeface="Segoe UI" pitchFamily="34" charset="-120"/>
              </a:rPr>
              <a:t>Action: Leverage Japan HQ relationships to secure facility energy management contracts during factory design phase, before local competitors can engage.</a:t>
            </a:r>
            <a:endParaRPr lang="en-US" sz="700" dirty="0"/>
          </a:p>
        </p:txBody>
      </p:sp>
      <p:sp>
        <p:nvSpPr>
          <p:cNvPr id="10" name="Text 8"/>
          <p:cNvSpPr/>
          <p:nvPr/>
        </p:nvSpPr>
        <p:spPr>
          <a:xfrm>
            <a:off x="343632" y="5303520"/>
            <a:ext cx="11508821" cy="731520"/>
          </a:xfrm>
          <a:prstGeom prst="rect">
            <a:avLst/>
          </a:prstGeom>
          <a:solidFill>
            <a:srgbClr val="EDFDFF"/>
          </a:solidFill>
          <a:ln>
            <a:solidFill>
              <a:srgbClr val="007FFF"/>
            </a:solidFill>
          </a:ln>
        </p:spPr>
        <p:txBody>
          <a:bodyPr wrap="square" lIns="63500" tIns="101600" rIns="101600" bIns="63500" rtlCol="0" anchor="t">
            <a:normAutofit/>
          </a:bodyPr>
          <a:lstStyle/>
          <a:p>
            <a:pPr indent="0" marL="0">
              <a:buNone/>
            </a:pPr>
            <a:r>
              <a:rPr lang="en-US" sz="1200" b="1" dirty="0">
                <a:solidFill>
                  <a:srgbClr val="007FFF"/>
                </a:solidFill>
                <a:latin typeface="Segoe UI" pitchFamily="34" charset="0"/>
                <a:ea typeface="Segoe UI" pitchFamily="34" charset="-122"/>
                <a:cs typeface="Segoe UI" pitchFamily="34" charset="-120"/>
              </a:rPr>
              <a:t>RECOMMENDATION
</a:t>
            </a:r>
            <a:pPr indent="0" marL="0">
              <a:buNone/>
            </a:pPr>
            <a:r>
              <a:rPr lang="en-US" sz="1100" dirty="0">
                <a:solidFill>
                  <a:srgbClr val="000000"/>
                </a:solidFill>
                <a:latin typeface="Segoe UI" pitchFamily="34" charset="0"/>
                <a:ea typeface="Segoe UI" pitchFamily="34" charset="-122"/>
                <a:cs typeface="Segoe UI" pitchFamily="34" charset="-120"/>
              </a:rPr>
              <a:t>Proceed with conditional market entry via Joint Venture with Absolute Clean Energy (ACE). Prioritize DEDE ESCO registration, BOI promotion application, and 3 pilot projects in Japanese manufacturing segment. Total Phase 1 investment of USD 5-8M with expected breakeven at 30-36 months.</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343632" y="44623"/>
            <a:ext cx="11508821" cy="1060430"/>
          </a:xfrm>
          <a:prstGeom prst="rect">
            <a:avLst/>
          </a:prstGeom>
          <a:noFill/>
          <a:ln/>
        </p:spPr>
        <p:txBody>
          <a:bodyPr wrap="square" rtlCol="0" anchor="t">
            <a:normAutofit/>
          </a:bodyPr>
          <a:lstStyle/>
          <a:p>
            <a:pPr indent="0" marL="0">
              <a:buNone/>
            </a:pPr>
            <a:r>
              <a:rPr lang="en-US" sz="2000" dirty="0">
                <a:solidFill>
                  <a:srgbClr val="1F497D"/>
                </a:solidFill>
                <a:latin typeface="Segoe UI" pitchFamily="34" charset="0"/>
                <a:ea typeface="Segoe UI" pitchFamily="34" charset="-122"/>
                <a:cs typeface="Segoe UI" pitchFamily="34" charset="-120"/>
              </a:rPr>
              <a:t>Thailand - Why Now?</a:t>
            </a:r>
            <a:pPr indent="0" marL="0">
              <a:spcBef>
                <a:spcPts val="200"/>
              </a:spcBef>
              <a:buNone/>
            </a:pPr>
            <a:r>
              <a:rPr lang="en-US" sz="1600" dirty="0">
                <a:solidFill>
                  <a:srgbClr val="1F497D"/>
                </a:solidFill>
                <a:latin typeface="Segoe UI" pitchFamily="34" charset="0"/>
                <a:ea typeface="Segoe UI" pitchFamily="34" charset="-122"/>
                <a:cs typeface="Segoe UI" pitchFamily="34" charset="-120"/>
              </a:rPr>
              <a:t>Critical 18-month window (Q2 2025 - Q4 2026): Carbon tax legislation in draft, smart city Phase 1 RFPs issuing, and Japanese FDI surge creates once-in-decade convergence of demand drivers.</a:t>
            </a:r>
            <a:endParaRPr lang="en-US" sz="2000" dirty="0"/>
          </a:p>
        </p:txBody>
      </p:sp>
      <p:sp>
        <p:nvSpPr>
          <p:cNvPr id="3" name="Text 1"/>
          <p:cNvSpPr/>
          <p:nvPr/>
        </p:nvSpPr>
        <p:spPr>
          <a:xfrm>
            <a:off x="343632" y="6121359"/>
            <a:ext cx="11508821" cy="246888"/>
          </a:xfrm>
          <a:prstGeom prst="rect">
            <a:avLst/>
          </a:prstGeom>
          <a:noFill/>
          <a:ln/>
        </p:spPr>
        <p:txBody>
          <a:bodyPr wrap="square" rtlCol="0" anchor="t"/>
          <a:lstStyle/>
          <a:p>
            <a:pPr indent="0" marL="0">
              <a:buNone/>
            </a:pPr>
            <a:r>
              <a:rPr lang="en-US" sz="1000" dirty="0">
                <a:solidFill>
                  <a:srgbClr val="999999"/>
                </a:solidFill>
                <a:latin typeface="Segoe UI" pitchFamily="34" charset="0"/>
                <a:ea typeface="Segoe UI" pitchFamily="34" charset="-122"/>
                <a:cs typeface="Segoe UI" pitchFamily="34" charset="-120"/>
              </a:rPr>
              <a:t>Source: YCP Analysis</a:t>
            </a:r>
            <a:endParaRPr lang="en-US" sz="1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43632" y="1371600"/>
          <a:ext cx="11508821" cy="1874520"/>
        </p:xfrm>
        <a:graphic>
          <a:graphicData uri="http://schemas.openxmlformats.org/drawingml/2006/table">
            <a:tbl>
              <a:tblPr/>
              <a:tblGrid>
                <a:gridCol w="2432759"/>
                <a:gridCol w="4584815"/>
                <a:gridCol w="4491247"/>
              </a:tblGrid>
              <a:tr h="374904">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Trigger</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Impact</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Action Required</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374904">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Carbon Tax Legislation</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Creates mandatory reporting and financial...</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Begin pre-positioning marketing campaigns and...</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374904">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Smart City Phase 1 RFPs</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30 pilot cities releasing THB 5B in energy...</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Complete DEDE ESCO registration and secure at...</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374904">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Japanese FDI Wave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THB 200B in manufacturing investment requiring...</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Activate Japan HQ channel partnerships and...</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374904">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ASEAN Carbon Market Launch</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Regional carbon trading creates monetization...</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Develop carbon credit quantification...</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bl>
          </a:graphicData>
        </a:graphic>
      </p:graphicFrame>
      <p:sp>
        <p:nvSpPr>
          <p:cNvPr id="5" name="Text 2"/>
          <p:cNvSpPr/>
          <p:nvPr/>
        </p:nvSpPr>
        <p:spPr>
          <a:xfrm>
            <a:off x="343632" y="4160520"/>
            <a:ext cx="11508821" cy="822960"/>
          </a:xfrm>
          <a:prstGeom prst="rect">
            <a:avLst/>
          </a:prstGeom>
          <a:solidFill>
            <a:srgbClr val="EDFDFF"/>
          </a:solidFill>
          <a:ln>
            <a:solidFill>
              <a:srgbClr val="007FFF"/>
            </a:solidFill>
          </a:ln>
        </p:spPr>
        <p:txBody>
          <a:bodyPr wrap="square" lIns="63500" tIns="101600" rIns="101600" bIns="63500" rtlCol="0" anchor="t">
            <a:normAutofit/>
          </a:bodyPr>
          <a:lstStyle/>
          <a:p>
            <a:pPr indent="0" marL="0">
              <a:buNone/>
            </a:pPr>
            <a:r>
              <a:rPr lang="en-US" sz="1200" b="1" dirty="0">
                <a:solidFill>
                  <a:srgbClr val="007FFF"/>
                </a:solidFill>
                <a:latin typeface="Segoe UI" pitchFamily="34" charset="0"/>
                <a:ea typeface="Segoe UI" pitchFamily="34" charset="-122"/>
                <a:cs typeface="Segoe UI" pitchFamily="34" charset="-120"/>
              </a:rPr>
              <a:t>WINDOW OF OPPORTUNITY
</a:t>
            </a:r>
            <a:pPr indent="0" marL="0">
              <a:buNone/>
            </a:pPr>
            <a:r>
              <a:rPr lang="en-US" sz="1100" dirty="0">
                <a:solidFill>
                  <a:srgbClr val="000000"/>
                </a:solidFill>
                <a:latin typeface="Segoe UI" pitchFamily="34" charset="0"/>
                <a:ea typeface="Segoe UI" pitchFamily="34" charset="-122"/>
                <a:cs typeface="Segoe UI" pitchFamily="34" charset="-120"/>
              </a:rPr>
              <a:t>Critical 18-month window (Q2 2025 - Q4 2026): Carbon tax legislation in draft, smart city Phase 1 RFPs issuing, and Japanese FDI surge creates once-in-decade convergence of demand drivers.</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343632" y="44623"/>
            <a:ext cx="11508821" cy="1060430"/>
          </a:xfrm>
          <a:prstGeom prst="rect">
            <a:avLst/>
          </a:prstGeom>
          <a:noFill/>
          <a:ln/>
        </p:spPr>
        <p:txBody>
          <a:bodyPr wrap="square" rtlCol="0" anchor="t">
            <a:normAutofit/>
          </a:bodyPr>
          <a:lstStyle/>
          <a:p>
            <a:pPr indent="0" marL="0">
              <a:buNone/>
            </a:pPr>
            <a:r>
              <a:rPr lang="en-US" sz="2000" dirty="0">
                <a:solidFill>
                  <a:srgbClr val="1F497D"/>
                </a:solidFill>
                <a:latin typeface="Segoe UI" pitchFamily="34" charset="0"/>
                <a:ea typeface="Segoe UI" pitchFamily="34" charset="-122"/>
                <a:cs typeface="Segoe UI" pitchFamily="34" charset="-120"/>
              </a:rPr>
              <a:t>Thailand - Lessons from Market</a:t>
            </a:r>
            <a:pPr indent="0" marL="0">
              <a:spcBef>
                <a:spcPts val="200"/>
              </a:spcBef>
              <a:buNone/>
            </a:pPr>
            <a:r>
              <a:rPr lang="en-US" sz="1600" dirty="0">
                <a:solidFill>
                  <a:srgbClr val="1F497D"/>
                </a:solidFill>
                <a:latin typeface="Segoe UI" pitchFamily="34" charset="0"/>
                <a:ea typeface="Segoe UI" pitchFamily="34" charset="-122"/>
                <a:cs typeface="Segoe UI" pitchFamily="34" charset="-120"/>
              </a:rPr>
              <a:t>What previous entrants learned about Thailand energy services market</a:t>
            </a:r>
            <a:endParaRPr lang="en-US" sz="2000" dirty="0"/>
          </a:p>
        </p:txBody>
      </p:sp>
      <p:sp>
        <p:nvSpPr>
          <p:cNvPr id="3" name="Text 1"/>
          <p:cNvSpPr/>
          <p:nvPr/>
        </p:nvSpPr>
        <p:spPr>
          <a:xfrm>
            <a:off x="343632" y="6121359"/>
            <a:ext cx="11508821" cy="246888"/>
          </a:xfrm>
          <a:prstGeom prst="rect">
            <a:avLst/>
          </a:prstGeom>
          <a:noFill/>
          <a:ln/>
        </p:spPr>
        <p:txBody>
          <a:bodyPr wrap="square" rtlCol="0" anchor="t"/>
          <a:lstStyle/>
          <a:p>
            <a:pPr indent="0" marL="0">
              <a:buNone/>
            </a:pPr>
            <a:r>
              <a:rPr lang="en-US" sz="1000" dirty="0">
                <a:solidFill>
                  <a:srgbClr val="999999"/>
                </a:solidFill>
                <a:latin typeface="Segoe UI" pitchFamily="34" charset="0"/>
                <a:ea typeface="Segoe UI" pitchFamily="34" charset="-122"/>
                <a:cs typeface="Segoe UI" pitchFamily="34" charset="-120"/>
              </a:rPr>
              <a:t>Source: YCP Analysis</a:t>
            </a:r>
            <a:endParaRPr lang="en-US" sz="1000" dirty="0"/>
          </a:p>
        </p:txBody>
      </p:sp>
      <p:sp>
        <p:nvSpPr>
          <p:cNvPr id="4" name="Text 2"/>
          <p:cNvSpPr/>
          <p:nvPr/>
        </p:nvSpPr>
        <p:spPr>
          <a:xfrm>
            <a:off x="343632" y="1371600"/>
            <a:ext cx="4114800" cy="274320"/>
          </a:xfrm>
          <a:prstGeom prst="rect">
            <a:avLst/>
          </a:prstGeom>
          <a:noFill/>
          <a:ln/>
        </p:spPr>
        <p:txBody>
          <a:bodyPr wrap="square" rtlCol="0" anchor="ctr"/>
          <a:lstStyle/>
          <a:p>
            <a:pPr indent="0" marL="0">
              <a:buNone/>
            </a:pPr>
            <a:r>
              <a:rPr lang="en-US" sz="1200" b="1" dirty="0">
                <a:solidFill>
                  <a:srgbClr val="B71C1C"/>
                </a:solidFill>
                <a:latin typeface="Segoe UI" pitchFamily="34" charset="0"/>
                <a:ea typeface="Segoe UI" pitchFamily="34" charset="-122"/>
                <a:cs typeface="Segoe UI" pitchFamily="34" charset="-120"/>
              </a:rPr>
              <a:t>FAILURES TO AVOID</a:t>
            </a:r>
            <a:endParaRPr lang="en-US" sz="12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43632" y="1691640"/>
          <a:ext cx="11508821" cy="1828800"/>
        </p:xfrm>
        <a:graphic>
          <a:graphicData uri="http://schemas.openxmlformats.org/drawingml/2006/table">
            <a:tbl>
              <a:tblPr/>
              <a:tblGrid>
                <a:gridCol w="2706624"/>
                <a:gridCol w="4297680"/>
                <a:gridCol w="4517136"/>
              </a:tblGrid>
              <a:tr h="45720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Company</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Reason</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Lesson</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45720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EnerTech Solutions (US) (2018)</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Attempted greenfield entry without local partner; failed...</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Government channel requires established local partner</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45720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China Energy Services Group (2019)</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Aggressive low-price strategy eroded margins; exited...</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Price competition alone is unsustainable in...</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457200">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German ESCO GmbH (2016)</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Over-engineered solutions for Thai market; average...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Right-size technology for local conditions and budgets</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bl>
          </a:graphicData>
        </a:graphic>
      </p:graphicFrame>
      <p:sp>
        <p:nvSpPr>
          <p:cNvPr id="6" name="Text 3"/>
          <p:cNvSpPr/>
          <p:nvPr/>
        </p:nvSpPr>
        <p:spPr>
          <a:xfrm>
            <a:off x="343632" y="3657600"/>
            <a:ext cx="11508821" cy="274320"/>
          </a:xfrm>
          <a:prstGeom prst="rect">
            <a:avLst/>
          </a:prstGeom>
          <a:noFill/>
          <a:ln/>
        </p:spPr>
        <p:txBody>
          <a:bodyPr wrap="square" rtlCol="0" anchor="ctr"/>
          <a:lstStyle/>
          <a:p>
            <a:pPr indent="0" marL="0">
              <a:buNone/>
            </a:pPr>
            <a:r>
              <a:rPr lang="en-US" sz="1200" b="1" dirty="0">
                <a:solidFill>
                  <a:srgbClr val="2E7D32"/>
                </a:solidFill>
                <a:latin typeface="Segoe UI" pitchFamily="34" charset="0"/>
                <a:ea typeface="Segoe UI" pitchFamily="34" charset="-122"/>
                <a:cs typeface="Segoe UI" pitchFamily="34" charset="-120"/>
              </a:rPr>
              <a:t>SUCCESS FACTORS</a:t>
            </a:r>
            <a:endParaRPr lang="en-US" sz="1200" dirty="0"/>
          </a:p>
        </p:txBody>
      </p:sp>
      <p:sp>
        <p:nvSpPr>
          <p:cNvPr id="7" name="Text 4"/>
          <p:cNvSpPr/>
          <p:nvPr/>
        </p:nvSpPr>
        <p:spPr>
          <a:xfrm>
            <a:off x="343632" y="3977640"/>
            <a:ext cx="11508821" cy="914400"/>
          </a:xfrm>
          <a:prstGeom prst="rect">
            <a:avLst/>
          </a:prstGeom>
          <a:noFill/>
          <a:ln/>
        </p:spPr>
        <p:txBody>
          <a:bodyPr wrap="square" rtlCol="0" anchor="t"/>
          <a:lstStyle/>
          <a:p>
            <a:pPr marL="342900" indent="-342900">
              <a:buSzPct val="100000"/>
              <a:buChar char="•"/>
            </a:pPr>
            <a:r>
              <a:rPr lang="en-US" sz="1000" dirty="0">
                <a:solidFill>
                  <a:srgbClr val="000000"/>
                </a:solidFill>
                <a:latin typeface="Segoe UI" pitchFamily="34" charset="0"/>
                <a:ea typeface="Segoe UI" pitchFamily="34" charset="-122"/>
                <a:cs typeface="Segoe UI" pitchFamily="34" charset="-120"/>
              </a:rPr>
              <a:t>Local partner with government relationships is non-negotiable for public sector access</a:t>
            </a:r>
            <a:endParaRPr lang="en-US" sz="1000" dirty="0"/>
          </a:p>
          <a:p>
            <a:pPr marL="342900" indent="-342900">
              <a:buSzPct val="100000"/>
              <a:buChar char="•"/>
            </a:pPr>
            <a:r>
              <a:rPr lang="en-US" sz="1000" dirty="0">
                <a:solidFill>
                  <a:srgbClr val="000000"/>
                </a:solidFill>
                <a:latin typeface="Segoe UI" pitchFamily="34" charset="0"/>
                <a:ea typeface="Segoe UI" pitchFamily="34" charset="-122"/>
                <a:cs typeface="Segoe UI" pitchFamily="34" charset="-120"/>
              </a:rPr>
              <a:t>Guaranteed energy savings performance contracts build trust faster than consulting-only approaches</a:t>
            </a:r>
            <a:endParaRPr lang="en-US" sz="1000" dirty="0"/>
          </a:p>
          <a:p>
            <a:pPr marL="342900" indent="-342900">
              <a:buSzPct val="100000"/>
              <a:buChar char="•"/>
            </a:pPr>
            <a:r>
              <a:rPr lang="en-US" sz="1000" dirty="0">
                <a:solidFill>
                  <a:srgbClr val="000000"/>
                </a:solidFill>
                <a:latin typeface="Segoe UI" pitchFamily="34" charset="0"/>
                <a:ea typeface="Segoe UI" pitchFamily="34" charset="-122"/>
                <a:cs typeface="Segoe UI" pitchFamily="34" charset="-120"/>
              </a:rPr>
              <a:t>Thai decision-making is relationship-driven — invest 6-12 months in relationship building before expecting signed contracts</a:t>
            </a:r>
            <a:endParaRPr lang="en-US" sz="1000" dirty="0"/>
          </a:p>
        </p:txBody>
      </p:sp>
      <p:sp>
        <p:nvSpPr>
          <p:cNvPr id="8" name="Text 5"/>
          <p:cNvSpPr/>
          <p:nvPr/>
        </p:nvSpPr>
        <p:spPr>
          <a:xfrm>
            <a:off x="343632" y="5029200"/>
            <a:ext cx="11508821" cy="274320"/>
          </a:xfrm>
          <a:prstGeom prst="rect">
            <a:avLst/>
          </a:prstGeom>
          <a:noFill/>
          <a:ln/>
        </p:spPr>
        <p:txBody>
          <a:bodyPr wrap="square" rtlCol="0" anchor="ctr"/>
          <a:lstStyle/>
          <a:p>
            <a:pPr indent="0" marL="0">
              <a:buNone/>
            </a:pPr>
            <a:r>
              <a:rPr lang="en-US" sz="1200" b="1" dirty="0">
                <a:solidFill>
                  <a:srgbClr val="E46C0A"/>
                </a:solidFill>
                <a:latin typeface="Segoe UI" pitchFamily="34" charset="0"/>
                <a:ea typeface="Segoe UI" pitchFamily="34" charset="-122"/>
                <a:cs typeface="Segoe UI" pitchFamily="34" charset="-120"/>
              </a:rPr>
              <a:t>WARNING SIGNS</a:t>
            </a:r>
            <a:endParaRPr lang="en-US" sz="1200" dirty="0"/>
          </a:p>
        </p:txBody>
      </p:sp>
      <p:sp>
        <p:nvSpPr>
          <p:cNvPr id="9" name="Text 6"/>
          <p:cNvSpPr/>
          <p:nvPr/>
        </p:nvSpPr>
        <p:spPr>
          <a:xfrm>
            <a:off x="343632" y="5349240"/>
            <a:ext cx="11508821" cy="772119"/>
          </a:xfrm>
          <a:prstGeom prst="rect">
            <a:avLst/>
          </a:prstGeom>
          <a:noFill/>
          <a:ln/>
        </p:spPr>
        <p:txBody>
          <a:bodyPr wrap="square" rtlCol="0" anchor="t"/>
          <a:lstStyle/>
          <a:p>
            <a:pPr marL="342900" indent="-342900">
              <a:buSzPct val="100000"/>
              <a:buChar char="•"/>
            </a:pPr>
            <a:r>
              <a:rPr lang="en-US" sz="1000" dirty="0">
                <a:solidFill>
                  <a:srgbClr val="000000"/>
                </a:solidFill>
                <a:latin typeface="Segoe UI" pitchFamily="34" charset="0"/>
                <a:ea typeface="Segoe UI" pitchFamily="34" charset="-122"/>
                <a:cs typeface="Segoe UI" pitchFamily="34" charset="-120"/>
              </a:rPr>
              <a:t>New government energy minister may shift policy priorities — monitor cabinet reshuffle impacts</a:t>
            </a:r>
            <a:endParaRPr lang="en-US" sz="1000" dirty="0"/>
          </a:p>
          <a:p>
            <a:pPr marL="342900" indent="-342900">
              <a:buSzPct val="100000"/>
              <a:buChar char="•"/>
            </a:pPr>
            <a:r>
              <a:rPr lang="en-US" sz="1000" dirty="0">
                <a:solidFill>
                  <a:srgbClr val="000000"/>
                </a:solidFill>
                <a:latin typeface="Segoe UI" pitchFamily="34" charset="0"/>
                <a:ea typeface="Segoe UI" pitchFamily="34" charset="-122"/>
                <a:cs typeface="Segoe UI" pitchFamily="34" charset="-120"/>
              </a:rPr>
              <a:t>Rising interest rates could squeeze ESCO financing margins — stress-test deal models at 8% cost of capital</a:t>
            </a:r>
            <a:endParaRPr lang="en-US" sz="1000" dirty="0"/>
          </a:p>
          <a:p>
            <a:pPr marL="342900" indent="-342900">
              <a:buSzPct val="100000"/>
              <a:buChar char="•"/>
            </a:pPr>
            <a:r>
              <a:rPr lang="en-US" sz="1000" dirty="0">
                <a:solidFill>
                  <a:srgbClr val="000000"/>
                </a:solidFill>
                <a:latin typeface="Segoe UI" pitchFamily="34" charset="0"/>
                <a:ea typeface="Segoe UI" pitchFamily="34" charset="-122"/>
                <a:cs typeface="Segoe UI" pitchFamily="34" charset="-120"/>
              </a:rPr>
              <a:t>Chinese ESCO competitors re-entering market with improved offerings and BRI financing — monitor pricing pressure</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343632" y="44623"/>
            <a:ext cx="11508821" cy="831830"/>
          </a:xfrm>
          <a:prstGeom prst="rect">
            <a:avLst/>
          </a:prstGeom>
          <a:noFill/>
          <a:ln/>
        </p:spPr>
        <p:txBody>
          <a:bodyPr wrap="square" rtlCol="0" anchor="ctr"/>
          <a:lstStyle/>
          <a:p>
            <a:pPr indent="0" marL="0">
              <a:buNone/>
            </a:pPr>
            <a:r>
              <a:rPr lang="en-US" sz="1800" dirty="0">
                <a:solidFill>
                  <a:srgbClr val="1F497D"/>
                </a:solidFill>
                <a:latin typeface="Segoe UI" pitchFamily="34" charset="0"/>
                <a:ea typeface="Segoe UI" pitchFamily="34" charset="-122"/>
                <a:cs typeface="Segoe UI" pitchFamily="34" charset="-120"/>
              </a:rPr>
              <a:t>Table of Contents</a:t>
            </a:r>
            <a:endParaRPr lang="en-US" sz="18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43632" y="1371600"/>
          <a:ext cx="11508821" cy="914400"/>
        </p:xfrm>
        <a:graphic>
          <a:graphicData uri="http://schemas.openxmlformats.org/drawingml/2006/table">
            <a:tbl>
              <a:tblPr/>
              <a:tblGrid>
                <a:gridCol w="11508821"/>
              </a:tblGrid>
              <a:tr h="539496">
                <a:tc>
                  <a:txBody>
                    <a:bodyPr/>
                    <a:lstStyle/>
                    <a:p>
                      <a:pPr indent="0" marL="0">
                        <a:buNone/>
                      </a:pPr>
                      <a:r>
                        <a:rPr lang="en-US" sz="1800" dirty="0">
                          <a:solidFill>
                            <a:srgbClr val="000000"/>
                          </a:solidFill>
                          <a:latin typeface="Segoe UI" pitchFamily="34" charset="0"/>
                          <a:ea typeface="Segoe UI" pitchFamily="34" charset="-122"/>
                          <a:cs typeface="Segoe UI" pitchFamily="34" charset="-120"/>
                        </a:rPr>
                        <a:t>Policy &amp; Regulatory</a:t>
                      </a:r>
                      <a:endParaRPr lang="en-US" sz="1800" dirty="0">
                        <a:latin typeface="Segoe UI" charset="0"/>
                        <a:ea typeface="Segoe UI" charset="0"/>
                        <a:cs typeface="Segoe UI" charset="0"/>
                      </a:endParaRPr>
                    </a:p>
                  </a:txBody>
                  <a:tcPr marL="481066" marR="36576" marT="0" marB="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539496">
                <a:tc>
                  <a:txBody>
                    <a:bodyPr/>
                    <a:lstStyle/>
                    <a:p>
                      <a:pPr indent="0" marL="0">
                        <a:buNone/>
                      </a:pPr>
                      <a:r>
                        <a:rPr lang="en-US" sz="1800" dirty="0">
                          <a:solidFill>
                            <a:srgbClr val="000000"/>
                          </a:solidFill>
                          <a:latin typeface="Segoe UI" pitchFamily="34" charset="0"/>
                          <a:ea typeface="Segoe UI" pitchFamily="34" charset="-122"/>
                          <a:cs typeface="Segoe UI" pitchFamily="34" charset="-120"/>
                        </a:rPr>
                        <a:t>Market Overview</a:t>
                      </a:r>
                      <a:endParaRPr lang="en-US" sz="1800" dirty="0">
                        <a:latin typeface="Segoe UI" charset="0"/>
                        <a:ea typeface="Segoe UI" charset="0"/>
                        <a:cs typeface="Segoe UI" charset="0"/>
                      </a:endParaRPr>
                    </a:p>
                  </a:txBody>
                  <a:tcPr marL="481066" marR="36576" marT="0" marB="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539496">
                <a:tc>
                  <a:txBody>
                    <a:bodyPr/>
                    <a:lstStyle/>
                    <a:p>
                      <a:pPr indent="0" marL="0">
                        <a:buNone/>
                      </a:pPr>
                      <a:r>
                        <a:rPr lang="en-US" sz="1800" dirty="0">
                          <a:solidFill>
                            <a:srgbClr val="000000"/>
                          </a:solidFill>
                          <a:latin typeface="Segoe UI" pitchFamily="34" charset="0"/>
                          <a:ea typeface="Segoe UI" pitchFamily="34" charset="-122"/>
                          <a:cs typeface="Segoe UI" pitchFamily="34" charset="-120"/>
                        </a:rPr>
                        <a:t>Competitive Landscape</a:t>
                      </a:r>
                      <a:endParaRPr lang="en-US" sz="1800" dirty="0">
                        <a:latin typeface="Segoe UI" charset="0"/>
                        <a:ea typeface="Segoe UI" charset="0"/>
                        <a:cs typeface="Segoe UI" charset="0"/>
                      </a:endParaRPr>
                    </a:p>
                  </a:txBody>
                  <a:tcPr marL="481066" marR="36576" marT="0" marB="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539496">
                <a:tc>
                  <a:txBody>
                    <a:bodyPr/>
                    <a:lstStyle/>
                    <a:p>
                      <a:pPr indent="0" marL="0">
                        <a:buNone/>
                      </a:pPr>
                      <a:r>
                        <a:rPr lang="en-US" sz="1800" dirty="0">
                          <a:solidFill>
                            <a:srgbClr val="000000"/>
                          </a:solidFill>
                          <a:latin typeface="Segoe UI" pitchFamily="34" charset="0"/>
                          <a:ea typeface="Segoe UI" pitchFamily="34" charset="-122"/>
                          <a:cs typeface="Segoe UI" pitchFamily="34" charset="-120"/>
                        </a:rPr>
                        <a:t>Strategic Analysis</a:t>
                      </a:r>
                      <a:endParaRPr lang="en-US" sz="1800" dirty="0">
                        <a:latin typeface="Segoe UI" charset="0"/>
                        <a:ea typeface="Segoe UI" charset="0"/>
                        <a:cs typeface="Segoe UI" charset="0"/>
                      </a:endParaRPr>
                    </a:p>
                  </a:txBody>
                  <a:tcPr marL="481066" marR="36576" marT="0" marB="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539496">
                <a:tc>
                  <a:txBody>
                    <a:bodyPr/>
                    <a:lstStyle/>
                    <a:p>
                      <a:pPr indent="0" marL="0">
                        <a:buNone/>
                      </a:pPr>
                      <a:r>
                        <a:rPr lang="en-US" sz="1800" dirty="0">
                          <a:solidFill>
                            <a:srgbClr val="000000"/>
                          </a:solidFill>
                          <a:latin typeface="Segoe UI" pitchFamily="34" charset="0"/>
                          <a:ea typeface="Segoe UI" pitchFamily="34" charset="-122"/>
                          <a:cs typeface="Segoe UI" pitchFamily="34" charset="-120"/>
                        </a:rPr>
                        <a:t>Recommendations</a:t>
                      </a:r>
                      <a:endParaRPr lang="en-US" sz="1800" dirty="0">
                        <a:latin typeface="Segoe UI" charset="0"/>
                        <a:ea typeface="Segoe UI" charset="0"/>
                        <a:cs typeface="Segoe UI" charset="0"/>
                      </a:endParaRPr>
                    </a:p>
                  </a:txBody>
                  <a:tcPr marL="481066" marR="36576" marT="0" marB="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539496">
                <a:tc>
                  <a:txBody>
                    <a:bodyPr/>
                    <a:lstStyle/>
                    <a:p>
                      <a:pPr indent="0" marL="0">
                        <a:buNone/>
                      </a:pPr>
                      <a:r>
                        <a:rPr lang="en-US" sz="1800" b="1" dirty="0">
                          <a:solidFill>
                            <a:srgbClr val="000000"/>
                          </a:solidFill>
                          <a:latin typeface="Segoe UI" pitchFamily="34" charset="0"/>
                          <a:ea typeface="Segoe UI" pitchFamily="34" charset="-122"/>
                          <a:cs typeface="Segoe UI" pitchFamily="34" charset="-120"/>
                        </a:rPr>
                        <a:t>Appendix</a:t>
                      </a:r>
                      <a:endParaRPr lang="en-US" sz="1800" dirty="0">
                        <a:latin typeface="Segoe UI" charset="0"/>
                        <a:ea typeface="Segoe UI" charset="0"/>
                        <a:cs typeface="Segoe UI" charset="0"/>
                      </a:endParaRPr>
                    </a:p>
                  </a:txBody>
                  <a:tcPr marL="481066" marR="36576" marT="0" marB="0" anchor="ctr">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solidFill>
                      <a:srgbClr val="CCE5FF"/>
                    </a:solidFill>
                  </a:tcPr>
                </a:tc>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343632" y="44623"/>
            <a:ext cx="11508821" cy="1060430"/>
          </a:xfrm>
          <a:prstGeom prst="rect">
            <a:avLst/>
          </a:prstGeom>
          <a:noFill/>
          <a:ln/>
        </p:spPr>
        <p:txBody>
          <a:bodyPr wrap="square" rtlCol="0" anchor="t">
            <a:normAutofit/>
          </a:bodyPr>
          <a:lstStyle/>
          <a:p>
            <a:pPr indent="0" marL="0">
              <a:buNone/>
            </a:pPr>
            <a:r>
              <a:rPr lang="en-US" sz="2000" dirty="0">
                <a:solidFill>
                  <a:srgbClr val="1F497D"/>
                </a:solidFill>
                <a:latin typeface="Segoe UI" pitchFamily="34" charset="0"/>
                <a:ea typeface="Segoe UI" pitchFamily="34" charset="-122"/>
                <a:cs typeface="Segoe UI" pitchFamily="34" charset="-120"/>
              </a:rPr>
              <a:t>Thailand - Research Summary</a:t>
            </a:r>
            <a:pPr indent="0" marL="0">
              <a:spcBef>
                <a:spcPts val="200"/>
              </a:spcBef>
              <a:buNone/>
            </a:pPr>
            <a:r>
              <a:rPr lang="en-US" sz="1600" dirty="0">
                <a:solidFill>
                  <a:srgbClr val="1F497D"/>
                </a:solidFill>
                <a:latin typeface="Segoe UI" pitchFamily="34" charset="0"/>
                <a:ea typeface="Segoe UI" pitchFamily="34" charset="-122"/>
                <a:cs typeface="Segoe UI" pitchFamily="34" charset="-120"/>
              </a:rPr>
              <a:t>Analysis completed Feb 2026</a:t>
            </a:r>
            <a:endParaRPr lang="en-US" sz="2000" dirty="0"/>
          </a:p>
        </p:txBody>
      </p:sp>
      <p:sp>
        <p:nvSpPr>
          <p:cNvPr id="3" name="Text 1"/>
          <p:cNvSpPr/>
          <p:nvPr/>
        </p:nvSpPr>
        <p:spPr>
          <a:xfrm>
            <a:off x="343632" y="6121359"/>
            <a:ext cx="11508821" cy="246888"/>
          </a:xfrm>
          <a:prstGeom prst="rect">
            <a:avLst/>
          </a:prstGeom>
          <a:noFill/>
          <a:ln/>
        </p:spPr>
        <p:txBody>
          <a:bodyPr wrap="square" rtlCol="0" anchor="t"/>
          <a:lstStyle/>
          <a:p>
            <a:pPr indent="0" marL="0">
              <a:buNone/>
            </a:pPr>
            <a:r>
              <a:rPr lang="en-US" sz="1000" dirty="0">
                <a:solidFill>
                  <a:srgbClr val="999999"/>
                </a:solidFill>
                <a:latin typeface="Segoe UI" pitchFamily="34" charset="0"/>
                <a:ea typeface="Segoe UI" pitchFamily="34" charset="-122"/>
                <a:cs typeface="Segoe UI" pitchFamily="34" charset="-120"/>
              </a:rPr>
              <a:t>Source: YCP Analysis</a:t>
            </a:r>
            <a:endParaRPr lang="en-US" sz="1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43632" y="1371600"/>
          <a:ext cx="11508821" cy="1783080"/>
        </p:xfrm>
        <a:graphic>
          <a:graphicData uri="http://schemas.openxmlformats.org/drawingml/2006/table">
            <a:tbl>
              <a:tblPr/>
              <a:tblGrid>
                <a:gridCol w="3072384"/>
                <a:gridCol w="4297680"/>
                <a:gridCol w="4151376"/>
              </a:tblGrid>
              <a:tr h="356616">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Metric</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Value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Confidence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356616">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Market Size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THB 8.5 billion (2023)</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--/100</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356616">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Typical Deal Size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THB 25M</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356616">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Attractiveness</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8/10</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Large addressable market (THB 12B+) with strong growth drivers (carbon tax,...</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r h="356616">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Feasibility</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7/10</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c>
                  <a:txBody>
                    <a:bodyPr/>
                    <a:lstStyle/>
                    <a:p>
                      <a:pPr indent="0" marL="0">
                        <a:buNone/>
                      </a:pPr>
                      <a:r>
                        <a:rPr lang="en-US" sz="1400" dirty="0">
                          <a:solidFill>
                            <a:srgbClr val="000000"/>
                          </a:solidFill>
                          <a:latin typeface="Segoe UI" pitchFamily="34" charset="0"/>
                          <a:ea typeface="Segoe UI" pitchFamily="34" charset="-122"/>
                          <a:cs typeface="Segoe UI" pitchFamily="34" charset="-120"/>
                        </a:rPr>
                        <a:t>Established ESCO market with clear regulatory framework; main challenges are...</a:t>
                      </a:r>
                      <a:endParaRPr lang="en-US" sz="1400" dirty="0">
                        <a:latin typeface="Segoe UI" charset="0"/>
                        <a:ea typeface="Segoe UI" charset="0"/>
                        <a:cs typeface="Segoe UI" charset="0"/>
                      </a:endParaRPr>
                    </a:p>
                  </a:txBody>
                  <a:tcPr marL="36576" marR="36576" marT="0" marB="0" anchor="t">
                    <a:lnL w="12700" cap="flat" cmpd="sng" algn="ctr">
                      <a:solidFill>
                        <a:srgbClr val="BFBFBF"/>
                      </a:solidFill>
                      <a:prstDash val="sysDash"/>
                      <a:round/>
                      <a:headEnd type="none" w="med" len="med"/>
                      <a:tailEnd type="none" w="med" len="med"/>
                    </a:lnL>
                    <a:lnR w="12700" cap="flat" cmpd="sng" algn="ctr">
                      <a:solidFill>
                        <a:srgbClr val="BFBFBF"/>
                      </a:solidFill>
                      <a:prstDash val="sysDash"/>
                      <a:round/>
                      <a:headEnd type="none" w="med" len="med"/>
                      <a:tailEnd type="none" w="med" len="med"/>
                    </a:lnR>
                    <a:lnT w="12700" cap="flat" cmpd="sng" algn="ctr">
                      <a:solidFill>
                        <a:srgbClr val="BFBFBF"/>
                      </a:solidFill>
                      <a:prstDash val="sysDash"/>
                      <a:round/>
                      <a:headEnd type="none" w="med" len="med"/>
                      <a:tailEnd type="none" w="med" len="med"/>
                    </a:lnT>
                    <a:lnB w="12700" cap="flat" cmpd="sng" algn="ctr">
                      <a:solidFill>
                        <a:srgbClr val="BFBFBF"/>
                      </a:solidFill>
                      <a:prstDash val="sysDash"/>
                      <a:round/>
                      <a:headEnd type="none" w="med" len="med"/>
                      <a:tailEnd type="none" w="med" len="med"/>
                    </a:lnB>
                  </a:tcPr>
                </a:tc>
              </a:tr>
            </a:tbl>
          </a:graphicData>
        </a:graphic>
      </p:graphicFrame>
      <p:sp>
        <p:nvSpPr>
          <p:cNvPr id="5" name="Text 2"/>
          <p:cNvSpPr/>
          <p:nvPr/>
        </p:nvSpPr>
        <p:spPr>
          <a:xfrm>
            <a:off x="343632" y="3657600"/>
            <a:ext cx="11508821" cy="822960"/>
          </a:xfrm>
          <a:prstGeom prst="rect">
            <a:avLst/>
          </a:prstGeom>
          <a:solidFill>
            <a:srgbClr val="EDFDFF"/>
          </a:solidFill>
          <a:ln>
            <a:solidFill>
              <a:srgbClr val="007FFF"/>
            </a:solidFill>
          </a:ln>
        </p:spPr>
        <p:txBody>
          <a:bodyPr wrap="square" lIns="63500" tIns="101600" rIns="101600" bIns="63500" rtlCol="0" anchor="t">
            <a:normAutofit/>
          </a:bodyPr>
          <a:lstStyle/>
          <a:p>
            <a:pPr indent="0" marL="0">
              <a:buNone/>
            </a:pPr>
            <a:r>
              <a:rPr lang="en-US" sz="1200" b="1" dirty="0">
                <a:solidFill>
                  <a:srgbClr val="007FFF"/>
                </a:solidFill>
                <a:latin typeface="Segoe UI" pitchFamily="34" charset="0"/>
                <a:ea typeface="Segoe UI" pitchFamily="34" charset="-122"/>
                <a:cs typeface="Segoe UI" pitchFamily="34" charset="-120"/>
              </a:rPr>
              <a:t>VERDICT: CONDITIONAL GO
</a:t>
            </a:r>
            <a:pPr indent="0" marL="0">
              <a:buNone/>
            </a:pPr>
            <a:r>
              <a:rPr lang="en-US" sz="1100" dirty="0">
                <a:solidFill>
                  <a:srgbClr val="000000"/>
                </a:solidFill>
                <a:latin typeface="Segoe UI" pitchFamily="34" charset="0"/>
                <a:ea typeface="Segoe UI" pitchFamily="34" charset="-122"/>
                <a:cs typeface="Segoe UI" pitchFamily="34" charset="-120"/>
              </a:rPr>
              <a:t>Secure local JV partner with DEDE registration by Q2 2025; Obtain BOI promotion before committing full investment</a:t>
            </a:r>
            <a:endParaRPr lang="en-US" sz="1200" dirty="0"/>
          </a:p>
        </p:txBody>
      </p:sp>
      <p:sp>
        <p:nvSpPr>
          <p:cNvPr id="6" name="Text 3"/>
          <p:cNvSpPr/>
          <p:nvPr/>
        </p:nvSpPr>
        <p:spPr>
          <a:xfrm>
            <a:off x="343632" y="6121359"/>
            <a:ext cx="11508821" cy="246888"/>
          </a:xfrm>
          <a:prstGeom prst="rect">
            <a:avLst/>
          </a:prstGeom>
          <a:noFill/>
          <a:ln/>
        </p:spPr>
        <p:txBody>
          <a:bodyPr wrap="square" rtlCol="0" anchor="t"/>
          <a:lstStyle/>
          <a:p>
            <a:pPr indent="0" marL="0">
              <a:buNone/>
            </a:pPr>
            <a:r>
              <a:rPr lang="en-US" sz="1000" dirty="0">
                <a:solidFill>
                  <a:srgbClr val="808080"/>
                </a:solidFill>
                <a:latin typeface="Segoe UI" pitchFamily="34" charset="0"/>
                <a:ea typeface="Segoe UI" pitchFamily="34" charset="-122"/>
                <a:cs typeface="Segoe UI" pitchFamily="34" charset="-120"/>
              </a:rPr>
              <a:t>Sources: </a:t>
            </a:r>
            <a:pPr indent="0" marL="0">
              <a:buNone/>
            </a:pPr>
            <a:r>
              <a:rPr lang="en-US" sz="1000" dirty="0">
                <a:solidFill>
                  <a:srgbClr val="808080"/>
                </a:solidFill>
                <a:latin typeface="Segoe UI" pitchFamily="34" charset="0"/>
                <a:ea typeface="Segoe UI" pitchFamily="34" charset="-122"/>
                <a:cs typeface="Segoe UI" pitchFamily="34" charset="-120"/>
              </a:rPr>
              <a:t>Government statistical agencies</a:t>
            </a:r>
            <a:pPr indent="0" marL="0">
              <a:buNone/>
            </a:pPr>
            <a:r>
              <a:rPr lang="en-US" sz="1000" dirty="0">
                <a:solidFill>
                  <a:srgbClr val="808080"/>
                </a:solidFill>
                <a:latin typeface="Segoe UI" pitchFamily="34" charset="0"/>
                <a:ea typeface="Segoe UI" pitchFamily="34" charset="-122"/>
                <a:cs typeface="Segoe UI" pitchFamily="34" charset="-120"/>
              </a:rPr>
              <a:t>, </a:t>
            </a:r>
            <a:pPr indent="0" marL="0">
              <a:buNone/>
            </a:pPr>
            <a:r>
              <a:rPr lang="en-US" sz="1000" dirty="0">
                <a:solidFill>
                  <a:srgbClr val="808080"/>
                </a:solidFill>
                <a:latin typeface="Segoe UI" pitchFamily="34" charset="0"/>
                <a:ea typeface="Segoe UI" pitchFamily="34" charset="-122"/>
                <a:cs typeface="Segoe UI" pitchFamily="34" charset="-120"/>
              </a:rPr>
              <a:t>Industry associations</a:t>
            </a:r>
            <a:pPr indent="0" marL="0">
              <a:buNone/>
            </a:pPr>
            <a:r>
              <a:rPr lang="en-US" sz="1000" dirty="0">
                <a:solidFill>
                  <a:srgbClr val="808080"/>
                </a:solidFill>
                <a:latin typeface="Segoe UI" pitchFamily="34" charset="0"/>
                <a:ea typeface="Segoe UI" pitchFamily="34" charset="-122"/>
                <a:cs typeface="Segoe UI" pitchFamily="34" charset="-120"/>
              </a:rPr>
              <a:t>, </a:t>
            </a:r>
            <a:pPr indent="0" marL="0">
              <a:buNone/>
            </a:pPr>
            <a:r>
              <a:rPr lang="en-US" sz="1000" dirty="0">
                <a:solidFill>
                  <a:srgbClr val="808080"/>
                </a:solidFill>
                <a:latin typeface="Segoe UI" pitchFamily="34" charset="0"/>
                <a:ea typeface="Segoe UI" pitchFamily="34" charset="-122"/>
                <a:cs typeface="Segoe UI" pitchFamily="34" charset="-120"/>
              </a:rPr>
              <a:t>Company filings and annual reports</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Thailand - Energy Services Market Analysis</dc:title>
  <dc:subject>market-entry</dc:subject>
  <dc:creator>YCP Market Research</dc:creator>
  <cp:lastModifiedBy>YCP Market Research</cp:lastModifiedBy>
  <cp:revision>1</cp:revision>
  <dcterms:created xsi:type="dcterms:W3CDTF">2026-02-11T06:45:38Z</dcterms:created>
  <dcterms:modified xsi:type="dcterms:W3CDTF">2026-02-11T06:45:38Z</dcterms:modified>
</cp:coreProperties>
</file>