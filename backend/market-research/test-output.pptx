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00000"/>
                </a:solidFill>
                <a:latin typeface="Segoe UI"/>
              </a:defRPr>
            </a:pPr>
            <a:r>
              <a:rPr sz="1400" b="0" i="0" u="none" strike="noStrike">
                <a:solidFill>
                  <a:srgbClr val="000000"/>
                </a:solidFill>
                <a:latin typeface="Segoe UI"/>
              </a:rPr>
              <a:t>TPES by Source (%)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Natural Gas</c:v>
                </c:pt>
              </c:strCache>
            </c:strRef>
          </c:tx>
          <c:spPr>
            <a:solidFill>
              <a:srgbClr val="C050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2020</c:v>
                  </c:pt>
                  <c:pt idx="1">
                    <c:v>2021</c:v>
                  </c:pt>
                  <c:pt idx="2">
                    <c:v>2022</c:v>
                  </c:pt>
                  <c:pt idx="3">
                    <c:v>2023</c:v>
                  </c:pt>
                  <c:pt idx="4">
                    <c:v>2024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</c:v>
                </c:pt>
                <c:pt idx="1">
                  <c:v>41</c:v>
                </c:pt>
                <c:pt idx="2">
                  <c:v>40</c:v>
                </c:pt>
                <c:pt idx="3">
                  <c:v>39</c:v>
                </c:pt>
                <c:pt idx="4">
                  <c:v>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Oil</c:v>
                </c:pt>
              </c:strCache>
            </c:strRef>
          </c:tx>
          <c:spPr>
            <a:solidFill>
              <a:srgbClr val="4F81B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2020</c:v>
                  </c:pt>
                  <c:pt idx="1">
                    <c:v>2021</c:v>
                  </c:pt>
                  <c:pt idx="2">
                    <c:v>2022</c:v>
                  </c:pt>
                  <c:pt idx="3">
                    <c:v>2023</c:v>
                  </c:pt>
                  <c:pt idx="4">
                    <c:v>2024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35</c:v>
                </c:pt>
                <c:pt idx="1">
                  <c:v>34</c:v>
                </c:pt>
                <c:pt idx="2">
                  <c:v>33</c:v>
                </c:pt>
                <c:pt idx="3">
                  <c:v>32</c:v>
                </c:pt>
                <c:pt idx="4">
                  <c:v>31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Renewable</c:v>
                </c:pt>
              </c:strCache>
            </c:strRef>
          </c:tx>
          <c:spPr>
            <a:solidFill>
              <a:srgbClr val="9BBB5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2020</c:v>
                  </c:pt>
                  <c:pt idx="1">
                    <c:v>2021</c:v>
                  </c:pt>
                  <c:pt idx="2">
                    <c:v>2022</c:v>
                  </c:pt>
                  <c:pt idx="3">
                    <c:v>2023</c:v>
                  </c:pt>
                  <c:pt idx="4">
                    <c:v>2024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15</c:v>
                </c:pt>
                <c:pt idx="1">
                  <c:v>17</c:v>
                </c:pt>
                <c:pt idx="2">
                  <c:v>19</c:v>
                </c:pt>
                <c:pt idx="3">
                  <c:v>21</c:v>
                </c:pt>
                <c:pt idx="4">
                  <c:v>23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Coal</c:v>
                </c:pt>
              </c:strCache>
            </c:strRef>
          </c:tx>
          <c:spPr>
            <a:solidFill>
              <a:srgbClr val="8064A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2020</c:v>
                  </c:pt>
                  <c:pt idx="1">
                    <c:v>2021</c:v>
                  </c:pt>
                  <c:pt idx="2">
                    <c:v>2022</c:v>
                  </c:pt>
                  <c:pt idx="3">
                    <c:v>2023</c:v>
                  </c:pt>
                  <c:pt idx="4">
                    <c:v>2024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8</c:v>
                </c:pt>
                <c:pt idx="1">
                  <c:v>8</c:v>
                </c:pt>
                <c:pt idx="2">
                  <c:v>8</c:v>
                </c:pt>
                <c:pt idx="3">
                  <c:v>8</c:v>
                </c:pt>
                <c:pt idx="4">
                  <c:v>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FFFFF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286000"/>
            <a:ext cx="1219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49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Thailand Market Analysis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0" y="3291840"/>
            <a:ext cx="1219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Energy Services | YCP Research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7432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9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Thailand - Total Primary Energy Supply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20040" y="7315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Natural gas dominates at 42%, but renewables growing 8% annually</a:t>
            </a:r>
            <a:endParaRPr lang="en-US" sz="1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20040" y="1188720"/>
          <a:ext cx="80467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8686800" y="11887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Insights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8686800" y="1508760"/>
            <a:ext cx="3108960" cy="0"/>
          </a:xfrm>
          <a:prstGeom prst="line">
            <a:avLst/>
          </a:prstGeom>
          <a:noFill/>
          <a:ln w="19050">
            <a:solidFill>
              <a:srgbClr val="1F497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86800" y="1645920"/>
            <a:ext cx="3108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Natural Gas: 38% (declining)</a:t>
            </a:r>
            <a:endParaRPr lang="en-US" sz="1000" dirty="0"/>
          </a:p>
          <a:p>
            <a:r>
              <a:rPr lang="en-US" sz="1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Renewables: 23% (growing 8% p.a.)</a:t>
            </a:r>
            <a:endParaRPr lang="en-US" sz="1000" dirty="0"/>
          </a:p>
          <a:p>
            <a:r>
              <a:rPr lang="en-US" sz="1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Oil: 31% (stable)</a:t>
            </a:r>
            <a:endParaRPr lang="en-US" sz="1000" dirty="0"/>
          </a:p>
          <a:p>
            <a:r>
              <a:rPr lang="en-US" sz="1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Transition to cleaner mix underway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7432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9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Thailand - ESCO Market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20040" y="7315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$450M (2024) | 12% CAGR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188720"/>
            <a:ext cx="11430000" cy="1097280"/>
          </a:xfrm>
          <a:prstGeom prst="rect">
            <a:avLst/>
          </a:prstGeom>
          <a:solidFill>
            <a:srgbClr val="E3F2FD"/>
          </a:solidFill>
          <a:ln w="19050">
            <a:solidFill>
              <a:srgbClr val="2196F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280160"/>
            <a:ext cx="11155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5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 Overview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60020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Market Size: $450M (2024) • Growth: 12% CAGR • Industrial segment largest at 44% • Strong government support for efficiency</a:t>
            </a:r>
            <a:endParaRPr lang="en-US" sz="1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2468880"/>
          <a:ext cx="11430000" cy="1828800"/>
        </p:xfrm>
        <a:graphic>
          <a:graphicData uri="http://schemas.openxmlformats.org/drawingml/2006/table">
            <a:tbl>
              <a:tblPr/>
              <a:tblGrid>
                <a:gridCol w="6113721"/>
                <a:gridCol w="2658140"/>
                <a:gridCol w="26581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Segment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Size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Share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Industrial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$200M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44%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Commercial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$150M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33%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Public Sector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$100M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23%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7432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9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Thailand - Japanese Energy Companies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20040" y="7315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Strong presence in upstream, limited ESCO activity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229600" cy="2743200"/>
        </p:xfrm>
        <a:graphic>
          <a:graphicData uri="http://schemas.openxmlformats.org/drawingml/2006/table">
            <a:tbl>
              <a:tblPr/>
              <a:tblGrid>
                <a:gridCol w="1234440"/>
                <a:gridCol w="2743200"/>
                <a:gridCol w="2880360"/>
                <a:gridCol w="137160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Company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Presence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Projects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Assessment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JERA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Power generation JV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Gulf JERA (2,500 MW)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Strong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Osaka Gas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LNG trading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PTT LNG supply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Moderate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Tokyo Gas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Engineering services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Industrial efficiency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Growing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686800" y="11887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Insights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8686800" y="1508760"/>
            <a:ext cx="3017520" cy="0"/>
          </a:xfrm>
          <a:prstGeom prst="line">
            <a:avLst/>
          </a:prstGeom>
          <a:noFill/>
          <a:ln w="19050">
            <a:solidFill>
              <a:srgbClr val="1F497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86800" y="1645920"/>
            <a:ext cx="30175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Japanese players identified</a:t>
            </a:r>
            <a:endParaRPr lang="en-US" sz="1000" dirty="0"/>
          </a:p>
          <a:p>
            <a:r>
              <a:rPr lang="en-US" sz="1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JERA: Strong (power generation)</a:t>
            </a:r>
            <a:endParaRPr lang="en-US" sz="1000" dirty="0"/>
          </a:p>
          <a:p>
            <a:r>
              <a:rPr lang="en-US" sz="1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Limited ESCO activity currently</a:t>
            </a:r>
            <a:endParaRPr lang="en-US" sz="1000" dirty="0"/>
          </a:p>
          <a:p>
            <a:r>
              <a:rPr lang="en-US" sz="1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Opportunity for first-mover advantage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7432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9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Thailand - Market Entry Case Study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20040" y="7315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Successful foreign market entry example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5486400" cy="2743200"/>
        </p:xfrm>
        <a:graphic>
          <a:graphicData uri="http://schemas.openxmlformats.org/drawingml/2006/table">
            <a:tbl>
              <a:tblPr/>
              <a:tblGrid>
                <a:gridCol w="1645920"/>
                <a:gridCol w="38404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Company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Engie (France)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Entry Year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2016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Entry Mode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Acquisition + JV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Investment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$500M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Outcome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Profitable within 3 years, now #2 foreign player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943600" y="1188720"/>
            <a:ext cx="5760720" cy="4114800"/>
          </a:xfrm>
          <a:prstGeom prst="rect">
            <a:avLst/>
          </a:prstGeom>
          <a:solidFill>
            <a:srgbClr val="E8F5E9"/>
          </a:solidFill>
          <a:ln w="19050">
            <a:solidFill>
              <a:srgbClr val="4CAF50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080760" y="1280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7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Lessons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080760" y="1600200"/>
            <a:ext cx="5486400" cy="3611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Local partner essential for regulatory navigation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BOI promotion critical for foreign ownership &gt;49%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Industrial customers more receptive than commercial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Long sales cycles (12-18 months) require patience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7432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9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Thailand - Entry Strategy Options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20040" y="7315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JV with local ESCO recommended for fastest market access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188720"/>
          <a:ext cx="8229600" cy="1828800"/>
        </p:xfrm>
        <a:graphic>
          <a:graphicData uri="http://schemas.openxmlformats.org/drawingml/2006/table">
            <a:tbl>
              <a:tblPr/>
              <a:tblGrid>
                <a:gridCol w="2228850"/>
                <a:gridCol w="2057400"/>
                <a:gridCol w="1714500"/>
                <a:gridCol w="1200150"/>
                <a:gridCol w="10287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Option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Timeline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Investment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Control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Risk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Joint Venture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6-12 months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$10-20M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Shared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Medium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Acquisition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12-18 months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$50-100M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Full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High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Greenfield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18-24 months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$5-15M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Full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Low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686800" y="11887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49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Insights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8686800" y="1508760"/>
            <a:ext cx="3017520" cy="0"/>
          </a:xfrm>
          <a:prstGeom prst="line">
            <a:avLst/>
          </a:prstGeom>
          <a:noFill/>
          <a:ln w="19050">
            <a:solidFill>
              <a:srgbClr val="1F497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686800" y="1645920"/>
            <a:ext cx="30175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r>
              <a:rPr lang="en-US" sz="1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Recommended: Joint Venture</a:t>
            </a:r>
            <a:endParaRPr lang="en-US" sz="1000" dirty="0"/>
          </a:p>
          <a:p>
            <a:r>
              <a:rPr lang="en-US" sz="1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entry options analyzed</a:t>
            </a:r>
            <a:endParaRPr lang="en-US" sz="1000" dirty="0"/>
          </a:p>
          <a:p>
            <a:r>
              <a:rPr lang="en-US" sz="1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JV fastest at 6-12 months</a:t>
            </a:r>
            <a:endParaRPr lang="en-US" sz="1000" dirty="0"/>
          </a:p>
          <a:p>
            <a:r>
              <a:rPr lang="en-US" sz="10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Greenfield lowest risk</a:t>
            </a:r>
            <a:endParaRPr lang="en-US" sz="10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74720"/>
          <a:ext cx="11430000" cy="22860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3200400"/>
              </a:tblGrid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Criteria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Joint Venture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Acquisition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Greenfield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97D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Speed to Market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●●●●●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●●●○○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●○○○○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Investment Required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●●●○○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●○○○○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●●●●○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Control Level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●●●○○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●●●●●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●●●●●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Risk Profile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●●●○○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●●○○○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●●●●○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Local Knowledge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●●●●●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●●●●○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●○○○○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274320"/>
            <a:ext cx="11430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97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Thailand - Opportunities &amp; Obstacles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320040" y="73152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Summary of key factors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20040" y="1188720"/>
            <a:ext cx="5486400" cy="4572000"/>
          </a:xfrm>
          <a:prstGeom prst="rect">
            <a:avLst/>
          </a:prstGeom>
          <a:solidFill>
            <a:srgbClr val="E8F5E9"/>
          </a:solidFill>
          <a:ln w="19050">
            <a:solidFill>
              <a:srgbClr val="4CAF5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12801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3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OPPORTUNITIES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1737360"/>
            <a:ext cx="512064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Growing industrial energy efficiency demand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Government incentives for green investments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Limited Japanese competition in ESCO segment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Strong GDP growth driving energy consumption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26480" y="1188720"/>
            <a:ext cx="5486400" cy="4572000"/>
          </a:xfrm>
          <a:prstGeom prst="rect">
            <a:avLst/>
          </a:prstGeom>
          <a:solidFill>
            <a:srgbClr val="FFF3E0"/>
          </a:solidFill>
          <a:ln w="19050">
            <a:solidFill>
              <a:srgbClr val="FF98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309360" y="12801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65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⚠ OBSTACLES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309360" y="1737360"/>
            <a:ext cx="512064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⚠ 49% foreign ownership limit without BOI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⚠ Long sales cycles in B2B segment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⚠ Price-sensitive market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⚠ Limited local talent pool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Market Research - Thailand</dc:title>
  <dc:subject>PptxGenJS Presentation</dc:subject>
  <dc:creator>YCP Market Research</dc:creator>
  <cp:lastModifiedBy>YCP Market Research</cp:lastModifiedBy>
  <cp:revision>1</cp:revision>
  <dcterms:created xsi:type="dcterms:W3CDTF">2026-01-17T15:44:59Z</dcterms:created>
  <dcterms:modified xsi:type="dcterms:W3CDTF">2026-01-17T15:44:59Z</dcterms:modified>
</cp:coreProperties>
</file>