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egoe UI"/>
              </a:rPr>
              <a:t>TPES by Source ($USD Million)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Oilfield Services Market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1500</c:v>
                </c:pt>
                <c:pt idx="1">
                  <c:v>1553</c:v>
                </c:pt>
                <c:pt idx="2">
                  <c:v>1607</c:v>
                </c:pt>
                <c:pt idx="3">
                  <c:v>1663</c:v>
                </c:pt>
                <c:pt idx="4">
                  <c:v>1721</c:v>
                </c:pt>
                <c:pt idx="5">
                  <c:v>1781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Subsea Services Segment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430</c:v>
                </c:pt>
                <c:pt idx="1">
                  <c:v>445</c:v>
                </c:pt>
                <c:pt idx="2">
                  <c:v>461</c:v>
                </c:pt>
                <c:pt idx="3">
                  <c:v>477</c:v>
                </c:pt>
                <c:pt idx="4">
                  <c:v>494</c:v>
                </c:pt>
                <c:pt idx="5">
                  <c:v>512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egoe UI"/>
              </a:rPr>
              <a:t>Demand by Sector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Project Spending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Brownfield Projects</c:v>
                  </c:pt>
                  <c:pt idx="1">
                    <c:v>Greenfield Projects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egoe UI"/>
              </a:rPr>
              <a:t>Power Generation Mix (% of Oilfield Services Spend)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FFF"/>
              </a:solidFill>
              <a:effectLst/>
            </c:spPr>
          </c:dPt>
          <c:dPt>
            <c:idx val="1"/>
            <c:bubble3D val="0"/>
            <c:spPr>
              <a:solidFill>
                <a:srgbClr val="011AB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OPEX</c:v>
                </c:pt>
                <c:pt idx="1">
                  <c:v>CAPEX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egoe UI"/>
              </a:rPr>
              <a:t>Gas Supply Trend (bcfd / mtpa)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 Gas Production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LNG Import Capacity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11.5</c:v>
                </c:pt>
                <c:pt idx="1">
                  <c:v>11.5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egoe UI"/>
              </a:rPr>
              <a:t>Energy Price Trends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Jack-Up Rig Day Rate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 Forecast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PSV (Platform Supply Vessel) Day Rate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 Forecast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egoe UI"/>
              </a:rPr>
              <a:t>Market Segments (% of Oilfield Services Market)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Drilling</c:v>
                  </c:pt>
                  <c:pt idx="1">
                    <c:v>Completion &amp; Intervention</c:v>
                  </c:pt>
                  <c:pt idx="2">
                    <c:v>Other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 services Market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Research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December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Energy Foundational Acts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local content mandate enforced; 49% foreign ownership cap strictly applied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3017520"/>
                <a:gridCol w="2743200"/>
              </a:tblGrid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 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Enforcement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Business Act B.E.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1999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Foreign-owned oilfield service companies subject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Enforced for market access (Source: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Content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 local content for oilfield services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Enforced through periodic audits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Data Protection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Governs data sovereignty for cloud-based oilfield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Enforcement ongoing (Source: Depth 2)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National Energy Policy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is actively enforcing decarbonization (fines issued in 2023 for non-compliance)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Deadline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Methane Emissions Reduction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 by 2025 vs 2015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Announced, part of Global Methane Pledge (Source: Policy 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Renewable Energy Share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 by 2037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Legislated (Source: Policy 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Flaring Reduction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 reduction by 2025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Regulated by DMF (Source: Policy 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Zero Emissions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2050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Legislated (Source: Policy 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57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Initiatives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402336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Tax introduction: 30 baht/ton CO2e in 2025, rising to 120 baht by 2030 (Source: Policy 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4.0 Initiative: Digital transformation of energy sector (Source: Policy 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BCG Model (Bio-Circular-Green): Promotes sustainable economic development (Source: Competitors 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Foreign Investment Rules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 restrictions are strictly enforced, but BOI incentives and tax benefits provide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Details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General Sectors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49% foreign, 51% Thai (Foreign Business Act)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BOI-promoted renewable energy and high-tech projects may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BOI Promoted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foreign allowed for BOI-promoted projects in specific sectors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Tax incentives apply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11430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Incentive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Eligibility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BOI Tax Incentive for Offshore Drilling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 reduction in corporate income tax for first 5 years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Offshore drilling service providers (Source: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CCUS Tax Credit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Tax credit up to 50% of investment, max 500 million baht (~$15M) per project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CCUS service providers (Source: Policy 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VAT &amp; Customs Exemptions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VAT exemption on imported oilfield equipment; 0% customs duty for subsea equipment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Oilfield service companies (Source: Policy 2)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6C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Risk: MEDIUM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Oilfield Services Market Size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growing at ~3.5% CAGR; subsea services forecast to reach $0.5B by 2028.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Customer Demand Drivers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Brownfield focus indicates steady, low-risk demand for maintenance and optimization services.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Aging Infrastructure: 350 wells require workover in 2024 (Source: Market 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NOC Investment: PTTEP announced $1.2B in new offshore projects in 2023 (Source: Market 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Deepwater Exploration: Gulf of Thailand focus requiring HPHT capabilities (Source: Market 2)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Industry Operational Trends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active drilling rigs in 2023, forecast to grow to 25 by 2026.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8288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Growth: Rig count forecast to grow 25% by 2026 (from 20 to 25).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Trend: Market shifting from operational expenditures to capital investments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Gas &amp; Offshore Project Economics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Extensive pipeline network in Gulf of Thailand, but aging infrastructure requires investment.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0"/>
          <a:ext cx="11430000" cy="1371600"/>
        </p:xfrm>
        <a:graphic>
          <a:graphicData uri="http://schemas.openxmlformats.org/drawingml/2006/table">
            <a:tbl>
              <a:tblPr/>
              <a:tblGrid>
                <a:gridCol w="3657600"/>
                <a:gridCol w="2423160"/>
                <a:gridCol w="24231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Terminal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Capacity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Ta Phut LNG Terminal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 mtpa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High, supporting import needs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Service Pricing &amp; Costs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Modest upward pressure on day rates due to increased offshore activity and limited fleet.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Comparison: Rig rates are competitive regionally; vessel rates vary based on specification.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Energy Services Competitive Landscape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$1.5 billion in 2023 (Oilfield Services) | ~3.5% CAGR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0"/>
          <a:ext cx="11430000" cy="1371600"/>
        </p:xfrm>
        <a:graphic>
          <a:graphicData uri="http://schemas.openxmlformats.org/drawingml/2006/table">
            <a:tbl>
              <a:tblPr/>
              <a:tblGrid>
                <a:gridCol w="3657600"/>
                <a:gridCol w="2423160"/>
                <a:gridCol w="24231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Drilling 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$900M (estimated 60% share)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Completion &amp; Well Intervention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$450M (estimated 30% share)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 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$150M (estimated 10% share)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Japanese Energy Companies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Japanese majors are present in commodities and infrastructure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743200"/>
                <a:gridCol w="1645920"/>
              </a:tblGrid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Assessment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Mitsubishi Corporation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with Local Partner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Investments in LNG and power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 in LNG/value chain, weak in upstream 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Tokyo Gas / Osaka Gas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Likely trading and investment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Potential LNG offtake agreements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 in gas marketing, no upstream service footprint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Major Local Players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is highly concentrated around PTTEP, making it the essential partner or customer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371600"/>
                <a:gridCol w="1188720"/>
                <a:gridCol w="2926080"/>
              </a:tblGrid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Share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Strengths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PTT Exploration &amp; Production (PTTEP)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State-owned (subsidiary of PTT)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$4.4 billion (2021)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~70% of Thailand's oil production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Dominant NOC, control of acreage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Banpu Public Company Limited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Conglomerate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not available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Significant in power generation and mining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Diversified energy player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Foreign Service Companies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players are entrenched but rely on JVs for market access;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188720"/>
                <a:gridCol w="1828800"/>
                <a:gridCol w="1828800"/>
              </a:tblGrid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Year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Schlumberger (now SLB)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Long-established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&amp; Direct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Halliburton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Long-established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(e.g., Halliburton PTTEP Energy Services JV, Jan 2024)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Baker Hughes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Long-established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&amp; Partnerships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Weatherford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Long-established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(asset sale in 2023)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(exited drilling services segment)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Market Entry Case Study: Halliburton-PTTEP JV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should pursue a similar JV model with PTTEP or a major local contractor to gain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1430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Company: Halliburton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Year: 2024 (JV formation)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Mode: Joint Venture (Halliburton PTTEP Energy Services Co., Ltd.)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Investment: Specific amount not disclosed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Aimed at providing drilling/completion services for PTTEP's offshore projects.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02336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JV with the NOC provides direct access to its project pipeline.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on a specific service line (drilling/completion) aligns with PTTEP's offshore plans.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meets local content and partnership requirements.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M&amp;A &amp; Strategic Activity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EBITDA multiples for oilfield services acquisitions averaged ~7.5x in 2023 regionally.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18288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645920"/>
                <a:gridCol w="1371600"/>
                <a:gridCol w="310896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Rationale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Schlumberger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Weatherford's drilling services business in Thailand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disclosed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Acquire local footprint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Halliburton &amp; PTTEP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 - Formed JV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disclosed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 technology with local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Acquisition Targets</a:t>
            </a:r>
            <a:endParaRPr lang="en-US" sz="1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66160"/>
          <a:ext cx="114300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657600"/>
                <a:gridCol w="164592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 Value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Rationale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specialized service companies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$10-50M (estimated)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Acquire local staff, certifications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Service Contract Economics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Economics are opaque but driven by operational performance;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47472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Deal Size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 million - $300 million (NOC tender batch value)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Avg: $10-50 million for major service packages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 Duration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Increasing to 5-7 years for integrated packages (Source: Insights 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Savings Split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applicable for traditional oilfield services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Performance bonuses and penalties included in drilling contracts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Payback Period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not available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IRR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not available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Margin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Margin structures for services like wireline are not publicly disclosed (Source: Depth 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0292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Financing Options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BOI tax holidays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bank financing via Thai JV partner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Partner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Pursue a JV with PTTEP as the primary goal, but simultaneously evaluate acquisition of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188720"/>
                <a:gridCol w="1188720"/>
                <a:gridCol w="1188720"/>
                <a:gridCol w="1920240"/>
              </a:tblGrid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Partnership Fit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 Fit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 Value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PTT Exploration &amp;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National Oil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$4.4 billion (2021)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(not acquirable)/5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Major Local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Contracto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$100-500M (estimated)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$10-50M (estimated)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Entry Strategy Options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Venture is the mandatory and recommended path.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22860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188720"/>
                <a:gridCol w="1188720"/>
                <a:gridCol w="914400"/>
                <a:gridCol w="292608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Pros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Joint Venture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6-12 months (incl. negotiation &amp; licensing)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$10-50M+ (capital + technology contribution)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Minority (max 49%)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Meets legal requirement;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9-18 months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$10-50M+ (acquisition cost)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(but may need to restructure ownership to comply with 49% cap)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capabilities and staff;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Greenfield (100% owned)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12-24 months (including 6-9 month licensing)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$10M+ (minimum capital requirement ~$300k, but operational scale needs more)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(if BOI-promoted project, otherwise not allowed)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control; Build desired culture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57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Matrix (1-5 scale)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23360"/>
          <a:ext cx="11430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057400"/>
                <a:gridCol w="20574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Joint Venture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Greenfield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 to Market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●○○○○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 Required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●●○○○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●●○○○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Knowledge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●○○○○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Implementation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$15-30 million over 3 years | Breakeven: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2743200" cy="365760"/>
          </a:xfrm>
          <a:prstGeom prst="rect">
            <a:avLst/>
          </a:prstGeom>
          <a:solidFill>
            <a:srgbClr val="007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Partnering &amp; Setup (Months 0-9)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&amp; negotiate with JV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JV entity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for DMF license and BOI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Milestones: JV Agreement signed, License application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Investment: $1-2M (legal, setup costs)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Mobilization &amp; First Contracts (Months 9-18)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Hire key technical staff (meet 70%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initial equipment (leverage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on NOC tenders (15 tenders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Milestones: First equipment mobilized, First contract award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Investment: $5-10M (equipment, working capital)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188720"/>
            <a:ext cx="2743200" cy="365760"/>
          </a:xfrm>
          <a:prstGeom prst="rect">
            <a:avLst/>
          </a:prstGeom>
          <a:solidFill>
            <a:srgbClr val="E46C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Scale &amp; Differentiation (Months 18-36)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645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local training center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proprietary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Pursue integrated service contracts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Milestones: Training center, Award of multi-year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8076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Investment: $5-15M (technology deployment, capacity expansion)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Target Service Segments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 JV partner's existing relationships to pitch bundled technology solutions (digital +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13716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Intensity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 Maker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Digital &amp; Advanced Well Services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Growing segment (60%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(technology-driven)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NOC &amp; IOC Engineerin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CCUS &amp; Decarbonization Services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Incentivized (50% tax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NOC Sustainability/E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Deepwater/HPHT Well Support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Tied to $1.2B+ PTTEP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NOC &amp; Major IOC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Brownfield Well Workover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350 wells require service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Asset Managers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3/5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57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Target Companies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23360"/>
          <a:ext cx="11430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Spend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PTTEP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$150M+ annual service contracts (est. from IOC values)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Gulf of Thailand / Onshore Basins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Chevron Thailand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Major IOC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$150M annual service contract value (2023)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Gulf of Thailand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Why Now?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2024-2025 is optimal for entry to align with regulatory deadlines and NOC investment cycles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 Required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Carbon Tax effective 2025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Incentivizes operators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Position CCUS and methane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Methane (50%) &amp; Flaring (80%)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 immediate CAPEX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Engage NOC on integrated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PTTEP's $1.2B offshore investment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Major tender pipeline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Secure JV to qualify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114800"/>
            <a:ext cx="11430000" cy="914400"/>
          </a:xfrm>
          <a:prstGeom prst="rect">
            <a:avLst/>
          </a:prstGeom>
          <a:solidFill>
            <a:srgbClr val="EDFD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605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 OF OPPORTUNITY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2024-2025 is optimal for entry to align with regulatory deadlines and NOC investment cycles before global competitors deepen their decarbonization offerings.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Lessons from Market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JVs stem from unclear terms; success requires tech transfer and local trust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TO AVOID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918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Lesson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PTT-Chevron JV (Bongkot field) (2021)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Disagreements over operational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 clear operational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FACTORS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0233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JV terms and cultural alignment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transfer and local training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relationship with NOC decision-makers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6C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 SIGNS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402336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lacking technical capability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Unclear path to meeting local content quotas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of contract disputes with operators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Go/No-Go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GO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50292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size &gt;$1B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is $1.5B in 2023 (Source: Market 0)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Regulatory pathway exists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model is proven (Halliburton-PTTEP 2024);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Viable partners available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PTTEP is active in JVs;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Differentiated entry angle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Decarbonization (CCUS) and digital 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Acceptable risk level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Risks (partner, regulatory)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572000"/>
            <a:ext cx="365760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VERDICT: CONDITIONAL GO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45720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 to proceed: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0" y="48920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 JV agreement with a credible local partner (PTTEP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BOI promotion for tax incentives.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initial investment on differentiated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Opportunities &amp; Obstacles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GO. Proceed with market entry via a Joint Venture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CCUS Service Provision ($100M+ potential (incentivized by 50% tax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Well Integrity &amp; Twins (Part of $1.5B market where 60%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 of Local Specialist ($10-50M acquisition cost)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6C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OBSTACLES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51% Local Ownership Requirement [High]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6-9 Month Licensing Timeline [Medium]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Shortage of Skilled Petroleum Engineers (1,200 shortage by 2024)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56692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Attractiveness: 7/10 | Feasibility: 6/10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Key Insights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implications for market entry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Decarbonization deadlines create a 24-month service window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Methane (50% by 2025) and flaring (80% by 2025) reduction targets are legislated. Operators have delayed CAPEX but must now invest in compliance, favoring providers with ready solutions.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PTTEP's JV with Halliburton signals openness to tech partnerships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Halliburton PTTEP Energy Services JV formed January 2024 for offshore drilling/completion. NOC seeks advanced technology and operational efficiency from partners, not just capital.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297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barrier isn't the law, but finding the right local partner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61772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content (50%) and ownership (51%) rules are strictly enforced. Success hinges on partner's technical capability, relationships, and alignment—not just their legal status.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5120640"/>
            <a:ext cx="11430000" cy="914400"/>
          </a:xfrm>
          <a:prstGeom prst="rect">
            <a:avLst/>
          </a:prstGeom>
          <a:solidFill>
            <a:srgbClr val="EDFD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1663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40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GO. Proceed with market entry via a Joint Venture, contingent on securing a credible local partner with strong NOC relationships.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 - Research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0"/>
          </a:xfrm>
          <a:prstGeom prst="line">
            <a:avLst/>
          </a:prstGeom>
          <a:noFill/>
          <a:ln w="31750">
            <a:solidFill>
              <a:srgbClr val="1F49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completed Dec 2025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0175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AB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Deal Size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$10-50 million for major service packages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Attractiveness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7/10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is sizable ($1.5B+)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Feasibility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pathway is clear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657600"/>
            <a:ext cx="11430000" cy="822960"/>
          </a:xfrm>
          <a:prstGeom prst="rect">
            <a:avLst/>
          </a:prstGeom>
          <a:solidFill>
            <a:srgbClr val="F0FF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03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VERDICT: CONDITIONAL GO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 JV agreement with a credible local partner (PTTEP or equivalent) within 6 months.; Obtain BOI promotion for tax incentives.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62636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Government statistical agencies; Industry associations; Company filings and annual reports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Thailand - energy services Market Analysis</dc:title>
  <dc:subject>market_entry</dc:subject>
  <dc:creator>YCP Market Research</dc:creator>
  <cp:lastModifiedBy>YCP Market Research</cp:lastModifiedBy>
  <cp:revision>1</cp:revision>
  <dcterms:created xsi:type="dcterms:W3CDTF">2025-12-31T16:53:30Z</dcterms:created>
  <dcterms:modified xsi:type="dcterms:W3CDTF">2025-12-31T16:53:30Z</dcterms:modified>
</cp:coreProperties>
</file>