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cb44b0c5b54119" /><Relationship Type="http://schemas.openxmlformats.org/officeDocument/2006/relationships/extended-properties" Target="/docProps/app.xml" Id="R2f9e203a50e24706" /><Relationship Type="http://schemas.openxmlformats.org/officeDocument/2006/relationships/officeDocument" Target="/ppt/presentation.xml" Id="Ra0a82b02233c4d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963271a5734d43"/>
  </p:sldMasterIdLst>
  <p:notesMasterIdLst>
    <p:notesMasterId xmlns:r="http://schemas.openxmlformats.org/officeDocument/2006/relationships" r:id="R42e5c221314c419e"/>
  </p:notesMasterIdLst>
  <p:sldIdLst>
    <p:sldId xmlns:r="http://schemas.openxmlformats.org/officeDocument/2006/relationships" id="256" r:id="Ra3fdd2963a704220"/>
    <p:sldId xmlns:r="http://schemas.openxmlformats.org/officeDocument/2006/relationships" id="257" r:id="R5c25f13ad62e4dab"/>
    <p:sldId xmlns:r="http://schemas.openxmlformats.org/officeDocument/2006/relationships" id="258" r:id="R890a305c8bf5420f"/>
    <p:sldId xmlns:r="http://schemas.openxmlformats.org/officeDocument/2006/relationships" id="259" r:id="R5fcc16d27041491d"/>
    <p:sldId xmlns:r="http://schemas.openxmlformats.org/officeDocument/2006/relationships" id="260" r:id="Rd2ba86c510d54c5e"/>
    <p:sldId xmlns:r="http://schemas.openxmlformats.org/officeDocument/2006/relationships" id="261" r:id="Rd863d15aca194a7e"/>
    <p:sldId xmlns:r="http://schemas.openxmlformats.org/officeDocument/2006/relationships" id="262" r:id="R5bc531dadcef48c5"/>
    <p:sldId xmlns:r="http://schemas.openxmlformats.org/officeDocument/2006/relationships" id="263" r:id="R0142a88583ec4a3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963271a5734d43" /><Relationship Type="http://schemas.openxmlformats.org/officeDocument/2006/relationships/theme" Target="/ppt/theme/theme1.xml" Id="Rd83882c360df4b68" /><Relationship Type="http://schemas.openxmlformats.org/officeDocument/2006/relationships/notesMaster" Target="/ppt/notesMasters/notesMaster1.xml" Id="R42e5c221314c419e" /><Relationship Type="http://schemas.openxmlformats.org/officeDocument/2006/relationships/presProps" Target="/ppt/presProps.xml" Id="Re4a4096d03b74843" /><Relationship Type="http://schemas.openxmlformats.org/officeDocument/2006/relationships/viewProps" Target="/ppt/viewProps.xml" Id="Rf073c3cd11f848a8" /><Relationship Type="http://schemas.openxmlformats.org/officeDocument/2006/relationships/tableStyles" Target="/ppt/tableStyles.xml" Id="R178dbf20ae074ef2" /><Relationship Type="http://schemas.openxmlformats.org/officeDocument/2006/relationships/slide" Target="/ppt/slides/slide1.xml" Id="Ra3fdd2963a704220" /><Relationship Type="http://schemas.openxmlformats.org/officeDocument/2006/relationships/slide" Target="/ppt/slides/slide2.xml" Id="R5c25f13ad62e4dab" /><Relationship Type="http://schemas.openxmlformats.org/officeDocument/2006/relationships/slide" Target="/ppt/slides/slide3.xml" Id="R890a305c8bf5420f" /><Relationship Type="http://schemas.openxmlformats.org/officeDocument/2006/relationships/slide" Target="/ppt/slides/slide4.xml" Id="R5fcc16d27041491d" /><Relationship Type="http://schemas.openxmlformats.org/officeDocument/2006/relationships/slide" Target="/ppt/slides/slide5.xml" Id="Rd2ba86c510d54c5e" /><Relationship Type="http://schemas.openxmlformats.org/officeDocument/2006/relationships/slide" Target="/ppt/slides/slide6.xml" Id="Rd863d15aca194a7e" /><Relationship Type="http://schemas.openxmlformats.org/officeDocument/2006/relationships/slide" Target="/ppt/slides/slide7.xml" Id="R5bc531dadcef48c5" /><Relationship Type="http://schemas.openxmlformats.org/officeDocument/2006/relationships/slide" Target="/ppt/slides/slide8.xml" Id="R0142a88583ec4a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8df88c7896148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da674d40c94030" /><Relationship Type="http://schemas.openxmlformats.org/officeDocument/2006/relationships/notesMaster" Target="/ppt/notesMasters/notesMaster1.xml" Id="R4fa30356e8d040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b46bf449014593" /><Relationship Type="http://schemas.openxmlformats.org/officeDocument/2006/relationships/notesMaster" Target="/ppt/notesMasters/notesMaster1.xml" Id="R0061aca8e31440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77debacfa042ec" /><Relationship Type="http://schemas.openxmlformats.org/officeDocument/2006/relationships/notesMaster" Target="/ppt/notesMasters/notesMaster1.xml" Id="R37c121fbdb944a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6940fcafef433c" /><Relationship Type="http://schemas.openxmlformats.org/officeDocument/2006/relationships/notesMaster" Target="/ppt/notesMasters/notesMaster1.xml" Id="Rca9ba6bbc2a64d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04856477d3498c" /><Relationship Type="http://schemas.openxmlformats.org/officeDocument/2006/relationships/notesMaster" Target="/ppt/notesMasters/notesMaster1.xml" Id="R87806a3c47c248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900443fca44b7f" /><Relationship Type="http://schemas.openxmlformats.org/officeDocument/2006/relationships/notesMaster" Target="/ppt/notesMasters/notesMaster1.xml" Id="R463eae730f6741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27133c04c04a69" /><Relationship Type="http://schemas.openxmlformats.org/officeDocument/2006/relationships/notesMaster" Target="/ppt/notesMasters/notesMaster1.xml" Id="Rf2658e8be45542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bb943f299040ff" /><Relationship Type="http://schemas.openxmlformats.org/officeDocument/2006/relationships/notesMaster" Target="/ppt/notesMasters/notesMaster1.xml" Id="Rdf399e6ccfaf4c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e0ac126655451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5617255d62a4747" /><Relationship Type="http://schemas.openxmlformats.org/officeDocument/2006/relationships/slideLayout" Target="/ppt/slideLayouts/slideLayout2.xml" Id="Re71454bd40d04f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1454bd40d04f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89fa61797e4682" /><Relationship Type="http://schemas.openxmlformats.org/officeDocument/2006/relationships/notesSlide" Target="/ppt/notesSlides/notesSlide1.xml" Id="R0c0b0b60b0274d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2e62dcebd542a3" /><Relationship Type="http://schemas.openxmlformats.org/officeDocument/2006/relationships/notesSlide" Target="/ppt/notesSlides/notesSlide2.xml" Id="Rc82041ad2f3843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65f18f7dcb4851" /><Relationship Type="http://schemas.openxmlformats.org/officeDocument/2006/relationships/notesSlide" Target="/ppt/notesSlides/notesSlide3.xml" Id="R594ab10d8b1b48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5abc8161cb49b5" /><Relationship Type="http://schemas.openxmlformats.org/officeDocument/2006/relationships/notesSlide" Target="/ppt/notesSlides/notesSlide4.xml" Id="R2c5fe8d2696642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3e74f2767f400d" /><Relationship Type="http://schemas.openxmlformats.org/officeDocument/2006/relationships/notesSlide" Target="/ppt/notesSlides/notesSlide5.xml" Id="Rb21c12895fa74f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bed2edbfde46dc" /><Relationship Type="http://schemas.openxmlformats.org/officeDocument/2006/relationships/notesSlide" Target="/ppt/notesSlides/notesSlide6.xml" Id="Rd9ac310e4efc4a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32448c4a854fb5" /><Relationship Type="http://schemas.openxmlformats.org/officeDocument/2006/relationships/notesSlide" Target="/ppt/notesSlides/notesSlide7.xml" Id="R6722c85d913a46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9593f48db146df" /><Relationship Type="http://schemas.openxmlformats.org/officeDocument/2006/relationships/notesSlide" Target="/ppt/notesSlides/notesSlide8.xml" Id="R344d411b50034a1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695ECF-C2CA-430B-9DB6-0C0DEBFB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FDA6D-01CE-493B-99B6-C4B9F3A9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6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5C6CC-5620-4474-8B42-40AE9C61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9C7A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9C7AE"/>
                </a:solidFill>
                <a:latin typeface="Aptos"/>
                <a:ea typeface="Aptos"/>
                <a:cs typeface="Aptos"/>
              </a:rPr>
              <a:t>CAREER MAP FOR AN ICAEW / FINANCE START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76820-857B-41EF-A74C-A117E9AC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609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next step matters less than the path after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AD66A-847A-41FA-9471-0F645AD7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5755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0E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0E7"/>
                </a:solidFill>
                <a:latin typeface="Aptos"/>
                <a:ea typeface="Aptos"/>
                <a:cs typeface="Aptos"/>
              </a:rPr>
              <a:t>Audit, consulting, investment banking, private equity, and corporate finance in plain English.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F54D4-3218-4E77-8510-34AD4BB2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39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8EA11-51B9-4F68-9355-95289213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EF4413-5A6D-48DC-9E9F-1F918AEA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907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 yrs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95BE4-049F-4612-93AE-DD5A4B38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33600"/>
            <a:ext cx="2857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8D1D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8D1DA"/>
                </a:solidFill>
                <a:latin typeface="Aptos"/>
                <a:ea typeface="Aptos"/>
                <a:cs typeface="Aptos"/>
              </a:rPr>
              <a:t>learn the craft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D12AAA-26C7-4C05-A424-846053EB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246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83713C-F48A-41E3-A9C3-95550A9D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6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8FF25-B147-4775-A9E6-087C4C99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5 yrs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3556B8-9E46-4FD7-805A-460E99D3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00400"/>
            <a:ext cx="2857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8D1D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8D1DA"/>
                </a:solidFill>
                <a:latin typeface="Aptos"/>
                <a:ea typeface="Aptos"/>
                <a:cs typeface="Aptos"/>
              </a:rPr>
              <a:t>choose a lane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9A6041-174F-4D7F-AE72-0F0AE468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5285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39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EFD06E-98B1-4EE7-BBEB-42BE367B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528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A86028-4BB1-4464-B097-155752EF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243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7 yrs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EC2FB4-ACEC-42A7-BAEB-B9792BA0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67200"/>
            <a:ext cx="2857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8D1D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8D1DA"/>
                </a:solidFill>
                <a:latin typeface="Aptos"/>
                <a:ea typeface="Aptos"/>
                <a:cs typeface="Aptos"/>
              </a:rPr>
              <a:t>lead or specialize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02914-A966-4017-880D-CFA5B92B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0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EFBBF2-5FBA-400B-983D-FAE7BE96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7C1C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7C1CB"/>
                </a:solidFill>
                <a:latin typeface="Aptos"/>
                <a:ea typeface="Aptos"/>
                <a:cs typeface="Aptos"/>
              </a:rPr>
              <a:t>First draft. Best used as a talking guide, not a final career promise.</a:t>
            </a:r>
          </a:p>
        </p:txBody>
      </p:sp>
    </p:spTree>
    <p:extLst>
      <p:ext uri="{BB962C8B-B14F-4D97-AF65-F5344CB8AC3E}">
        <p14:creationId xmlns:p14="http://schemas.microsoft.com/office/powerpoint/2010/main" val="1036896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2BA501-C88D-4236-91CF-EE13C698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A4F68CB8-815F-4EB1-BC09-5B0AA118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436B6D35-9EC6-4AD6-8462-44717726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D6F73"/>
                </a:solidFill>
                <a:latin typeface="Aptos"/>
                <a:ea typeface="Aptos"/>
                <a:cs typeface="Aptos"/>
              </a:rPr>
              <a:t>BIG PICTURE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53631-E90F-4EE6-A381-1B0303B5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There are four common doors after accounting or finance.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D01E9-724C-46C7-BC6B-6F18E612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8B237-9C96-4F72-A34B-A15857B5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09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D6F73"/>
                </a:solidFill>
                <a:latin typeface="Aptos"/>
                <a:ea typeface="Aptos"/>
                <a:cs typeface="Aptos"/>
              </a:rPr>
              <a:t>Ranges are directional and can move a lot by firm, country, bonus year, and performance.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DED0BB-2610-4048-8245-A355B853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6F7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FFE5A-186A-4D0D-A0FE-FC533D05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29757-3697-4D44-93B3-87AC6BE0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BB1821-9DAD-480A-9F75-5D325457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Audit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B183AB-74FB-4BF9-9598-256E7DA7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438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F73"/>
                </a:solidFill>
                <a:latin typeface="Aptos"/>
                <a:ea typeface="Aptos"/>
                <a:cs typeface="Aptos"/>
              </a:rPr>
              <a:t>Check if company numbers are fair. Best training ground for accounting, controls, and business basics.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49051-1195-4DBF-82AC-C85101E0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DD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DCC960-9FD6-430E-807C-4C50BC1A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8F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26F3B4-6B22-4CC8-85F5-44EDED7B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6220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Consulting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47EC22-7393-4610-A574-2AC39F05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05100"/>
            <a:ext cx="438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F73"/>
                </a:solidFill>
                <a:latin typeface="Aptos"/>
                <a:ea typeface="Aptos"/>
                <a:cs typeface="Aptos"/>
              </a:rPr>
              <a:t>Help companies solve problems. Work can be strategy, operations, technology, risk, or finance.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F54FAD-E867-45E4-90B7-642B89B1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3D1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7B06F8-894C-40CC-9564-DADBBB7A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6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84FA1E-5E55-46E5-8C56-C264E2CB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Investment banking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529920-D052-44C5-8C44-12A659C2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438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F73"/>
                </a:solidFill>
                <a:latin typeface="Aptos"/>
                <a:ea typeface="Aptos"/>
                <a:cs typeface="Aptos"/>
              </a:rPr>
              <a:t>Help companies raise money or buy/sell businesses. Heavy modelling, deadlines, and client work.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4E2286-B91C-466A-9B50-2AD23FF7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AD7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E2E768-97BF-4092-B33F-C2FB150B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270F73-3331-4BBA-838A-CA74474E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Private equity / funds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CC2FC8-992D-440E-A759-2C10E707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29100"/>
            <a:ext cx="438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F73"/>
                </a:solidFill>
                <a:latin typeface="Aptos"/>
                <a:ea typeface="Aptos"/>
                <a:cs typeface="Aptos"/>
              </a:rPr>
              <a:t>Invest money into companies. Usually easier to enter after banking, consulting, or strong finance roles.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F69F2B-31A8-403C-A302-19B74D27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435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The real decision is not only “what subject to study?” It is “which working life am I building toward?”</a:t>
            </a:r>
          </a:p>
        </p:txBody>
      </p:sp>
    </p:spTree>
    <p:extLst>
      <p:ext uri="{BB962C8B-B14F-4D97-AF65-F5344CB8AC3E}">
        <p14:creationId xmlns:p14="http://schemas.microsoft.com/office/powerpoint/2010/main" val="18473144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4B0A30-8CA4-49BF-B6EE-AE6C3E74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D62DC0A5-13D3-4427-91CF-D63510EB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2FE03F3C-98C0-466A-A16A-58B799B1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D6F73"/>
                </a:solidFill>
                <a:latin typeface="Aptos"/>
                <a:ea typeface="Aptos"/>
                <a:cs typeface="Aptos"/>
              </a:rPr>
              <a:t>PATH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9FFA7-B9BC-47C7-81A2-950421F2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Audit is the safest training route, but the first years are grind-heavy.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733CC2-B755-487D-979C-43F71FC0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92A4E-A217-46E1-A55B-35ADFC9D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09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D6F73"/>
                </a:solidFill>
                <a:latin typeface="Aptos"/>
                <a:ea typeface="Aptos"/>
                <a:cs typeface="Aptos"/>
              </a:rPr>
              <a:t>Ranges are directional and can move a lot by firm, country, bonus year, and performance.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1577C-B7FA-4B1A-94EA-2179197C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6F7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0AE6A-2E36-4825-B739-7E176513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095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3D1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0D54E-EBC5-4BF8-8356-AC569105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D6F73"/>
                </a:solidFill>
                <a:latin typeface="Aptos"/>
                <a:ea typeface="Aptos"/>
                <a:cs typeface="Aptos"/>
              </a:rPr>
              <a:t>Year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1923B-9502-466C-BE4C-7E674BCF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ICAEW / degree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673A78-1E77-46AA-8424-BF74CB47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1695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F73"/>
                </a:solidFill>
                <a:latin typeface="Aptos"/>
                <a:ea typeface="Aptos"/>
                <a:cs typeface="Aptos"/>
              </a:rPr>
              <a:t>Study + internship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A731F3-F6F6-4040-9BF6-EECB7818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670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87C81C-E026-499B-B86A-085A4720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62200"/>
            <a:ext cx="2095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6D97B0-1707-46B4-8D00-FF87C012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527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D6F73"/>
                </a:solidFill>
                <a:latin typeface="Aptos"/>
                <a:ea typeface="Aptos"/>
                <a:cs typeface="Aptos"/>
              </a:rPr>
              <a:t>Years 1-3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F4612F-D8BE-48B8-B889-2EBB395E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5750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Audit associate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B8629F-C668-4CC3-B582-5777A024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95650"/>
            <a:ext cx="1695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F73"/>
                </a:solidFill>
                <a:latin typeface="Aptos"/>
                <a:ea typeface="Aptos"/>
                <a:cs typeface="Aptos"/>
              </a:rPr>
              <a:t>Stock counts, testing, paperwork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E3D105-5DBB-4939-851D-D5EA1B30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670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811A4C-DC42-4D0E-9C3B-4D44A5D1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2095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CF9FAC-B799-4E14-B7A8-3B7CA0F8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D6F73"/>
                </a:solidFill>
                <a:latin typeface="Aptos"/>
                <a:ea typeface="Aptos"/>
                <a:cs typeface="Aptos"/>
              </a:rPr>
              <a:t>Years 3-5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105C4E-ACD8-4961-8FA0-9F1A63FB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Senior / assistant manager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DED0CC-17B5-42AA-A7D4-83B4DF06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95650"/>
            <a:ext cx="1695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F73"/>
                </a:solidFill>
                <a:latin typeface="Aptos"/>
                <a:ea typeface="Aptos"/>
                <a:cs typeface="Aptos"/>
              </a:rPr>
              <a:t>Run jobs, coach juniors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B61677-38B2-4B04-A406-9838969D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670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AE38B8-E2BC-4CB9-AA37-DD3D0E37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62200"/>
            <a:ext cx="2095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02D171-0E03-4EFF-B022-0F12453B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527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D6F73"/>
                </a:solidFill>
                <a:latin typeface="Aptos"/>
                <a:ea typeface="Aptos"/>
                <a:cs typeface="Aptos"/>
              </a:rPr>
              <a:t>Years 5-7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12C495-765B-4E89-9CB9-F4EF754E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5750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Manager or exit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32F585-9801-4D20-BD65-DD82FEC3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95650"/>
            <a:ext cx="1695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F73"/>
                </a:solidFill>
                <a:latin typeface="Aptos"/>
                <a:ea typeface="Aptos"/>
                <a:cs typeface="Aptos"/>
              </a:rPr>
              <a:t>Industry finance, FP&amp;A, internal audit, deals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218E4D-D2EA-4E0F-B5E5-063AF164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52950"/>
            <a:ext cx="838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633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1D4B91-F793-4325-BC86-F4AF4791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529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6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67EB1A-8CEE-43A5-A755-4E66DD9E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24400"/>
            <a:ext cx="800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Typical Malaysia pay signal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EC3908-B4C8-4D01-9FA8-3E31D15A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06730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8D1D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8D1DA"/>
                </a:solidFill>
                <a:latin typeface="Aptos"/>
                <a:ea typeface="Aptos"/>
                <a:cs typeface="Aptos"/>
              </a:rPr>
              <a:t>Big 4 audit associate: around RM4.0k-RM4.4k/month. Audit manager average: around RM7.7k/month. Top exits can pay more.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02A9A1-AA06-4976-8CF1-900A11BF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D6F73"/>
                </a:solidFill>
                <a:latin typeface="Aptos"/>
                <a:ea typeface="Aptos"/>
                <a:cs typeface="Aptos"/>
              </a:rPr>
              <a:t>Sources: Indeed Malaysia EY/KPMG audit associate pages and audit manager page, checked May 2026.</a:t>
            </a:r>
          </a:p>
        </p:txBody>
      </p:sp>
    </p:spTree>
    <p:extLst>
      <p:ext uri="{BB962C8B-B14F-4D97-AF65-F5344CB8AC3E}">
        <p14:creationId xmlns:p14="http://schemas.microsoft.com/office/powerpoint/2010/main" val="214438459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F1BB58-68D4-43B1-B626-9BBD3BD1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CFD62502-BDB1-4579-AC9C-C30A1C3B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D8F00B84-C5D9-410B-87AB-D4EEA952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D6F73"/>
                </a:solidFill>
                <a:latin typeface="Aptos"/>
                <a:ea typeface="Aptos"/>
                <a:cs typeface="Aptos"/>
              </a:rPr>
              <a:t>PATH 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97FA8-1C02-4331-90F6-B9088232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Consulting gives breadth: many industries, many problems, faster business exposure.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CAE6B-FC47-4365-8494-BF68CDBC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EE292-90AB-4889-A743-725D5081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09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D6F73"/>
                </a:solidFill>
                <a:latin typeface="Aptos"/>
                <a:ea typeface="Aptos"/>
                <a:cs typeface="Aptos"/>
              </a:rPr>
              <a:t>Ranges are directional and can move a lot by firm, country, bonus year, and performance.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0B3FD-B46B-4CA6-80BC-1FED1F7F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6F7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43FA9-E7D6-4D97-BA49-87634952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333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0EE69F-97E0-4A60-BC4C-AFD1D49C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8F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A00FA6-5509-4B67-AA0E-7B9E28C9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3952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What you 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662172-2BD7-4EE4-82FB-BE5B31CE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952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F73"/>
                </a:solidFill>
                <a:latin typeface="Aptos"/>
                <a:ea typeface="Aptos"/>
                <a:cs typeface="Aptos"/>
              </a:rPr>
              <a:t>Interview people, analyze data, make slides, recommend action.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F791F-ADD9-4E8E-A821-7DCE558A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4333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DD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588E9-0748-4AFC-AA8E-F7204CB5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8F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4D584D-A529-4A76-B4C6-850DABCB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3952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Good fit if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562B04-4271-4C6B-B1E6-FFDDAF71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3952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F73"/>
                </a:solidFill>
                <a:latin typeface="Aptos"/>
                <a:ea typeface="Aptos"/>
                <a:cs typeface="Aptos"/>
              </a:rPr>
              <a:t>She likes variety, explaining ideas, and solving messy problems.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A6F2DA-7C3E-442A-88F9-C3E51635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33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276D96-53B5-4703-9BD9-A702945D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8F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684B78-1E0B-45C6-B8C7-D16C04B4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3952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Watch-out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E8EDC6-B77D-4F7B-9809-A3E70667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3952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F73"/>
                </a:solidFill>
                <a:latin typeface="Aptos"/>
                <a:ea typeface="Aptos"/>
                <a:cs typeface="Aptos"/>
              </a:rPr>
              <a:t>Work can be vague at first. Quality depends a lot on project and manager.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406CA-CE6F-4EAA-A059-51EF7F95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43125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Pay tends to jump when she becomes trusted to lead a workstream.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ECAD04-1564-48E7-9285-CE459347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337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Associate consultant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DF204D-B4B5-4128-8D30-008F0E30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9BA363-CCAA-4631-B895-1410DA43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1000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EF1799-44F1-455F-879A-D963AFE1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924175"/>
            <a:ext cx="904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RM3k-RM6k/mo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4FE80B-606D-4AB4-BE87-6310438A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195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Management consultant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5350C5-9E3E-4E11-BAA5-EC46A2BB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576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36FBB4-323D-4589-A706-EC977FDA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576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8F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7D271B-FE06-4F2D-9643-B03BECFE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609975"/>
            <a:ext cx="904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RM7k-RM10k/mo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0429CD-885F-436E-BBD3-3B203018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053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Strong niche / manager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FAB739-BEE7-4774-A48F-609EBD07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434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B48BDE-D452-4AA3-9DD6-821ACEAA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43400"/>
            <a:ext cx="226218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37678C-E62D-4D3D-847C-B1260381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295775"/>
            <a:ext cx="904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higher, varies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1A4293-D008-45EF-8CAB-21F92821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895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D6F73"/>
                </a:solidFill>
                <a:latin typeface="Aptos"/>
                <a:ea typeface="Aptos"/>
                <a:cs typeface="Aptos"/>
              </a:rPr>
              <a:t>Sources: Glassdoor Malaysia and Indeed Malaysia consulting salary pages, checked May 2026.</a:t>
            </a:r>
          </a:p>
        </p:txBody>
      </p:sp>
    </p:spTree>
    <p:extLst>
      <p:ext uri="{BB962C8B-B14F-4D97-AF65-F5344CB8AC3E}">
        <p14:creationId xmlns:p14="http://schemas.microsoft.com/office/powerpoint/2010/main" val="9976699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0E081C-0B77-49CB-9D31-66B3965C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9A4F9016-F792-4919-9AA9-876B9EC0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630A2817-704D-4F49-BBDA-A1A80DAC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D6F73"/>
                </a:solidFill>
                <a:latin typeface="Aptos"/>
                <a:ea typeface="Aptos"/>
                <a:cs typeface="Aptos"/>
              </a:rPr>
              <a:t>PATH 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AF5C4-A501-4D3C-8F02-5FD95118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Investment banking is the steepest learning curve and usually the toughest lifestyle.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8C262-1C4E-43EE-B7CB-0E4078D2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B7C8F-138C-4C3A-B61C-525A6779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09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D6F73"/>
                </a:solidFill>
                <a:latin typeface="Aptos"/>
                <a:ea typeface="Aptos"/>
                <a:cs typeface="Aptos"/>
              </a:rPr>
              <a:t>Ranges are directional and can move a lot by firm, country, bonus year, and performance.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54F0D6-2993-4A7D-954F-DEEC0091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6F7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42736-D1B5-45D3-9B66-720BD617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457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17B8D2-CF12-41AC-A716-C6CC8436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6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BEBE0-D347-4190-8F73-0D62EBAF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What they 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6C015A-E19D-4E2D-BB83-ACDCC52D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F73"/>
                </a:solidFill>
                <a:latin typeface="Aptos"/>
                <a:ea typeface="Aptos"/>
                <a:cs typeface="Aptos"/>
              </a:rPr>
              <a:t>Build financial models, prepare buyer/seller materials, help close deals.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950904-3279-48B8-B70A-9536F590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57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3D1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5AEABB-D759-4502-AF27-52FAA529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6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71D470-738C-4B5E-8FF0-E5403E75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Why people join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D8936D-AEC0-44D2-A74F-6DA1B98F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F73"/>
                </a:solidFill>
                <a:latin typeface="Aptos"/>
                <a:ea typeface="Aptos"/>
                <a:cs typeface="Aptos"/>
              </a:rPr>
              <a:t>Fast learning, strong brand, high pay, strong exit options.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58623-E550-4C96-80CB-A635E0A8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48150"/>
            <a:ext cx="457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8062D6-C4E5-4BC0-9E20-0E9CDC68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481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6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62349A-4726-453E-946C-F4CD76A9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The trade-off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2A1E9A-C096-4E23-9A86-08C952F2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F73"/>
                </a:solidFill>
                <a:latin typeface="Aptos"/>
                <a:ea typeface="Aptos"/>
                <a:cs typeface="Aptos"/>
              </a:rPr>
              <a:t>Long hours, high pressure, less control over time.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92FEF6-3DB2-424B-BD84-9BFFD83A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28850"/>
            <a:ext cx="3905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F5069F-8E75-46C2-B9C7-D7CE73DD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C7A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C7AE"/>
                </a:solidFill>
                <a:latin typeface="Aptos"/>
                <a:ea typeface="Aptos"/>
                <a:cs typeface="Aptos"/>
              </a:rPr>
              <a:t>Pay signal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68AF5B-D380-420E-A005-E2EFD064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289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E0E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E0E7"/>
                </a:solidFill>
                <a:latin typeface="Aptos"/>
                <a:ea typeface="Aptos"/>
                <a:cs typeface="Aptos"/>
              </a:rPr>
              <a:t>Malaysia analyst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22F682-6084-48A9-B2C9-F5F1246F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718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RM5k-11k/mo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C32F90-15A0-42E4-B5B3-1D2DCE7C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480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0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DC7E62-B69B-4317-AEC1-F0742C8F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338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E0E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E0E7"/>
                </a:solidFill>
                <a:latin typeface="Aptos"/>
                <a:ea typeface="Aptos"/>
                <a:cs typeface="Aptos"/>
              </a:rPr>
              <a:t>Singapore analyst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DB69AD-35C1-4982-8AEE-7B5B7B85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57600"/>
            <a:ext cx="1695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SGD130k-210k/yr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F26190-E183-4366-99B8-1B2926EA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339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F73"/>
                </a:solidFill>
                <a:latin typeface="Aptos"/>
                <a:ea typeface="Aptos"/>
                <a:cs typeface="Aptos"/>
              </a:rPr>
              <a:t>Singapore is shown because many regional finance paths benchmark against 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7C80E3-E6D9-4623-AF53-D9A5A0FC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952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D6F73"/>
                </a:solidFill>
                <a:latin typeface="Aptos"/>
                <a:ea typeface="Aptos"/>
                <a:cs typeface="Aptos"/>
              </a:rPr>
              <a:t>Sources: Indeed Malaysia, Glassdoor Singapore, PrepLounge, public 2026 job posting checks.</a:t>
            </a:r>
          </a:p>
        </p:txBody>
      </p:sp>
    </p:spTree>
    <p:extLst>
      <p:ext uri="{BB962C8B-B14F-4D97-AF65-F5344CB8AC3E}">
        <p14:creationId xmlns:p14="http://schemas.microsoft.com/office/powerpoint/2010/main" val="9310084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ED548B-7757-4E55-BF80-9CDF56E9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D14A0FFB-5E31-4917-B118-7DF19F5A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A2B3714A-4965-41BC-A27C-687B46D8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D6F73"/>
                </a:solidFill>
                <a:latin typeface="Aptos"/>
                <a:ea typeface="Aptos"/>
                <a:cs typeface="Aptos"/>
              </a:rPr>
              <a:t>AFTER THE FIRST JOB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90C9D-A201-4B85-B44E-C425468C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Private equity and corporate finance are usually second-step careers.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97866-5365-4283-A3A9-EB9E942F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F2294A-4CBF-4080-A760-1FC23618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09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D6F73"/>
                </a:solidFill>
                <a:latin typeface="Aptos"/>
                <a:ea typeface="Aptos"/>
                <a:cs typeface="Aptos"/>
              </a:rPr>
              <a:t>Ranges are directional and can move a lot by firm, country, bonus year, and performance.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F8847-8A3D-4B6D-A299-FD87D685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6F7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31F4D-8BBC-4596-B26F-2956D57E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9051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44A3B-5FE8-46A0-A5B9-BDE95598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905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C73E73-1AFA-4F15-99CD-E87D53F0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Private equity / funds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E4DB7D-8C38-4E9F-BB5D-379E43BD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F73"/>
                </a:solidFill>
                <a:latin typeface="Aptos"/>
                <a:ea typeface="Aptos"/>
                <a:cs typeface="Aptos"/>
              </a:rPr>
              <a:t>Buy, improve, and sell companies. Best entry route is usually banking, consulting, or strong deal experience.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E37504-0BDD-43F9-85DF-1993337B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AD7"/>
          </a:solidFill>
          <a:ln xmlns:a="http://schemas.openxmlformats.org/drawingml/2006/main" w="9525">
            <a:solidFill>
              <a:srgbClr val="F0DA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8814BF-60B6-4C42-829D-8832E5E8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14800"/>
            <a:ext cx="11811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harder to enter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DF4B58-AA10-4D4A-A9F0-2FEF7390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71700"/>
            <a:ext cx="29051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CBAA1-1503-4278-B85B-2160840E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71700"/>
            <a:ext cx="2905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781A94-7EEE-4840-939A-9B26D7FE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955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Corporate finance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1E6118-F153-41CA-BE36-B231A91A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4325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F73"/>
                </a:solidFill>
                <a:latin typeface="Aptos"/>
                <a:ea typeface="Aptos"/>
                <a:cs typeface="Aptos"/>
              </a:rPr>
              <a:t>Work inside a company on budgeting, pricing, reporting, strategy, or deals. More stable than advisory work.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4B702A-6B4C-4088-A25A-E5C456AB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386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C40CA4-303C-4B04-B955-AA9E63AD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14800"/>
            <a:ext cx="11811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broad route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7B4AE2-13D2-4059-AB26-339C2CAC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29051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C8E097-5518-4C7A-B948-5CBC6F43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2905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8F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E70F28-BD86-44B9-9A2D-FECB5C56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955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Finance leadership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5EBDF1-026C-4A9D-B074-FA2D8A00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4325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F73"/>
                </a:solidFill>
                <a:latin typeface="Aptos"/>
                <a:ea typeface="Aptos"/>
                <a:cs typeface="Aptos"/>
              </a:rPr>
              <a:t>Controller, finance manager, CFO track. Strong accounting base helps a lot here.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B52FBF-11FB-49C3-BA6E-DD084CE6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386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22788F-671B-4DBE-A0CA-AC09FEAC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14800"/>
            <a:ext cx="11811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long game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D28173-685B-4E8B-8A43-9A78F6FF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5780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Important message: first job is not forever. The skill she builds in years 1-3 decides her options in years 4-7.</a:t>
            </a:r>
          </a:p>
        </p:txBody>
      </p:sp>
    </p:spTree>
    <p:extLst>
      <p:ext uri="{BB962C8B-B14F-4D97-AF65-F5344CB8AC3E}">
        <p14:creationId xmlns:p14="http://schemas.microsoft.com/office/powerpoint/2010/main" val="188942540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66C630-E001-4FF0-9E91-EA7E13D9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596AF0E5-91BC-4FFE-B772-C56DC4C7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D8E20FEC-8E20-42EF-9A1E-D0F8B521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D6F73"/>
                </a:solidFill>
                <a:latin typeface="Aptos"/>
                <a:ea typeface="Aptos"/>
                <a:cs typeface="Aptos"/>
              </a:rPr>
              <a:t>DECISION 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20B84-7AB9-4F33-A95E-55C835CD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The best choice depends on what kind of pain she can tolerate.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633A6-ED27-42B3-B757-1519F215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7062E-6876-4AF1-9282-0E884AFF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09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D6F73"/>
                </a:solidFill>
                <a:latin typeface="Aptos"/>
                <a:ea typeface="Aptos"/>
                <a:cs typeface="Aptos"/>
              </a:rPr>
              <a:t>Ranges are directional and can move a lot by firm, country, bonus year, and performance.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410BA-F454-415B-94E8-0559AF80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6F7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6DFB6-E91C-4D0F-9CCD-48EEA333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FA8F8-C714-4B56-B443-CDB07AEB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0275"/>
            <a:ext cx="1581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Route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B3988B-F14D-403F-8DC4-C0685E48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095500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9A6467-92B9-4C43-8690-D34EEA85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200275"/>
            <a:ext cx="2390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Best 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6AA08-72A4-4A0A-BA23-F6E7B1F5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09550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32231A-9CAB-4125-95C1-0B1FA93C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200275"/>
            <a:ext cx="2533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Hard part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078925-A804-4635-8263-B9D1F9CC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095500"/>
            <a:ext cx="3000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C31760-4410-4EAF-ACC6-5D62ACEC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200275"/>
            <a:ext cx="2771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5-7 year outcome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FEBC69-F34B-459B-A562-2D804590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7DBC14-8A6C-40D6-8B9A-9FD5E4C6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54A8B2-78A7-41B2-8064-78449E5F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57450"/>
            <a:ext cx="2619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6F64B5-5931-46AB-855D-D2752CBF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28900"/>
            <a:ext cx="2390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Strong basics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F045D7-E1E2-4DFF-A231-2D6F8012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45745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0165A1-770F-4190-B33D-428F4636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628900"/>
            <a:ext cx="2533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504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5048"/>
                </a:solidFill>
                <a:latin typeface="Aptos"/>
                <a:ea typeface="Aptos"/>
                <a:cs typeface="Aptos"/>
              </a:rPr>
              <a:t>Repetition + peak season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6137E7-3CED-484E-B112-CC1614A5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457450"/>
            <a:ext cx="3000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045CE5-33B9-496C-AE7B-25E4812A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628900"/>
            <a:ext cx="2771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Manager or finance exit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2D3D79-00C5-43CC-BA12-882816B6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87CB8E-F834-4151-AC49-F07943C8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Consulting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870587-6E29-4195-AF0F-C398C474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05150"/>
            <a:ext cx="2619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0529FC-7803-4F17-A0B5-F5C399EB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76600"/>
            <a:ext cx="2390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Business range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0496A7-F07C-4BEC-A84E-CFDB7655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10515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DF5878-1762-4CDD-9D95-44B13CCF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276600"/>
            <a:ext cx="2533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504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5048"/>
                </a:solidFill>
                <a:latin typeface="Aptos"/>
                <a:ea typeface="Aptos"/>
                <a:cs typeface="Aptos"/>
              </a:rPr>
              <a:t>Ambiguity + travel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16F3B2-21E2-4BB4-A155-EBCF7088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105150"/>
            <a:ext cx="3000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402195-ED30-4C54-97C7-35968438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276600"/>
            <a:ext cx="2771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Manager, strategy, ops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A4941F-97AF-4E08-90C7-11350DD0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C6B4B3-C398-466B-8C16-51A875A6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Banking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4E8F3D-812E-4E2C-AF62-A2C597B4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52850"/>
            <a:ext cx="2619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8C21A5-DCD1-430A-88AB-0AC94D98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924300"/>
            <a:ext cx="2390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Deal skill + pay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AA16C0-53DB-4A55-92BB-4BF6EE36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75285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831322-8761-4066-9972-08733CC1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924300"/>
            <a:ext cx="2533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504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5048"/>
                </a:solidFill>
                <a:latin typeface="Aptos"/>
                <a:ea typeface="Aptos"/>
                <a:cs typeface="Aptos"/>
              </a:rPr>
              <a:t>Hours + pressure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094B47-D587-41EE-9D5A-090C1C20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752850"/>
            <a:ext cx="3000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70BC58-502D-4E0B-B72A-B90301FD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924300"/>
            <a:ext cx="2771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Associate, PE, corp dev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A88BE6-8DEE-4DC8-B86E-9C82BB8D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89F717-7929-46F7-8C67-86732AC2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Industry finance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02269B-A43D-423C-A2A5-A064A53F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00550"/>
            <a:ext cx="2619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23FB42-D4A7-4A6F-BE5F-A23AA182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572000"/>
            <a:ext cx="2390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Stability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E64770-372E-427B-AA73-BC2C33AB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40055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6B33D4-E6AC-43FC-9261-A33ED038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572000"/>
            <a:ext cx="2533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504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5048"/>
                </a:solidFill>
                <a:latin typeface="Aptos"/>
                <a:ea typeface="Aptos"/>
                <a:cs typeface="Aptos"/>
              </a:rPr>
              <a:t>Slower early learning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4E8AD5-F5A9-4DF2-B0E7-E96D22D6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400550"/>
            <a:ext cx="3000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D6CCB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0763048-DD8C-4286-B8CE-192F5685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572000"/>
            <a:ext cx="2771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FP&amp;A / finance lead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8FDC16F-047C-4CD2-8410-4753A96F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53050"/>
            <a:ext cx="828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No route is perfect. The goal is to choose the problem she is willing to work hard on.</a:t>
            </a:r>
          </a:p>
        </p:txBody>
      </p:sp>
    </p:spTree>
    <p:extLst>
      <p:ext uri="{BB962C8B-B14F-4D97-AF65-F5344CB8AC3E}">
        <p14:creationId xmlns:p14="http://schemas.microsoft.com/office/powerpoint/2010/main" val="180316783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71F645-ED06-4739-8D13-F59A4DDC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0618FCE7-F853-4BD8-B9AD-04AF8E7A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39112766-0A18-4C48-A45D-1CA678A6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D6F73"/>
                </a:solidFill>
                <a:latin typeface="Aptos"/>
                <a:ea typeface="Aptos"/>
                <a:cs typeface="Aptos"/>
              </a:rPr>
              <a:t>HOW TO ADVISE 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4770F-0CFF-4CE9-B412-51DDD97D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Give her a map, then help her ask better questions.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60EC1-A415-4267-87B0-26FF68F2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39D7B-B328-4F83-A48E-9B29A004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09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D6F73"/>
                </a:solidFill>
                <a:latin typeface="Aptos"/>
                <a:ea typeface="Aptos"/>
                <a:cs typeface="Aptos"/>
              </a:rPr>
              <a:t>Ranges are directional and can move a lot by firm, country, bonus year, and performance.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4C753-F71F-46D7-90FC-AF633565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6F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6F7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D81FF2-B1DA-4A5D-9CD8-723BF760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33600"/>
            <a:ext cx="400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6B8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46B8F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F0EFC-7A1C-49D8-9D36-1743E2CD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860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9FCA8B-F5B1-428E-A450-D3611EA1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114550"/>
            <a:ext cx="714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Does she enjoy numbers enough to do them when tired?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967E1-7E42-4338-93A9-9FFF2D4B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38450"/>
            <a:ext cx="400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A8F5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6A8F5A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1FEEA-81D6-436A-B8B0-EA88019E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908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8F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79FFD8-E823-4CDD-BE65-51BFF857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19400"/>
            <a:ext cx="714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Does she want stable progress or maximum optionality?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653957-26BA-4318-A492-67C4C7FA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400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16E2E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B16E2E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A8DDF2-F4A1-4E5B-9B2C-D8D1F619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957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6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7DF037-591C-47BA-8E8E-AF09806C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524250"/>
            <a:ext cx="714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Can she accept 2-3 hard early years for better choices later?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C16F79-2090-4871-821C-59D56FC9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48150"/>
            <a:ext cx="400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85048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A85048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8C75AC-5C88-4711-A2A0-3B5AD56E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005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CBA462-DE45-467F-BBCC-B4317EE3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229100"/>
            <a:ext cx="714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Would she rather explain, analyze, sell, or operate?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8ABE39-8DDA-4103-90A9-C15DBFB4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91150"/>
            <a:ext cx="790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B86850-75CD-4466-AE26-762FAD70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543550"/>
            <a:ext cx="733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Suggested answer: take the scholarship if she is comfortable with accounting, then use internships to test audit, consulting, and finance before locking in.</a:t>
            </a:r>
          </a:p>
        </p:txBody>
      </p:sp>
    </p:spTree>
    <p:extLst>
      <p:ext uri="{BB962C8B-B14F-4D97-AF65-F5344CB8AC3E}">
        <p14:creationId xmlns:p14="http://schemas.microsoft.com/office/powerpoint/2010/main" val="13627526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2026-05-02T02:04:52.9340000Z</dcterms:created>
  <dcterms:modified xsi:type="dcterms:W3CDTF">2026-05-02T02:04:52.9350000Z</dcterms:modified>
</coreProperties>
</file>